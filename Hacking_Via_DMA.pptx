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9" r:id="rId2"/>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4" r:id="rId19"/>
    <p:sldId id="295" r:id="rId20"/>
    <p:sldId id="292" r:id="rId21"/>
    <p:sldId id="293" r:id="rId22"/>
    <p:sldId id="298" r:id="rId23"/>
    <p:sldId id="299" r:id="rId24"/>
    <p:sldId id="300" r:id="rId25"/>
    <p:sldId id="301" r:id="rId26"/>
    <p:sldId id="302" r:id="rId27"/>
    <p:sldId id="303" r:id="rId28"/>
    <p:sldId id="304" r:id="rId29"/>
    <p:sldId id="306" r:id="rId30"/>
    <p:sldId id="305" r:id="rId31"/>
    <p:sldId id="307" r:id="rId32"/>
    <p:sldId id="308" r:id="rId33"/>
    <p:sldId id="30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2637"/>
    <a:srgbClr val="767575"/>
    <a:srgbClr val="F78E1E"/>
    <a:srgbClr val="F5CBCF"/>
    <a:srgbClr val="121212"/>
    <a:srgbClr val="23252E"/>
    <a:srgbClr val="E46E79"/>
    <a:srgbClr val="CC2367"/>
    <a:srgbClr val="253565"/>
    <a:srgbClr val="E364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51" autoAdjust="0"/>
  </p:normalViewPr>
  <p:slideViewPr>
    <p:cSldViewPr snapToGrid="0">
      <p:cViewPr varScale="1">
        <p:scale>
          <a:sx n="96" d="100"/>
          <a:sy n="96" d="100"/>
        </p:scale>
        <p:origin x="11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yanni\Downloads\windows_version-ww-monthly-202503-202603.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solidFill>
                  <a:schemeClr val="bg1"/>
                </a:solidFill>
              </a:rPr>
              <a:t>Desktop Windows Version Market Share Worldwide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'windows_version-ww-monthly-2025'!$B$1</c:f>
              <c:strCache>
                <c:ptCount val="1"/>
                <c:pt idx="0">
                  <c:v>Win11</c:v>
                </c:pt>
              </c:strCache>
            </c:strRef>
          </c:tx>
          <c:spPr>
            <a:ln w="28575" cap="rnd">
              <a:solidFill>
                <a:schemeClr val="accent1"/>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'windows_version-ww-monthly-2025'!$B$2:$B$14</c:f>
              <c:numCache>
                <c:formatCode>General</c:formatCode>
                <c:ptCount val="13"/>
                <c:pt idx="0">
                  <c:v>42.69</c:v>
                </c:pt>
                <c:pt idx="1">
                  <c:v>43.72</c:v>
                </c:pt>
                <c:pt idx="2">
                  <c:v>43.22</c:v>
                </c:pt>
                <c:pt idx="3">
                  <c:v>47.98</c:v>
                </c:pt>
                <c:pt idx="4">
                  <c:v>53.51</c:v>
                </c:pt>
                <c:pt idx="5">
                  <c:v>49.79</c:v>
                </c:pt>
                <c:pt idx="6">
                  <c:v>52.9</c:v>
                </c:pt>
                <c:pt idx="7">
                  <c:v>55.18</c:v>
                </c:pt>
                <c:pt idx="8">
                  <c:v>53.7</c:v>
                </c:pt>
                <c:pt idx="9">
                  <c:v>50.73</c:v>
                </c:pt>
                <c:pt idx="10">
                  <c:v>62.41</c:v>
                </c:pt>
                <c:pt idx="11">
                  <c:v>72.569999999999993</c:v>
                </c:pt>
                <c:pt idx="12">
                  <c:v>67.14</c:v>
                </c:pt>
              </c:numCache>
            </c:numRef>
          </c:val>
          <c:smooth val="0"/>
          <c:extLst>
            <c:ext xmlns:c16="http://schemas.microsoft.com/office/drawing/2014/chart" uri="{C3380CC4-5D6E-409C-BE32-E72D297353CC}">
              <c16:uniqueId val="{00000000-35BF-4CB4-9068-DF0BB9143C07}"/>
            </c:ext>
          </c:extLst>
        </c:ser>
        <c:ser>
          <c:idx val="1"/>
          <c:order val="1"/>
          <c:tx>
            <c:strRef>
              <c:f>'windows_version-ww-monthly-2025'!$C$1</c:f>
              <c:strCache>
                <c:ptCount val="1"/>
                <c:pt idx="0">
                  <c:v>Win10</c:v>
                </c:pt>
              </c:strCache>
            </c:strRef>
          </c:tx>
          <c:spPr>
            <a:ln w="28575" cap="rnd">
              <a:solidFill>
                <a:srgbClr val="CC2637"/>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'windows_version-ww-monthly-2025'!$C$2:$C$14</c:f>
              <c:numCache>
                <c:formatCode>General</c:formatCode>
                <c:ptCount val="13"/>
                <c:pt idx="0">
                  <c:v>54.2</c:v>
                </c:pt>
                <c:pt idx="1">
                  <c:v>52.94</c:v>
                </c:pt>
                <c:pt idx="2">
                  <c:v>53.19</c:v>
                </c:pt>
                <c:pt idx="3">
                  <c:v>48.76</c:v>
                </c:pt>
                <c:pt idx="4">
                  <c:v>42.88</c:v>
                </c:pt>
                <c:pt idx="5">
                  <c:v>46.19</c:v>
                </c:pt>
                <c:pt idx="6">
                  <c:v>43.78</c:v>
                </c:pt>
                <c:pt idx="7">
                  <c:v>41.71</c:v>
                </c:pt>
                <c:pt idx="8">
                  <c:v>42.7</c:v>
                </c:pt>
                <c:pt idx="9">
                  <c:v>44.68</c:v>
                </c:pt>
                <c:pt idx="10">
                  <c:v>35.770000000000003</c:v>
                </c:pt>
                <c:pt idx="11">
                  <c:v>26.45</c:v>
                </c:pt>
                <c:pt idx="12">
                  <c:v>31.27</c:v>
                </c:pt>
              </c:numCache>
            </c:numRef>
          </c:val>
          <c:smooth val="0"/>
          <c:extLst>
            <c:ext xmlns:c16="http://schemas.microsoft.com/office/drawing/2014/chart" uri="{C3380CC4-5D6E-409C-BE32-E72D297353CC}">
              <c16:uniqueId val="{00000001-35BF-4CB4-9068-DF0BB9143C07}"/>
            </c:ext>
          </c:extLst>
        </c:ser>
        <c:ser>
          <c:idx val="2"/>
          <c:order val="2"/>
          <c:tx>
            <c:strRef>
              <c:f>'windows_version-ww-monthly-2025'!$D$1</c:f>
              <c:strCache>
                <c:ptCount val="1"/>
                <c:pt idx="0">
                  <c:v>Win7</c:v>
                </c:pt>
              </c:strCache>
            </c:strRef>
          </c:tx>
          <c:spPr>
            <a:ln w="28575" cap="rnd">
              <a:solidFill>
                <a:schemeClr val="bg1"/>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'windows_version-ww-monthly-2025'!$D$2:$D$14</c:f>
              <c:numCache>
                <c:formatCode>General</c:formatCode>
                <c:ptCount val="13"/>
                <c:pt idx="0">
                  <c:v>2.2200000000000002</c:v>
                </c:pt>
                <c:pt idx="1">
                  <c:v>2.4</c:v>
                </c:pt>
                <c:pt idx="2">
                  <c:v>2.48</c:v>
                </c:pt>
                <c:pt idx="3">
                  <c:v>2.19</c:v>
                </c:pt>
                <c:pt idx="4">
                  <c:v>2.02</c:v>
                </c:pt>
                <c:pt idx="5">
                  <c:v>2.2000000000000002</c:v>
                </c:pt>
                <c:pt idx="6">
                  <c:v>2.29</c:v>
                </c:pt>
                <c:pt idx="7">
                  <c:v>2.52</c:v>
                </c:pt>
                <c:pt idx="8">
                  <c:v>2.93</c:v>
                </c:pt>
                <c:pt idx="9">
                  <c:v>3.83</c:v>
                </c:pt>
                <c:pt idx="10">
                  <c:v>1.05</c:v>
                </c:pt>
                <c:pt idx="11">
                  <c:v>0.62</c:v>
                </c:pt>
                <c:pt idx="12">
                  <c:v>1.18</c:v>
                </c:pt>
              </c:numCache>
            </c:numRef>
          </c:val>
          <c:smooth val="0"/>
          <c:extLst>
            <c:ext xmlns:c16="http://schemas.microsoft.com/office/drawing/2014/chart" uri="{C3380CC4-5D6E-409C-BE32-E72D297353CC}">
              <c16:uniqueId val="{00000002-35BF-4CB4-9068-DF0BB9143C07}"/>
            </c:ext>
          </c:extLst>
        </c:ser>
        <c:ser>
          <c:idx val="3"/>
          <c:order val="3"/>
          <c:tx>
            <c:strRef>
              <c:f>'windows_version-ww-monthly-2025'!$E$1</c:f>
              <c:strCache>
                <c:ptCount val="1"/>
                <c:pt idx="0">
                  <c:v>WinXP</c:v>
                </c:pt>
              </c:strCache>
            </c:strRef>
          </c:tx>
          <c:spPr>
            <a:ln w="28575" cap="rnd">
              <a:solidFill>
                <a:schemeClr val="accent4"/>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'windows_version-ww-monthly-2025'!$E$2:$E$14</c:f>
              <c:numCache>
                <c:formatCode>General</c:formatCode>
                <c:ptCount val="13"/>
                <c:pt idx="0">
                  <c:v>0.33</c:v>
                </c:pt>
                <c:pt idx="1">
                  <c:v>0.38</c:v>
                </c:pt>
                <c:pt idx="2">
                  <c:v>0.54</c:v>
                </c:pt>
                <c:pt idx="3">
                  <c:v>0.43</c:v>
                </c:pt>
                <c:pt idx="4">
                  <c:v>0.43</c:v>
                </c:pt>
                <c:pt idx="5">
                  <c:v>0.38</c:v>
                </c:pt>
                <c:pt idx="6">
                  <c:v>0.33</c:v>
                </c:pt>
                <c:pt idx="7">
                  <c:v>0.22</c:v>
                </c:pt>
                <c:pt idx="8">
                  <c:v>0.3</c:v>
                </c:pt>
                <c:pt idx="9">
                  <c:v>0.43</c:v>
                </c:pt>
                <c:pt idx="10">
                  <c:v>0.43</c:v>
                </c:pt>
                <c:pt idx="11">
                  <c:v>0.2</c:v>
                </c:pt>
                <c:pt idx="12">
                  <c:v>0.11</c:v>
                </c:pt>
              </c:numCache>
            </c:numRef>
          </c:val>
          <c:smooth val="0"/>
          <c:extLst>
            <c:ext xmlns:c16="http://schemas.microsoft.com/office/drawing/2014/chart" uri="{C3380CC4-5D6E-409C-BE32-E72D297353CC}">
              <c16:uniqueId val="{00000003-35BF-4CB4-9068-DF0BB9143C07}"/>
            </c:ext>
          </c:extLst>
        </c:ser>
        <c:ser>
          <c:idx val="4"/>
          <c:order val="4"/>
          <c:tx>
            <c:strRef>
              <c:f>'windows_version-ww-monthly-2025'!$F$1</c:f>
              <c:strCache>
                <c:ptCount val="1"/>
                <c:pt idx="0">
                  <c:v>Win8</c:v>
                </c:pt>
              </c:strCache>
            </c:strRef>
          </c:tx>
          <c:spPr>
            <a:ln w="28575" cap="rnd">
              <a:solidFill>
                <a:schemeClr val="accent5"/>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'windows_version-ww-monthly-2025'!$F$2:$F$14</c:f>
              <c:numCache>
                <c:formatCode>General</c:formatCode>
                <c:ptCount val="13"/>
                <c:pt idx="0">
                  <c:v>0.24</c:v>
                </c:pt>
                <c:pt idx="1">
                  <c:v>0.22</c:v>
                </c:pt>
                <c:pt idx="2">
                  <c:v>0.22</c:v>
                </c:pt>
                <c:pt idx="3">
                  <c:v>0.31</c:v>
                </c:pt>
                <c:pt idx="4">
                  <c:v>0.88</c:v>
                </c:pt>
                <c:pt idx="5">
                  <c:v>1.1599999999999999</c:v>
                </c:pt>
                <c:pt idx="6">
                  <c:v>0.48</c:v>
                </c:pt>
                <c:pt idx="7">
                  <c:v>0.17</c:v>
                </c:pt>
                <c:pt idx="8">
                  <c:v>0.2</c:v>
                </c:pt>
                <c:pt idx="9">
                  <c:v>0.16</c:v>
                </c:pt>
                <c:pt idx="10">
                  <c:v>0.16</c:v>
                </c:pt>
                <c:pt idx="11">
                  <c:v>0.04</c:v>
                </c:pt>
                <c:pt idx="12">
                  <c:v>0.15</c:v>
                </c:pt>
              </c:numCache>
            </c:numRef>
          </c:val>
          <c:smooth val="0"/>
          <c:extLst>
            <c:ext xmlns:c16="http://schemas.microsoft.com/office/drawing/2014/chart" uri="{C3380CC4-5D6E-409C-BE32-E72D297353CC}">
              <c16:uniqueId val="{00000004-35BF-4CB4-9068-DF0BB9143C07}"/>
            </c:ext>
          </c:extLst>
        </c:ser>
        <c:ser>
          <c:idx val="5"/>
          <c:order val="5"/>
          <c:tx>
            <c:strRef>
              <c:f>'windows_version-ww-monthly-2025'!$G$1</c:f>
              <c:strCache>
                <c:ptCount val="1"/>
                <c:pt idx="0">
                  <c:v>Win8.1</c:v>
                </c:pt>
              </c:strCache>
            </c:strRef>
          </c:tx>
          <c:spPr>
            <a:ln w="28575" cap="rnd">
              <a:solidFill>
                <a:schemeClr val="accent6"/>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'windows_version-ww-monthly-2025'!$G$2:$G$14</c:f>
              <c:numCache>
                <c:formatCode>General</c:formatCode>
                <c:ptCount val="13"/>
                <c:pt idx="0">
                  <c:v>0.28000000000000003</c:v>
                </c:pt>
                <c:pt idx="1">
                  <c:v>0.28000000000000003</c:v>
                </c:pt>
                <c:pt idx="2">
                  <c:v>0.28999999999999998</c:v>
                </c:pt>
                <c:pt idx="3">
                  <c:v>0.28000000000000003</c:v>
                </c:pt>
                <c:pt idx="4">
                  <c:v>0.23</c:v>
                </c:pt>
                <c:pt idx="5">
                  <c:v>0.23</c:v>
                </c:pt>
                <c:pt idx="6">
                  <c:v>0.2</c:v>
                </c:pt>
                <c:pt idx="7">
                  <c:v>0.16</c:v>
                </c:pt>
                <c:pt idx="8">
                  <c:v>0.15</c:v>
                </c:pt>
                <c:pt idx="9">
                  <c:v>0.15</c:v>
                </c:pt>
                <c:pt idx="10">
                  <c:v>0.14000000000000001</c:v>
                </c:pt>
                <c:pt idx="11">
                  <c:v>0.1</c:v>
                </c:pt>
                <c:pt idx="12">
                  <c:v>0.12</c:v>
                </c:pt>
              </c:numCache>
            </c:numRef>
          </c:val>
          <c:smooth val="0"/>
          <c:extLst>
            <c:ext xmlns:c16="http://schemas.microsoft.com/office/drawing/2014/chart" uri="{C3380CC4-5D6E-409C-BE32-E72D297353CC}">
              <c16:uniqueId val="{00000005-35BF-4CB4-9068-DF0BB9143C07}"/>
            </c:ext>
          </c:extLst>
        </c:ser>
        <c:ser>
          <c:idx val="6"/>
          <c:order val="6"/>
          <c:tx>
            <c:strRef>
              <c:f>'windows_version-ww-monthly-2025'!$H$1</c:f>
              <c:strCache>
                <c:ptCount val="1"/>
                <c:pt idx="0">
                  <c:v>WinVista</c:v>
                </c:pt>
              </c:strCache>
            </c:strRef>
          </c:tx>
          <c:spPr>
            <a:ln w="28575" cap="rnd">
              <a:solidFill>
                <a:schemeClr val="accent1">
                  <a:lumMod val="60000"/>
                </a:schemeClr>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'windows_version-ww-monthly-2025'!$H$2:$H$14</c:f>
              <c:numCache>
                <c:formatCode>General</c:formatCode>
                <c:ptCount val="13"/>
                <c:pt idx="0">
                  <c:v>0.03</c:v>
                </c:pt>
                <c:pt idx="1">
                  <c:v>0.04</c:v>
                </c:pt>
                <c:pt idx="2">
                  <c:v>0.04</c:v>
                </c:pt>
                <c:pt idx="3">
                  <c:v>0.05</c:v>
                </c:pt>
                <c:pt idx="4">
                  <c:v>0.04</c:v>
                </c:pt>
                <c:pt idx="5">
                  <c:v>0.04</c:v>
                </c:pt>
                <c:pt idx="6">
                  <c:v>0.02</c:v>
                </c:pt>
                <c:pt idx="7">
                  <c:v>0.02</c:v>
                </c:pt>
                <c:pt idx="8">
                  <c:v>0.02</c:v>
                </c:pt>
                <c:pt idx="9">
                  <c:v>0.02</c:v>
                </c:pt>
                <c:pt idx="10">
                  <c:v>0.05</c:v>
                </c:pt>
                <c:pt idx="11">
                  <c:v>0.01</c:v>
                </c:pt>
                <c:pt idx="12">
                  <c:v>0.02</c:v>
                </c:pt>
              </c:numCache>
            </c:numRef>
          </c:val>
          <c:smooth val="0"/>
          <c:extLst>
            <c:ext xmlns:c16="http://schemas.microsoft.com/office/drawing/2014/chart" uri="{C3380CC4-5D6E-409C-BE32-E72D297353CC}">
              <c16:uniqueId val="{00000006-35BF-4CB4-9068-DF0BB9143C07}"/>
            </c:ext>
          </c:extLst>
        </c:ser>
        <c:ser>
          <c:idx val="7"/>
          <c:order val="7"/>
          <c:tx>
            <c:strRef>
              <c:f>'windows_version-ww-monthly-2025'!$I$1</c:f>
              <c:strCache>
                <c:ptCount val="1"/>
                <c:pt idx="0">
                  <c:v>Other</c:v>
                </c:pt>
              </c:strCache>
            </c:strRef>
          </c:tx>
          <c:spPr>
            <a:ln w="28575" cap="rnd">
              <a:solidFill>
                <a:schemeClr val="accent2">
                  <a:lumMod val="60000"/>
                </a:schemeClr>
              </a:solidFill>
              <a:round/>
            </a:ln>
            <a:effectLst/>
          </c:spPr>
          <c:marker>
            <c:symbol val="none"/>
          </c:marker>
          <c:cat>
            <c:strRef>
              <c:f>'windows_version-ww-monthly-2025'!$A$2:$A$14</c:f>
              <c:strCache>
                <c:ptCount val="13"/>
                <c:pt idx="0">
                  <c:v>2025-03</c:v>
                </c:pt>
                <c:pt idx="1">
                  <c:v>2025-04</c:v>
                </c:pt>
                <c:pt idx="2">
                  <c:v>2025-05</c:v>
                </c:pt>
                <c:pt idx="3">
                  <c:v>2025-06</c:v>
                </c:pt>
                <c:pt idx="4">
                  <c:v>2025-07</c:v>
                </c:pt>
                <c:pt idx="5">
                  <c:v>2025-08</c:v>
                </c:pt>
                <c:pt idx="6">
                  <c:v>2025-09</c:v>
                </c:pt>
                <c:pt idx="7">
                  <c:v>2025-10</c:v>
                </c:pt>
                <c:pt idx="8">
                  <c:v>2025-11</c:v>
                </c:pt>
                <c:pt idx="9">
                  <c:v>2025-12</c:v>
                </c:pt>
                <c:pt idx="10">
                  <c:v>2026-01</c:v>
                </c:pt>
                <c:pt idx="11">
                  <c:v>2026-02</c:v>
                </c:pt>
                <c:pt idx="12">
                  <c:v>2026-03</c:v>
                </c:pt>
              </c:strCache>
            </c:strRef>
          </c:cat>
          <c:val>
            <c:numRef>
              <c:f>'windows_version-ww-monthly-2025'!$I$2:$I$14</c:f>
              <c:numCache>
                <c:formatCode>General</c:formatCode>
                <c:ptCount val="13"/>
                <c:pt idx="0">
                  <c:v>0.01</c:v>
                </c:pt>
                <c:pt idx="1">
                  <c:v>0.02</c:v>
                </c:pt>
                <c:pt idx="2">
                  <c:v>0.02</c:v>
                </c:pt>
                <c:pt idx="3">
                  <c:v>0.01</c:v>
                </c:pt>
                <c:pt idx="4">
                  <c:v>0.01</c:v>
                </c:pt>
                <c:pt idx="5">
                  <c:v>0.01</c:v>
                </c:pt>
                <c:pt idx="6">
                  <c:v>0.01</c:v>
                </c:pt>
                <c:pt idx="7">
                  <c:v>0</c:v>
                </c:pt>
                <c:pt idx="8">
                  <c:v>0</c:v>
                </c:pt>
                <c:pt idx="9">
                  <c:v>0.01</c:v>
                </c:pt>
                <c:pt idx="10">
                  <c:v>0</c:v>
                </c:pt>
                <c:pt idx="11">
                  <c:v>0</c:v>
                </c:pt>
                <c:pt idx="12">
                  <c:v>0</c:v>
                </c:pt>
              </c:numCache>
            </c:numRef>
          </c:val>
          <c:smooth val="0"/>
          <c:extLst>
            <c:ext xmlns:c16="http://schemas.microsoft.com/office/drawing/2014/chart" uri="{C3380CC4-5D6E-409C-BE32-E72D297353CC}">
              <c16:uniqueId val="{00000007-35BF-4CB4-9068-DF0BB9143C07}"/>
            </c:ext>
          </c:extLst>
        </c:ser>
        <c:dLbls>
          <c:showLegendKey val="0"/>
          <c:showVal val="0"/>
          <c:showCatName val="0"/>
          <c:showSerName val="0"/>
          <c:showPercent val="0"/>
          <c:showBubbleSize val="0"/>
        </c:dLbls>
        <c:smooth val="0"/>
        <c:axId val="466329087"/>
        <c:axId val="466327167"/>
      </c:lineChart>
      <c:catAx>
        <c:axId val="466329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6327167"/>
        <c:crosses val="autoZero"/>
        <c:auto val="1"/>
        <c:lblAlgn val="ctr"/>
        <c:lblOffset val="100"/>
        <c:noMultiLvlLbl val="0"/>
      </c:catAx>
      <c:valAx>
        <c:axId val="4663271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lumMod val="50000"/>
                  </a:schemeClr>
                </a:solidFill>
                <a:latin typeface="+mn-lt"/>
                <a:ea typeface="+mn-ea"/>
                <a:cs typeface="+mn-cs"/>
              </a:defRPr>
            </a:pPr>
            <a:endParaRPr lang="en-US"/>
          </a:p>
        </c:txPr>
        <c:crossAx val="466329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69516-00A5-CC41-8C70-07D1BF2F185B}" type="datetimeFigureOut">
              <a:rPr lang="en-US" smtClean="0"/>
              <a:t>10/25/2026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138C4E-EB6C-084B-938C-D73001D99940}" type="slidenum">
              <a:rPr lang="en-US" smtClean="0"/>
              <a:t>‹#›</a:t>
            </a:fld>
            <a:endParaRPr lang="en-US"/>
          </a:p>
        </p:txBody>
      </p:sp>
    </p:spTree>
    <p:extLst>
      <p:ext uri="{BB962C8B-B14F-4D97-AF65-F5344CB8AC3E}">
        <p14:creationId xmlns:p14="http://schemas.microsoft.com/office/powerpoint/2010/main" val="51459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Good morning, </a:t>
            </a:r>
            <a:r>
              <a:rPr lang="en-US" b="1"/>
              <a:t>Undergraduate Research Symposium!</a:t>
            </a:r>
            <a:r>
              <a:rPr lang="en-US"/>
              <a:t> </a:t>
            </a:r>
            <a:br>
              <a:rPr lang="en-US"/>
            </a:br>
            <a:br>
              <a:rPr lang="en-US"/>
            </a:br>
            <a:r>
              <a:rPr lang="en-US"/>
              <a:t>My name is </a:t>
            </a:r>
            <a:r>
              <a:rPr lang="en-US" b="1"/>
              <a:t>Yannis Lagrosa</a:t>
            </a:r>
            <a:r>
              <a:rPr lang="en-US" b="0"/>
              <a:t>, I am a Senior in the Department of </a:t>
            </a:r>
            <a:r>
              <a:rPr lang="en-US" b="1"/>
              <a:t>Computing Science.</a:t>
            </a:r>
            <a:r>
              <a:rPr lang="en-US" b="0"/>
              <a:t> My interests are </a:t>
            </a:r>
            <a:r>
              <a:rPr lang="en-US" b="1"/>
              <a:t>Cybersecurity, Programming,</a:t>
            </a:r>
            <a:r>
              <a:rPr lang="en-US" b="0"/>
              <a:t> </a:t>
            </a:r>
            <a:r>
              <a:rPr lang="en-US" b="1"/>
              <a:t>and Reverse Engineering.</a:t>
            </a:r>
            <a:endParaRPr lang="en-US" b="0"/>
          </a:p>
          <a:p>
            <a:r>
              <a:rPr lang="en-US" b="0"/>
              <a:t>I love to </a:t>
            </a:r>
            <a:r>
              <a:rPr lang="en-US" b="1"/>
              <a:t>hack </a:t>
            </a:r>
            <a:r>
              <a:rPr lang="en-US" b="0"/>
              <a:t>and </a:t>
            </a:r>
            <a:r>
              <a:rPr lang="en-US" b="1"/>
              <a:t>play </a:t>
            </a:r>
            <a:r>
              <a:rPr lang="en-US" b="0"/>
              <a:t>video-games, and I’m mildly interested in developing and analyzing malware.</a:t>
            </a:r>
          </a:p>
          <a:p>
            <a:endParaRPr lang="en-US" b="0"/>
          </a:p>
          <a:p>
            <a:r>
              <a:rPr lang="en-US" b="0"/>
              <a:t>My project is titled </a:t>
            </a:r>
            <a:r>
              <a:rPr lang="en-US" b="1"/>
              <a:t>Hacking via Direct Memory Allocation – A Feasibility Report</a:t>
            </a:r>
            <a:r>
              <a:rPr lang="en-US" b="0"/>
              <a:t>.</a:t>
            </a:r>
          </a:p>
          <a:p>
            <a:r>
              <a:rPr lang="en-US" b="0"/>
              <a:t>It classifies as unfinished research. And all work was done entirely by me.</a:t>
            </a:r>
          </a:p>
          <a:p>
            <a:r>
              <a:rPr lang="en-US" b="0"/>
              <a:t>This presentation mainly speaks about security from the perspective of the </a:t>
            </a:r>
            <a:r>
              <a:rPr lang="en-US" b="1"/>
              <a:t>Windows</a:t>
            </a:r>
            <a:r>
              <a:rPr lang="en-US" b="0"/>
              <a:t> Operating System.</a:t>
            </a:r>
            <a:br>
              <a:rPr lang="en-US" b="0"/>
            </a:br>
            <a:endParaRPr lang="en-US" b="0"/>
          </a:p>
          <a:p>
            <a:r>
              <a:rPr lang="en-US" b="0"/>
              <a:t>I hope you enjoy.</a:t>
            </a:r>
          </a:p>
          <a:p>
            <a:endParaRPr lang="en-US"/>
          </a:p>
        </p:txBody>
      </p:sp>
      <p:sp>
        <p:nvSpPr>
          <p:cNvPr id="4" name="Slide Number Placeholder 3"/>
          <p:cNvSpPr>
            <a:spLocks noGrp="1"/>
          </p:cNvSpPr>
          <p:nvPr>
            <p:ph type="sldNum" sz="quarter" idx="5"/>
          </p:nvPr>
        </p:nvSpPr>
        <p:spPr/>
        <p:txBody>
          <a:bodyPr/>
          <a:lstStyle/>
          <a:p>
            <a:fld id="{89138C4E-EB6C-084B-938C-D73001D99940}" type="slidenum">
              <a:rPr lang="en-US" smtClean="0"/>
              <a:t>1</a:t>
            </a:fld>
            <a:endParaRPr lang="en-US"/>
          </a:p>
        </p:txBody>
      </p:sp>
    </p:spTree>
    <p:extLst>
      <p:ext uri="{BB962C8B-B14F-4D97-AF65-F5344CB8AC3E}">
        <p14:creationId xmlns:p14="http://schemas.microsoft.com/office/powerpoint/2010/main" val="3990774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EA68-5935-0936-F9BD-A30F0DC26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DCCA8-7581-2B7B-98DF-EDEB3494ED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949160-6764-3230-59D6-B2BB370B29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838AFD-55C1-3270-B167-DA320800F4DA}"/>
              </a:ext>
            </a:extLst>
          </p:cNvPr>
          <p:cNvSpPr>
            <a:spLocks noGrp="1"/>
          </p:cNvSpPr>
          <p:nvPr>
            <p:ph type="sldNum" sz="quarter" idx="5"/>
          </p:nvPr>
        </p:nvSpPr>
        <p:spPr/>
        <p:txBody>
          <a:bodyPr/>
          <a:lstStyle/>
          <a:p>
            <a:fld id="{89138C4E-EB6C-084B-938C-D73001D99940}" type="slidenum">
              <a:rPr lang="en-US" smtClean="0"/>
              <a:t>2</a:t>
            </a:fld>
            <a:endParaRPr lang="en-US"/>
          </a:p>
        </p:txBody>
      </p:sp>
    </p:spTree>
    <p:extLst>
      <p:ext uri="{BB962C8B-B14F-4D97-AF65-F5344CB8AC3E}">
        <p14:creationId xmlns:p14="http://schemas.microsoft.com/office/powerpoint/2010/main" val="1270899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3E66-7A3E-6A1B-281F-B7FE73422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8897E-BB2D-A452-278E-3351DB3AB8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29C3F0-925F-87FF-A445-E1A7ACC63C7A}"/>
              </a:ext>
            </a:extLst>
          </p:cNvPr>
          <p:cNvSpPr>
            <a:spLocks noGrp="1"/>
          </p:cNvSpPr>
          <p:nvPr>
            <p:ph type="body" idx="1"/>
          </p:nvPr>
        </p:nvSpPr>
        <p:spPr/>
        <p:txBody>
          <a:bodyPr/>
          <a:lstStyle/>
          <a:p>
            <a:r>
              <a:rPr lang="en-US"/>
              <a:t>What is </a:t>
            </a:r>
            <a:r>
              <a:rPr lang="en-US" b="1"/>
              <a:t>hacking</a:t>
            </a:r>
            <a:r>
              <a:rPr lang="en-US"/>
              <a:t>? Oxford defines “hacking” as the gaining of unauthorized access to data in a system or computer. This definition is suitable for our use-case.</a:t>
            </a:r>
            <a:br>
              <a:rPr lang="en-US"/>
            </a:br>
            <a:br>
              <a:rPr lang="en-US"/>
            </a:br>
            <a:r>
              <a:rPr lang="en-US"/>
              <a:t>When you think of </a:t>
            </a:r>
            <a:r>
              <a:rPr lang="en-US" b="1"/>
              <a:t>hacking, </a:t>
            </a:r>
            <a:r>
              <a:rPr lang="en-US" b="0"/>
              <a:t>you might associate it</a:t>
            </a:r>
            <a:r>
              <a:rPr lang="en-US" b="1"/>
              <a:t> </a:t>
            </a:r>
            <a:r>
              <a:rPr lang="en-US" b="0"/>
              <a:t>with </a:t>
            </a:r>
            <a:r>
              <a:rPr lang="en-US" b="1"/>
              <a:t>computer viruses</a:t>
            </a:r>
            <a:r>
              <a:rPr lang="en-US" b="0"/>
              <a:t>. </a:t>
            </a:r>
            <a:br>
              <a:rPr lang="en-US" b="0"/>
            </a:br>
            <a:r>
              <a:rPr lang="en-US" b="0"/>
              <a:t>Malware such as Trojans, Worms, Keyloggers, etc.</a:t>
            </a:r>
          </a:p>
          <a:p>
            <a:endParaRPr lang="en-US" b="0"/>
          </a:p>
          <a:p>
            <a:r>
              <a:rPr lang="en-US" b="0"/>
              <a:t>But ‘hacking’ can also be done without the usage of software. Things like </a:t>
            </a:r>
            <a:r>
              <a:rPr lang="en-US" b="1"/>
              <a:t>social engineering, </a:t>
            </a:r>
            <a:r>
              <a:rPr lang="en-US" b="0"/>
              <a:t>which rely on manipulating other humans to hack into systems are executed via word of mouth. With the main goal being hacking human behavior as opposed to running code on a machine.</a:t>
            </a:r>
            <a:br>
              <a:rPr lang="en-US" b="0"/>
            </a:br>
            <a:br>
              <a:rPr lang="en-US" b="0"/>
            </a:br>
            <a:r>
              <a:rPr lang="en-US" b="0"/>
              <a:t>And actually, </a:t>
            </a:r>
            <a:r>
              <a:rPr lang="en-US" b="1"/>
              <a:t>Phishing</a:t>
            </a:r>
            <a:r>
              <a:rPr lang="en-US" b="0"/>
              <a:t>, which is a more common phrase. Is a type of social engineering, though it relies more on software.</a:t>
            </a:r>
            <a:br>
              <a:rPr lang="en-US"/>
            </a:br>
            <a:endParaRPr lang="en-US"/>
          </a:p>
        </p:txBody>
      </p:sp>
      <p:sp>
        <p:nvSpPr>
          <p:cNvPr id="4" name="Slide Number Placeholder 3">
            <a:extLst>
              <a:ext uri="{FF2B5EF4-FFF2-40B4-BE49-F238E27FC236}">
                <a16:creationId xmlns:a16="http://schemas.microsoft.com/office/drawing/2014/main" id="{4E9DEE29-0B5B-5D65-4151-B4702ACC0BD9}"/>
              </a:ext>
            </a:extLst>
          </p:cNvPr>
          <p:cNvSpPr>
            <a:spLocks noGrp="1"/>
          </p:cNvSpPr>
          <p:nvPr>
            <p:ph type="sldNum" sz="quarter" idx="5"/>
          </p:nvPr>
        </p:nvSpPr>
        <p:spPr/>
        <p:txBody>
          <a:bodyPr/>
          <a:lstStyle/>
          <a:p>
            <a:fld id="{89138C4E-EB6C-084B-938C-D73001D99940}" type="slidenum">
              <a:rPr lang="en-US" smtClean="0"/>
              <a:t>3</a:t>
            </a:fld>
            <a:endParaRPr lang="en-US"/>
          </a:p>
        </p:txBody>
      </p:sp>
    </p:spTree>
    <p:extLst>
      <p:ext uri="{BB962C8B-B14F-4D97-AF65-F5344CB8AC3E}">
        <p14:creationId xmlns:p14="http://schemas.microsoft.com/office/powerpoint/2010/main" val="138193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CD0B-091B-9E0E-76C9-5624014FC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9A580-00B7-22DE-DD41-A3B62DB09B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82E56A-CD4B-170A-C01E-09D6BC925E81}"/>
              </a:ext>
            </a:extLst>
          </p:cNvPr>
          <p:cNvSpPr>
            <a:spLocks noGrp="1"/>
          </p:cNvSpPr>
          <p:nvPr>
            <p:ph type="body" idx="1"/>
          </p:nvPr>
        </p:nvSpPr>
        <p:spPr/>
        <p:txBody>
          <a:bodyPr/>
          <a:lstStyle/>
          <a:p>
            <a:r>
              <a:rPr lang="en-US"/>
              <a:t>So, obviously no one </a:t>
            </a:r>
            <a:r>
              <a:rPr lang="en-US" b="1"/>
              <a:t>wants </a:t>
            </a:r>
            <a:r>
              <a:rPr lang="en-US" b="0"/>
              <a:t>to get hacked.. But with any system containing information, there will always be an entity seeking to </a:t>
            </a:r>
            <a:r>
              <a:rPr lang="en-US" b="1"/>
              <a:t>extract</a:t>
            </a:r>
            <a:r>
              <a:rPr lang="en-US" b="0"/>
              <a:t> said information.</a:t>
            </a:r>
            <a:br>
              <a:rPr lang="en-US" b="0"/>
            </a:br>
            <a:r>
              <a:rPr lang="en-US" b="0"/>
              <a:t>Basically.. Getting </a:t>
            </a:r>
            <a:r>
              <a:rPr lang="en-US" b="1"/>
              <a:t>hacked</a:t>
            </a:r>
            <a:r>
              <a:rPr lang="en-US" b="0"/>
              <a:t> is bad.. So how do we prevent it?</a:t>
            </a:r>
          </a:p>
          <a:p>
            <a:br>
              <a:rPr lang="en-US" b="0"/>
            </a:br>
            <a:r>
              <a:rPr lang="en-US" b="0"/>
              <a:t>Well.. A computer specialist at a company might identify vulnerabilities in their machines. In what ways can information be extracted from their system..? Does the interface reveal </a:t>
            </a:r>
            <a:r>
              <a:rPr lang="en-US" b="0" i="1"/>
              <a:t>too</a:t>
            </a:r>
            <a:r>
              <a:rPr lang="en-US" b="0"/>
              <a:t> much information?</a:t>
            </a:r>
            <a:br>
              <a:rPr lang="en-US" b="0"/>
            </a:br>
            <a:br>
              <a:rPr lang="en-US" b="0"/>
            </a:br>
            <a:r>
              <a:rPr lang="en-US" b="0"/>
              <a:t>But that’s not too important for us.</a:t>
            </a:r>
          </a:p>
          <a:p>
            <a:br>
              <a:rPr lang="en-US" b="0"/>
            </a:br>
            <a:r>
              <a:rPr lang="en-US" b="0"/>
              <a:t>People should have a general </a:t>
            </a:r>
            <a:r>
              <a:rPr lang="en-US" b="1"/>
              <a:t>Technical Literacy </a:t>
            </a:r>
            <a:r>
              <a:rPr lang="en-US" b="0"/>
              <a:t>and understanding of what hacking is. As a user of a computer, it is your responsibility to sniff out sketchy emails.. And avoid them! </a:t>
            </a:r>
            <a:br>
              <a:rPr lang="en-US" b="0"/>
            </a:br>
            <a:br>
              <a:rPr lang="en-US" b="0"/>
            </a:br>
            <a:r>
              <a:rPr lang="en-US" b="0"/>
              <a:t>As a general rule of thumb.. most computers should have an </a:t>
            </a:r>
            <a:r>
              <a:rPr lang="en-US" b="1"/>
              <a:t>Anti-Virus </a:t>
            </a:r>
            <a:r>
              <a:rPr lang="en-US" b="0"/>
              <a:t>software, which will scan the device for viruses and block potential downloads. </a:t>
            </a:r>
            <a:br>
              <a:rPr lang="en-US" b="0"/>
            </a:br>
            <a:br>
              <a:rPr lang="en-US" b="0"/>
            </a:br>
            <a:r>
              <a:rPr lang="en-US" b="0"/>
              <a:t>For the purposes of a layman, technical literacy and anti-viruses are the most accessible and mandatory prevention methods. The convenience of an </a:t>
            </a:r>
            <a:r>
              <a:rPr lang="en-US" b="1"/>
              <a:t>Anti-Virus </a:t>
            </a:r>
            <a:r>
              <a:rPr lang="en-US" b="0"/>
              <a:t>makes it the easiest. People simply install them and they’ll occasionally stop you from downloading a malicious program. But </a:t>
            </a:r>
            <a:r>
              <a:rPr lang="en-US" b="1"/>
              <a:t>Anti-Viruses aren’t all-powerful.</a:t>
            </a:r>
            <a:endParaRPr lang="en-US"/>
          </a:p>
        </p:txBody>
      </p:sp>
      <p:sp>
        <p:nvSpPr>
          <p:cNvPr id="4" name="Slide Number Placeholder 3">
            <a:extLst>
              <a:ext uri="{FF2B5EF4-FFF2-40B4-BE49-F238E27FC236}">
                <a16:creationId xmlns:a16="http://schemas.microsoft.com/office/drawing/2014/main" id="{9D1353B5-8A45-4E32-600F-EA1FEB7827CE}"/>
              </a:ext>
            </a:extLst>
          </p:cNvPr>
          <p:cNvSpPr>
            <a:spLocks noGrp="1"/>
          </p:cNvSpPr>
          <p:nvPr>
            <p:ph type="sldNum" sz="quarter" idx="5"/>
          </p:nvPr>
        </p:nvSpPr>
        <p:spPr/>
        <p:txBody>
          <a:bodyPr/>
          <a:lstStyle/>
          <a:p>
            <a:fld id="{89138C4E-EB6C-084B-938C-D73001D99940}" type="slidenum">
              <a:rPr lang="en-US" smtClean="0"/>
              <a:t>4</a:t>
            </a:fld>
            <a:endParaRPr lang="en-US"/>
          </a:p>
        </p:txBody>
      </p:sp>
    </p:spTree>
    <p:extLst>
      <p:ext uri="{BB962C8B-B14F-4D97-AF65-F5344CB8AC3E}">
        <p14:creationId xmlns:p14="http://schemas.microsoft.com/office/powerpoint/2010/main" val="1578198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00EEC-4DD7-CA70-B439-18E8FB292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ADF81-BE75-D4F0-52DF-E9858EEF3E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0B36AA-31CC-52B9-9D37-84C64C3CC4D4}"/>
              </a:ext>
            </a:extLst>
          </p:cNvPr>
          <p:cNvSpPr>
            <a:spLocks noGrp="1"/>
          </p:cNvSpPr>
          <p:nvPr>
            <p:ph type="body" idx="1"/>
          </p:nvPr>
        </p:nvSpPr>
        <p:spPr/>
        <p:txBody>
          <a:bodyPr/>
          <a:lstStyle/>
          <a:p>
            <a:r>
              <a:rPr lang="en-US" b="1"/>
              <a:t>Antiviruses serve to complete the goals of: Detection, Prevention, and Removal of viruses. We will only be speaking about the detection and prevention aspects.</a:t>
            </a:r>
          </a:p>
          <a:p>
            <a:endParaRPr lang="en-US" b="1"/>
          </a:p>
          <a:p>
            <a:r>
              <a:rPr lang="en-US" b="1"/>
              <a:t>So.. Anti-Viruses </a:t>
            </a:r>
            <a:r>
              <a:rPr lang="en-US" b="0"/>
              <a:t>want to detect malicious software on your computer.</a:t>
            </a:r>
            <a:br>
              <a:rPr lang="en-US" b="0"/>
            </a:br>
            <a:br>
              <a:rPr lang="en-US" b="0"/>
            </a:br>
            <a:r>
              <a:rPr lang="en-US" b="0"/>
              <a:t>Very broadly speaking, they can either work </a:t>
            </a:r>
            <a:r>
              <a:rPr lang="en-US" b="1"/>
              <a:t>statically </a:t>
            </a:r>
            <a:r>
              <a:rPr lang="en-US" b="0"/>
              <a:t>or </a:t>
            </a:r>
            <a:r>
              <a:rPr lang="en-US" b="1"/>
              <a:t>dynamically</a:t>
            </a:r>
            <a:r>
              <a:rPr lang="en-US" b="0"/>
              <a:t>. </a:t>
            </a:r>
          </a:p>
          <a:p>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A</a:t>
            </a:r>
            <a:r>
              <a:rPr lang="en-US" sz="1200" b="1">
                <a:solidFill>
                  <a:schemeClr val="tx2">
                    <a:lumMod val="60000"/>
                    <a:lumOff val="40000"/>
                  </a:schemeClr>
                </a:solidFill>
                <a:latin typeface="Adobe Garamond Pro"/>
              </a:rPr>
              <a:t> static </a:t>
            </a:r>
            <a:r>
              <a:rPr lang="en-US" sz="1200">
                <a:solidFill>
                  <a:schemeClr val="tx2">
                    <a:lumMod val="60000"/>
                    <a:lumOff val="40000"/>
                  </a:schemeClr>
                </a:solidFill>
                <a:latin typeface="Adobe Garamond Pro"/>
              </a:rPr>
              <a:t>approach to detecting viruses may be to analyze the </a:t>
            </a:r>
            <a:r>
              <a:rPr lang="en-US" sz="1200" b="1">
                <a:solidFill>
                  <a:schemeClr val="tx2">
                    <a:lumMod val="60000"/>
                    <a:lumOff val="40000"/>
                  </a:schemeClr>
                </a:solidFill>
                <a:latin typeface="Adobe Garamond Pro"/>
              </a:rPr>
              <a:t>binary</a:t>
            </a:r>
            <a:r>
              <a:rPr lang="en-US" sz="1200">
                <a:solidFill>
                  <a:schemeClr val="tx2">
                    <a:lumMod val="60000"/>
                    <a:lumOff val="40000"/>
                  </a:schemeClr>
                </a:solidFill>
                <a:latin typeface="Adobe Garamond Pro"/>
              </a:rPr>
              <a:t> of a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-&gt; (A binary is simply the original file with the executable assembly instructions)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Viruses will typically have tell tale signs; these might be calls to </a:t>
            </a:r>
            <a:r>
              <a:rPr lang="en-US" sz="1200" b="1" err="1">
                <a:solidFill>
                  <a:schemeClr val="tx2">
                    <a:lumMod val="60000"/>
                    <a:lumOff val="40000"/>
                  </a:schemeClr>
                </a:solidFill>
                <a:latin typeface="Adobe Garamond Pro"/>
              </a:rPr>
              <a:t>WinAPI</a:t>
            </a:r>
            <a:r>
              <a:rPr lang="en-US" sz="1200" b="1">
                <a:solidFill>
                  <a:schemeClr val="tx2">
                    <a:lumMod val="60000"/>
                    <a:lumOff val="40000"/>
                  </a:schemeClr>
                </a:solidFill>
                <a:latin typeface="Adobe Garamond Pro"/>
              </a:rPr>
              <a:t> </a:t>
            </a:r>
            <a:r>
              <a:rPr lang="en-US" sz="1200">
                <a:solidFill>
                  <a:schemeClr val="tx2">
                    <a:lumMod val="60000"/>
                    <a:lumOff val="40000"/>
                  </a:schemeClr>
                </a:solidFill>
                <a:latin typeface="Adobe Garamond Pro"/>
              </a:rPr>
              <a:t>functions such as </a:t>
            </a:r>
            <a:r>
              <a:rPr lang="en-US" sz="1200" b="1" err="1">
                <a:solidFill>
                  <a:schemeClr val="tx2">
                    <a:lumMod val="60000"/>
                    <a:lumOff val="40000"/>
                  </a:schemeClr>
                </a:solidFill>
                <a:latin typeface="Adobe Garamond Pro"/>
              </a:rPr>
              <a:t>LoadLibraryA</a:t>
            </a:r>
            <a:r>
              <a:rPr lang="en-US" sz="1200" b="1">
                <a:solidFill>
                  <a:schemeClr val="tx2">
                    <a:lumMod val="60000"/>
                    <a:lumOff val="40000"/>
                  </a:schemeClr>
                </a:solidFill>
                <a:latin typeface="Adobe Garamond Pro"/>
              </a:rPr>
              <a:t>, </a:t>
            </a:r>
            <a:r>
              <a:rPr lang="en-US" sz="1200" b="0">
                <a:solidFill>
                  <a:schemeClr val="tx2">
                    <a:lumMod val="60000"/>
                    <a:lumOff val="40000"/>
                  </a:schemeClr>
                </a:solidFill>
                <a:latin typeface="Adobe Garamond Pro"/>
              </a:rPr>
              <a:t>which is a function to </a:t>
            </a:r>
            <a:r>
              <a:rPr lang="en-US" sz="1200">
                <a:solidFill>
                  <a:schemeClr val="tx2">
                    <a:lumMod val="60000"/>
                    <a:lumOff val="40000"/>
                  </a:schemeClr>
                </a:solidFill>
                <a:latin typeface="Adobe Garamond Pro"/>
              </a:rPr>
              <a:t>inject</a:t>
            </a:r>
            <a:r>
              <a:rPr lang="en-US" sz="1200" b="1">
                <a:solidFill>
                  <a:schemeClr val="tx2">
                    <a:lumMod val="60000"/>
                    <a:lumOff val="40000"/>
                  </a:schemeClr>
                </a:solidFill>
                <a:latin typeface="Adobe Garamond Pro"/>
              </a:rPr>
              <a:t> </a:t>
            </a:r>
            <a:r>
              <a:rPr lang="en-US" sz="1200">
                <a:solidFill>
                  <a:schemeClr val="tx2">
                    <a:lumMod val="60000"/>
                    <a:lumOff val="40000"/>
                  </a:schemeClr>
                </a:solidFill>
                <a:latin typeface="Adobe Garamond Pro"/>
              </a:rPr>
              <a:t>a </a:t>
            </a:r>
            <a:r>
              <a:rPr lang="en-US" sz="1200" b="1">
                <a:solidFill>
                  <a:schemeClr val="tx2">
                    <a:lumMod val="60000"/>
                    <a:lumOff val="40000"/>
                  </a:schemeClr>
                </a:solidFill>
                <a:latin typeface="Adobe Garamond Pro"/>
              </a:rPr>
              <a:t>DLL </a:t>
            </a:r>
            <a:r>
              <a:rPr lang="en-US" sz="1200">
                <a:solidFill>
                  <a:schemeClr val="tx2">
                    <a:lumMod val="60000"/>
                    <a:lumOff val="40000"/>
                  </a:schemeClr>
                </a:solidFill>
                <a:latin typeface="Adobe Garamond Pro"/>
              </a:rPr>
              <a:t>into a process. This might signify that this program is attempting to modify the memory of another process and call its own functions using said process as an alias of sorts.</a:t>
            </a:r>
          </a:p>
          <a:p>
            <a:endParaRPr lang="en-US" b="1"/>
          </a:p>
        </p:txBody>
      </p:sp>
      <p:sp>
        <p:nvSpPr>
          <p:cNvPr id="4" name="Slide Number Placeholder 3">
            <a:extLst>
              <a:ext uri="{FF2B5EF4-FFF2-40B4-BE49-F238E27FC236}">
                <a16:creationId xmlns:a16="http://schemas.microsoft.com/office/drawing/2014/main" id="{569C7FB3-3818-6E02-4D59-C70394D745F8}"/>
              </a:ext>
            </a:extLst>
          </p:cNvPr>
          <p:cNvSpPr>
            <a:spLocks noGrp="1"/>
          </p:cNvSpPr>
          <p:nvPr>
            <p:ph type="sldNum" sz="quarter" idx="5"/>
          </p:nvPr>
        </p:nvSpPr>
        <p:spPr/>
        <p:txBody>
          <a:bodyPr/>
          <a:lstStyle/>
          <a:p>
            <a:fld id="{89138C4E-EB6C-084B-938C-D73001D99940}" type="slidenum">
              <a:rPr lang="en-US" smtClean="0"/>
              <a:t>5</a:t>
            </a:fld>
            <a:endParaRPr lang="en-US"/>
          </a:p>
        </p:txBody>
      </p:sp>
    </p:spTree>
    <p:extLst>
      <p:ext uri="{BB962C8B-B14F-4D97-AF65-F5344CB8AC3E}">
        <p14:creationId xmlns:p14="http://schemas.microsoft.com/office/powerpoint/2010/main" val="4067068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7B8E4-8058-E372-A6FD-1859CF06A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25414-A8E8-97A3-0BE2-3E615CAFB2C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5D274F0-E3E6-40A4-4731-5BD0D95973C8}"/>
              </a:ext>
            </a:extLst>
          </p:cNvPr>
          <p:cNvSpPr>
            <a:spLocks noGrp="1"/>
          </p:cNvSpPr>
          <p:nvPr>
            <p:ph type="body" idx="1"/>
          </p:nvPr>
        </p:nvSpPr>
        <p:spPr/>
        <p:txBody>
          <a:bodyPr/>
          <a:lstStyle/>
          <a:p>
            <a:r>
              <a:rPr lang="en-US" b="1"/>
              <a:t>So.. What am I even talking about? What is a kernel?</a:t>
            </a:r>
            <a:endParaRPr lang="en-US" b="0"/>
          </a:p>
          <a:p>
            <a:endParaRPr lang="en-US" b="0"/>
          </a:p>
          <a:p>
            <a:r>
              <a:rPr lang="en-US" b="0"/>
              <a:t>It’s basically the administrator of the computer. The kernel holds all of the control in the machine and is the middle-man that allows applications to interface with the machine.</a:t>
            </a:r>
          </a:p>
          <a:p>
            <a:endParaRPr lang="en-US" b="0"/>
          </a:p>
          <a:p>
            <a:r>
              <a:rPr lang="en-US" b="0">
                <a:solidFill>
                  <a:schemeClr val="bg1">
                    <a:lumMod val="75000"/>
                  </a:schemeClr>
                </a:solidFill>
              </a:rPr>
              <a:t>Most importantly, it provides an interface for software to interact with the machine via functions in various DLL files, essentially imparting its powers unto the lower-level, user-space applications.</a:t>
            </a:r>
          </a:p>
          <a:p>
            <a:endParaRPr lang="en-US" b="0">
              <a:solidFill>
                <a:schemeClr val="bg1">
                  <a:lumMod val="75000"/>
                </a:schemeClr>
              </a:solidFill>
            </a:endParaRPr>
          </a:p>
          <a:p>
            <a:r>
              <a:rPr lang="en-US" b="0">
                <a:solidFill>
                  <a:schemeClr val="bg1">
                    <a:lumMod val="75000"/>
                  </a:schemeClr>
                </a:solidFill>
              </a:rPr>
              <a:t>This means that, without exception, all information goes through the kernel.</a:t>
            </a:r>
            <a:endParaRPr lang="en-US" b="1"/>
          </a:p>
        </p:txBody>
      </p:sp>
      <p:sp>
        <p:nvSpPr>
          <p:cNvPr id="4" name="Slide Number Placeholder 3">
            <a:extLst>
              <a:ext uri="{FF2B5EF4-FFF2-40B4-BE49-F238E27FC236}">
                <a16:creationId xmlns:a16="http://schemas.microsoft.com/office/drawing/2014/main" id="{CD740268-6C26-1B9F-1348-1A606B63F7BC}"/>
              </a:ext>
            </a:extLst>
          </p:cNvPr>
          <p:cNvSpPr>
            <a:spLocks noGrp="1"/>
          </p:cNvSpPr>
          <p:nvPr>
            <p:ph type="sldNum" sz="quarter" idx="5"/>
          </p:nvPr>
        </p:nvSpPr>
        <p:spPr/>
        <p:txBody>
          <a:bodyPr/>
          <a:lstStyle/>
          <a:p>
            <a:fld id="{89138C4E-EB6C-084B-938C-D73001D99940}" type="slidenum">
              <a:rPr lang="en-US" smtClean="0"/>
              <a:t>6</a:t>
            </a:fld>
            <a:endParaRPr lang="en-US"/>
          </a:p>
        </p:txBody>
      </p:sp>
    </p:spTree>
    <p:extLst>
      <p:ext uri="{BB962C8B-B14F-4D97-AF65-F5344CB8AC3E}">
        <p14:creationId xmlns:p14="http://schemas.microsoft.com/office/powerpoint/2010/main" val="59751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A5AD-741D-535F-7FE4-013EA8C71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9DDA3-530F-B507-AC21-EF56F381D3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442DD4-A073-8FF2-D189-8F1C70F662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I hope you remembered we were still talking about </a:t>
            </a:r>
            <a:r>
              <a:rPr lang="en-US" b="1"/>
              <a:t>Anti-Viruses. </a:t>
            </a:r>
            <a:r>
              <a:rPr lang="en-US" b="0"/>
              <a:t>Our next topic is </a:t>
            </a:r>
            <a:r>
              <a:rPr lang="en-US" b="1"/>
              <a:t>Dynamic Detection</a:t>
            </a:r>
            <a:r>
              <a:rPr lang="en-US" b="0"/>
              <a:t> of Viruses. </a:t>
            </a:r>
            <a:br>
              <a:rPr lang="en-US" b="0"/>
            </a:br>
            <a:br>
              <a:rPr lang="en-US" b="0"/>
            </a:br>
            <a:r>
              <a:rPr lang="en-US" sz="1200">
                <a:solidFill>
                  <a:schemeClr val="tx2">
                    <a:lumMod val="60000"/>
                    <a:lumOff val="40000"/>
                  </a:schemeClr>
                </a:solidFill>
                <a:latin typeface="Adobe Garamond Pro"/>
              </a:rPr>
              <a:t>A </a:t>
            </a:r>
            <a:r>
              <a:rPr lang="en-US" sz="1200" b="1">
                <a:solidFill>
                  <a:schemeClr val="tx2">
                    <a:lumMod val="60000"/>
                    <a:lumOff val="40000"/>
                  </a:schemeClr>
                </a:solidFill>
                <a:latin typeface="Adobe Garamond Pro"/>
              </a:rPr>
              <a:t>dynamic</a:t>
            </a:r>
            <a:r>
              <a:rPr lang="en-US" sz="1200">
                <a:solidFill>
                  <a:schemeClr val="tx2">
                    <a:lumMod val="60000"/>
                    <a:lumOff val="40000"/>
                  </a:schemeClr>
                </a:solidFill>
                <a:latin typeface="Adobe Garamond Pro"/>
              </a:rPr>
              <a:t> approach may involve the </a:t>
            </a:r>
            <a:r>
              <a:rPr lang="en-US" sz="1200" b="1">
                <a:solidFill>
                  <a:schemeClr val="tx2">
                    <a:lumMod val="60000"/>
                    <a:lumOff val="40000"/>
                  </a:schemeClr>
                </a:solidFill>
                <a:latin typeface="Adobe Garamond Pro"/>
              </a:rPr>
              <a:t>Anti-Virus </a:t>
            </a:r>
            <a:r>
              <a:rPr lang="en-US" sz="1200">
                <a:solidFill>
                  <a:schemeClr val="tx2">
                    <a:lumMod val="60000"/>
                    <a:lumOff val="40000"/>
                  </a:schemeClr>
                </a:solidFill>
                <a:latin typeface="Adobe Garamond Pro"/>
              </a:rPr>
              <a:t>scanning active memory on the system, colloquially, </a:t>
            </a:r>
            <a:r>
              <a:rPr lang="en-US" sz="1200" b="1">
                <a:solidFill>
                  <a:schemeClr val="tx2">
                    <a:lumMod val="60000"/>
                    <a:lumOff val="40000"/>
                  </a:schemeClr>
                </a:solidFill>
                <a:latin typeface="Adobe Garamond Pro"/>
              </a:rPr>
              <a:t>RAM</a:t>
            </a:r>
            <a:r>
              <a:rPr lang="en-US" sz="1200">
                <a:solidFill>
                  <a:schemeClr val="tx2">
                    <a:lumMod val="60000"/>
                    <a:lumOff val="40000"/>
                  </a:schemeClr>
                </a:solidFill>
                <a:latin typeface="Adobe Garamond Pro"/>
              </a:rPr>
              <a:t>. Suspicious patterns of </a:t>
            </a:r>
            <a:r>
              <a:rPr lang="en-US" sz="1200" b="1">
                <a:solidFill>
                  <a:schemeClr val="tx2">
                    <a:lumMod val="60000"/>
                    <a:lumOff val="40000"/>
                  </a:schemeClr>
                </a:solidFill>
                <a:latin typeface="Adobe Garamond Pro"/>
              </a:rPr>
              <a:t>bytes</a:t>
            </a:r>
            <a:r>
              <a:rPr lang="en-US" sz="1200" b="0">
                <a:solidFill>
                  <a:schemeClr val="tx2">
                    <a:lumMod val="60000"/>
                    <a:lumOff val="40000"/>
                  </a:schemeClr>
                </a:solidFill>
                <a:latin typeface="Adobe Garamond Pro"/>
              </a:rPr>
              <a:t> can be clumped together into an </a:t>
            </a:r>
            <a:r>
              <a:rPr lang="en-US" sz="1200" b="1">
                <a:solidFill>
                  <a:schemeClr val="tx2">
                    <a:lumMod val="60000"/>
                    <a:lumOff val="40000"/>
                  </a:schemeClr>
                </a:solidFill>
                <a:latin typeface="Adobe Garamond Pro"/>
              </a:rPr>
              <a:t>Array of Bytes (AOB)</a:t>
            </a:r>
            <a:r>
              <a:rPr lang="en-US" sz="1200" b="0">
                <a:solidFill>
                  <a:schemeClr val="tx2">
                    <a:lumMod val="60000"/>
                    <a:lumOff val="40000"/>
                  </a:schemeClr>
                </a:solidFill>
                <a:latin typeface="Adobe Garamond Pro"/>
              </a:rPr>
              <a:t>.</a:t>
            </a:r>
            <a:br>
              <a:rPr lang="en-US" sz="1200" b="0">
                <a:solidFill>
                  <a:schemeClr val="tx2">
                    <a:lumMod val="60000"/>
                    <a:lumOff val="40000"/>
                  </a:schemeClr>
                </a:solidFill>
                <a:latin typeface="Adobe Garamond Pro"/>
              </a:rPr>
            </a:br>
            <a:r>
              <a:rPr lang="en-US" sz="1200" b="0">
                <a:solidFill>
                  <a:schemeClr val="tx2">
                    <a:lumMod val="60000"/>
                    <a:lumOff val="40000"/>
                  </a:schemeClr>
                </a:solidFill>
                <a:latin typeface="Adobe Garamond Pro"/>
              </a:rPr>
              <a:t>Addresses are replaced with wild-cards, which are the question marks you see in the </a:t>
            </a:r>
            <a:r>
              <a:rPr lang="en-US" sz="1200" b="1">
                <a:solidFill>
                  <a:schemeClr val="tx2">
                    <a:lumMod val="60000"/>
                    <a:lumOff val="40000"/>
                  </a:schemeClr>
                </a:solidFill>
                <a:latin typeface="Adobe Garamond Pro"/>
              </a:rPr>
              <a:t>AOB</a:t>
            </a:r>
            <a:r>
              <a:rPr lang="en-US" sz="1200" b="0">
                <a:solidFill>
                  <a:schemeClr val="tx2">
                    <a:lumMod val="60000"/>
                    <a:lumOff val="40000"/>
                  </a:schemeClr>
                </a:solidFill>
                <a:latin typeface="Adobe Garamond Pro"/>
              </a:rPr>
              <a:t> that we collected.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2">
                    <a:lumMod val="60000"/>
                    <a:lumOff val="40000"/>
                  </a:schemeClr>
                </a:solidFill>
                <a:latin typeface="Adobe Garamond Pro"/>
              </a:rPr>
              <a:t>These bytes are then analyzed against known signatures.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a:p>
            <a:endParaRPr lang="en-US" b="1"/>
          </a:p>
        </p:txBody>
      </p:sp>
      <p:sp>
        <p:nvSpPr>
          <p:cNvPr id="4" name="Slide Number Placeholder 3">
            <a:extLst>
              <a:ext uri="{FF2B5EF4-FFF2-40B4-BE49-F238E27FC236}">
                <a16:creationId xmlns:a16="http://schemas.microsoft.com/office/drawing/2014/main" id="{26D532DA-36AC-E8F9-3127-65213EA9A509}"/>
              </a:ext>
            </a:extLst>
          </p:cNvPr>
          <p:cNvSpPr>
            <a:spLocks noGrp="1"/>
          </p:cNvSpPr>
          <p:nvPr>
            <p:ph type="sldNum" sz="quarter" idx="5"/>
          </p:nvPr>
        </p:nvSpPr>
        <p:spPr/>
        <p:txBody>
          <a:bodyPr/>
          <a:lstStyle/>
          <a:p>
            <a:fld id="{89138C4E-EB6C-084B-938C-D73001D99940}" type="slidenum">
              <a:rPr lang="en-US" smtClean="0"/>
              <a:t>7</a:t>
            </a:fld>
            <a:endParaRPr lang="en-US"/>
          </a:p>
        </p:txBody>
      </p:sp>
    </p:spTree>
    <p:extLst>
      <p:ext uri="{BB962C8B-B14F-4D97-AF65-F5344CB8AC3E}">
        <p14:creationId xmlns:p14="http://schemas.microsoft.com/office/powerpoint/2010/main" val="2894122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009B2-F202-9AAE-6692-4D49C9AE4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CBF3B-BFB4-5282-A4C5-1E3C845B64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EA6C68-F0F5-01D7-185F-6217E50CF66E}"/>
              </a:ext>
            </a:extLst>
          </p:cNvPr>
          <p:cNvSpPr>
            <a:spLocks noGrp="1"/>
          </p:cNvSpPr>
          <p:nvPr>
            <p:ph type="body" idx="1"/>
          </p:nvPr>
        </p:nvSpPr>
        <p:spPr/>
        <p:txBody>
          <a:bodyPr/>
          <a:lstStyle/>
          <a:p>
            <a:r>
              <a:rPr lang="en-US" b="0"/>
              <a:t>Next is how anti-viruses </a:t>
            </a:r>
            <a:r>
              <a:rPr lang="en-US" b="1"/>
              <a:t>Prevent </a:t>
            </a:r>
            <a:r>
              <a:rPr lang="en-US" b="0"/>
              <a:t>the downloading of malicious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Upon downloading a file, a </a:t>
            </a:r>
            <a:r>
              <a:rPr lang="en-US" sz="1200" b="1">
                <a:solidFill>
                  <a:schemeClr val="tx2">
                    <a:lumMod val="60000"/>
                    <a:lumOff val="40000"/>
                  </a:schemeClr>
                </a:solidFill>
                <a:latin typeface="Adobe Garamond Pro"/>
              </a:rPr>
              <a:t>hash value</a:t>
            </a:r>
            <a:r>
              <a:rPr lang="en-US" sz="1200">
                <a:solidFill>
                  <a:schemeClr val="tx2">
                    <a:lumMod val="60000"/>
                    <a:lumOff val="40000"/>
                  </a:schemeClr>
                </a:solidFill>
                <a:latin typeface="Adobe Garamond Pro"/>
              </a:rPr>
              <a:t> can be calculated for it through an algorithm that iterates over all the bytes. No matter how large the file is, it will always consolidate itself to a, in the case of </a:t>
            </a:r>
            <a:r>
              <a:rPr lang="en-US" sz="1200" b="1">
                <a:solidFill>
                  <a:schemeClr val="tx2">
                    <a:lumMod val="60000"/>
                    <a:lumOff val="40000"/>
                  </a:schemeClr>
                </a:solidFill>
                <a:latin typeface="Adobe Garamond Pro"/>
              </a:rPr>
              <a:t>MD5</a:t>
            </a:r>
            <a:r>
              <a:rPr lang="en-US" sz="1200" b="0">
                <a:solidFill>
                  <a:schemeClr val="tx2">
                    <a:lumMod val="60000"/>
                    <a:lumOff val="40000"/>
                  </a:schemeClr>
                </a:solidFill>
                <a:latin typeface="Adobe Garamond Pro"/>
              </a:rPr>
              <a:t>, 32 hexadecimal-character hash.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a:p>
            <a:r>
              <a:rPr lang="en-US" b="0"/>
              <a:t>Hash values are stored by the anti-virus and compared to a database of known malicious files. </a:t>
            </a:r>
          </a:p>
        </p:txBody>
      </p:sp>
      <p:sp>
        <p:nvSpPr>
          <p:cNvPr id="4" name="Slide Number Placeholder 3">
            <a:extLst>
              <a:ext uri="{FF2B5EF4-FFF2-40B4-BE49-F238E27FC236}">
                <a16:creationId xmlns:a16="http://schemas.microsoft.com/office/drawing/2014/main" id="{2D1593A0-F8F1-BFDE-D6C3-AB00EB76EA80}"/>
              </a:ext>
            </a:extLst>
          </p:cNvPr>
          <p:cNvSpPr>
            <a:spLocks noGrp="1"/>
          </p:cNvSpPr>
          <p:nvPr>
            <p:ph type="sldNum" sz="quarter" idx="5"/>
          </p:nvPr>
        </p:nvSpPr>
        <p:spPr/>
        <p:txBody>
          <a:bodyPr/>
          <a:lstStyle/>
          <a:p>
            <a:fld id="{89138C4E-EB6C-084B-938C-D73001D99940}" type="slidenum">
              <a:rPr lang="en-US" smtClean="0"/>
              <a:t>8</a:t>
            </a:fld>
            <a:endParaRPr lang="en-US"/>
          </a:p>
        </p:txBody>
      </p:sp>
    </p:spTree>
    <p:extLst>
      <p:ext uri="{BB962C8B-B14F-4D97-AF65-F5344CB8AC3E}">
        <p14:creationId xmlns:p14="http://schemas.microsoft.com/office/powerpoint/2010/main" val="2613985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2FCA6-27E3-8D7A-DC4F-2BD6B4908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F4970-6BFF-D402-1A46-919CC9A629D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129309-D753-C895-641C-06015B1298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60000"/>
                    <a:lumOff val="40000"/>
                  </a:schemeClr>
                </a:solidFill>
                <a:latin typeface="Adobe Garamond Pro"/>
              </a:rPr>
              <a:t>A </a:t>
            </a:r>
            <a:r>
              <a:rPr lang="en-US" sz="1200" b="1" dirty="0">
                <a:solidFill>
                  <a:schemeClr val="tx2">
                    <a:lumMod val="60000"/>
                    <a:lumOff val="40000"/>
                  </a:schemeClr>
                </a:solidFill>
                <a:latin typeface="Adobe Garamond Pro"/>
              </a:rPr>
              <a:t>DMA</a:t>
            </a:r>
            <a:r>
              <a:rPr lang="en-US" sz="1200" dirty="0">
                <a:solidFill>
                  <a:schemeClr val="tx2">
                    <a:lumMod val="60000"/>
                    <a:lumOff val="40000"/>
                  </a:schemeClr>
                </a:solidFill>
                <a:latin typeface="Adobe Garamond Pro"/>
              </a:rPr>
              <a:t> or </a:t>
            </a:r>
            <a:r>
              <a:rPr lang="en-US" sz="1200" b="1" dirty="0">
                <a:solidFill>
                  <a:schemeClr val="tx2">
                    <a:lumMod val="60000"/>
                    <a:lumOff val="40000"/>
                  </a:schemeClr>
                </a:solidFill>
                <a:latin typeface="Adobe Garamond Pro"/>
              </a:rPr>
              <a:t>Direct Memory Access </a:t>
            </a:r>
            <a:r>
              <a:rPr lang="en-US" sz="1200" dirty="0">
                <a:solidFill>
                  <a:schemeClr val="tx2">
                    <a:lumMod val="60000"/>
                    <a:lumOff val="40000"/>
                  </a:schemeClr>
                </a:solidFill>
                <a:latin typeface="Adobe Garamond Pro"/>
              </a:rPr>
              <a:t>Device is a piece of hardware that bypasses the kernel and </a:t>
            </a:r>
            <a:r>
              <a:rPr lang="en-US" sz="1200" b="1" dirty="0">
                <a:solidFill>
                  <a:schemeClr val="tx2">
                    <a:lumMod val="60000"/>
                    <a:lumOff val="40000"/>
                  </a:schemeClr>
                </a:solidFill>
                <a:latin typeface="Adobe Garamond Pro"/>
              </a:rPr>
              <a:t>directly</a:t>
            </a:r>
            <a:r>
              <a:rPr lang="en-US" sz="1200" dirty="0">
                <a:solidFill>
                  <a:schemeClr val="tx2">
                    <a:lumMod val="60000"/>
                    <a:lumOff val="40000"/>
                  </a:schemeClr>
                </a:solidFill>
                <a:latin typeface="Adobe Garamond Pro"/>
              </a:rPr>
              <a:t> interfaces with </a:t>
            </a:r>
            <a:r>
              <a:rPr lang="en-US" sz="1200" b="1" dirty="0">
                <a:solidFill>
                  <a:schemeClr val="tx2">
                    <a:lumMod val="60000"/>
                    <a:lumOff val="40000"/>
                  </a:schemeClr>
                </a:solidFill>
                <a:latin typeface="Adobe Garamond Pro"/>
              </a:rPr>
              <a:t>DRAM.</a:t>
            </a:r>
            <a:r>
              <a:rPr lang="en-US" sz="1200" b="0" dirty="0">
                <a:solidFill>
                  <a:schemeClr val="tx2">
                    <a:lumMod val="60000"/>
                    <a:lumOff val="40000"/>
                  </a:schemeClr>
                </a:solidFill>
                <a:latin typeface="Adobe Garamond Pro"/>
              </a:rPr>
              <a:t> </a:t>
            </a:r>
            <a:br>
              <a:rPr lang="en-US" sz="1200" b="0" dirty="0">
                <a:solidFill>
                  <a:schemeClr val="tx2">
                    <a:lumMod val="60000"/>
                    <a:lumOff val="40000"/>
                  </a:schemeClr>
                </a:solidFill>
                <a:latin typeface="Adobe Garamond Pro"/>
              </a:rPr>
            </a:br>
            <a:br>
              <a:rPr lang="en-US" sz="1200" b="0" dirty="0">
                <a:solidFill>
                  <a:schemeClr val="tx2">
                    <a:lumMod val="60000"/>
                    <a:lumOff val="40000"/>
                  </a:schemeClr>
                </a:solidFill>
                <a:latin typeface="Adobe Garamond Pro"/>
              </a:rPr>
            </a:br>
            <a:r>
              <a:rPr lang="en-US" sz="1200" b="0" dirty="0">
                <a:solidFill>
                  <a:schemeClr val="tx2">
                    <a:lumMod val="60000"/>
                    <a:lumOff val="40000"/>
                  </a:schemeClr>
                </a:solidFill>
                <a:latin typeface="Adobe Garamond Pro"/>
              </a:rPr>
              <a:t>If you’ve ever played a game on the Atari, the implications of this definition is very reminiscent to something you would see as the result of the </a:t>
            </a:r>
            <a:r>
              <a:rPr lang="en-US" sz="1200" b="1" dirty="0">
                <a:solidFill>
                  <a:schemeClr val="tx2">
                    <a:lumMod val="60000"/>
                    <a:lumOff val="40000"/>
                  </a:schemeClr>
                </a:solidFill>
                <a:latin typeface="Adobe Garamond Pro"/>
              </a:rPr>
              <a:t>Konami Code.</a:t>
            </a:r>
            <a:endParaRPr lang="en-US" sz="1200" b="0" dirty="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60000"/>
                    <a:lumOff val="40000"/>
                  </a:schemeClr>
                </a:solidFill>
                <a:latin typeface="Adobe Garamond Pro"/>
              </a:rPr>
              <a:t>( Which was a cheat code you could input into most Atari games that allowed the player to receive various cheat effects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60000"/>
                    <a:lumOff val="40000"/>
                  </a:schemeClr>
                </a:solidFill>
                <a:latin typeface="Adobe Garamond Pro"/>
              </a:rPr>
              <a:t>That is to say, </a:t>
            </a:r>
            <a:r>
              <a:rPr lang="en-US" sz="1200" b="1" dirty="0">
                <a:solidFill>
                  <a:schemeClr val="tx2">
                    <a:lumMod val="60000"/>
                    <a:lumOff val="40000"/>
                  </a:schemeClr>
                </a:solidFill>
                <a:latin typeface="Adobe Garamond Pro"/>
              </a:rPr>
              <a:t>DMA</a:t>
            </a:r>
            <a:r>
              <a:rPr lang="en-US" sz="1200" b="0" dirty="0">
                <a:solidFill>
                  <a:schemeClr val="tx2">
                    <a:lumMod val="60000"/>
                    <a:lumOff val="40000"/>
                  </a:schemeClr>
                </a:solidFill>
                <a:latin typeface="Adobe Garamond Pro"/>
              </a:rPr>
              <a:t> devices currently </a:t>
            </a:r>
            <a:r>
              <a:rPr lang="en-US" sz="1200" b="1" dirty="0">
                <a:solidFill>
                  <a:schemeClr val="tx2">
                    <a:lumMod val="60000"/>
                    <a:lumOff val="40000"/>
                  </a:schemeClr>
                </a:solidFill>
                <a:latin typeface="Adobe Garamond Pro"/>
              </a:rPr>
              <a:t>completely ignore</a:t>
            </a:r>
            <a:r>
              <a:rPr lang="en-US" sz="1200" b="0" dirty="0">
                <a:solidFill>
                  <a:schemeClr val="tx2">
                    <a:lumMod val="60000"/>
                    <a:lumOff val="40000"/>
                  </a:schemeClr>
                </a:solidFill>
                <a:latin typeface="Adobe Garamond Pro"/>
              </a:rPr>
              <a:t> the systems and standards that we have place for </a:t>
            </a:r>
            <a:r>
              <a:rPr lang="en-US" sz="1200" b="1" dirty="0">
                <a:solidFill>
                  <a:schemeClr val="tx2">
                    <a:lumMod val="60000"/>
                    <a:lumOff val="40000"/>
                  </a:schemeClr>
                </a:solidFill>
                <a:latin typeface="Adobe Garamond Pro"/>
              </a:rPr>
              <a:t>Anti-Virus </a:t>
            </a:r>
            <a:r>
              <a:rPr lang="en-US" sz="1200" b="0" dirty="0">
                <a:solidFill>
                  <a:schemeClr val="tx2">
                    <a:lumMod val="60000"/>
                    <a:lumOff val="40000"/>
                  </a:schemeClr>
                </a:solidFill>
                <a:latin typeface="Adobe Garamond Pro"/>
              </a:rPr>
              <a:t>software.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60000"/>
                    <a:lumOff val="40000"/>
                  </a:schemeClr>
                </a:solidFill>
                <a:latin typeface="Adobe Garamond Pro"/>
              </a:rPr>
              <a:t>To add more fuel to the fire, they are capable of reading and writing memory as well, meaning malware can be directly installed to machines, bypassing the </a:t>
            </a:r>
            <a:r>
              <a:rPr lang="en-US" sz="1200" b="1" dirty="0">
                <a:solidFill>
                  <a:schemeClr val="tx2">
                    <a:lumMod val="60000"/>
                    <a:lumOff val="40000"/>
                  </a:schemeClr>
                </a:solidFill>
                <a:latin typeface="Adobe Garamond Pro"/>
              </a:rPr>
              <a:t>prevention</a:t>
            </a:r>
            <a:r>
              <a:rPr lang="en-US" sz="1200" b="0" dirty="0">
                <a:solidFill>
                  <a:schemeClr val="tx2">
                    <a:lumMod val="60000"/>
                    <a:lumOff val="40000"/>
                  </a:schemeClr>
                </a:solidFill>
                <a:latin typeface="Adobe Garamond Pro"/>
              </a:rPr>
              <a:t> phase of the </a:t>
            </a:r>
            <a:r>
              <a:rPr lang="en-US" sz="1200" b="1" dirty="0">
                <a:solidFill>
                  <a:schemeClr val="tx2">
                    <a:lumMod val="60000"/>
                    <a:lumOff val="40000"/>
                  </a:schemeClr>
                </a:solidFill>
                <a:latin typeface="Adobe Garamond Pro"/>
              </a:rPr>
              <a:t>Anti-Virus</a:t>
            </a:r>
            <a:r>
              <a:rPr lang="en-US" sz="1200" b="0" dirty="0">
                <a:solidFill>
                  <a:schemeClr val="tx2">
                    <a:lumMod val="60000"/>
                    <a:lumOff val="40000"/>
                  </a:schemeClr>
                </a:solidFill>
                <a:latin typeface="Adobe Garamond Pro"/>
              </a:rPr>
              <a:t> software.</a:t>
            </a:r>
          </a:p>
        </p:txBody>
      </p:sp>
      <p:sp>
        <p:nvSpPr>
          <p:cNvPr id="4" name="Slide Number Placeholder 3">
            <a:extLst>
              <a:ext uri="{FF2B5EF4-FFF2-40B4-BE49-F238E27FC236}">
                <a16:creationId xmlns:a16="http://schemas.microsoft.com/office/drawing/2014/main" id="{FFB66368-CD8A-01BF-3398-D6CCF5EA73E6}"/>
              </a:ext>
            </a:extLst>
          </p:cNvPr>
          <p:cNvSpPr>
            <a:spLocks noGrp="1"/>
          </p:cNvSpPr>
          <p:nvPr>
            <p:ph type="sldNum" sz="quarter" idx="5"/>
          </p:nvPr>
        </p:nvSpPr>
        <p:spPr/>
        <p:txBody>
          <a:bodyPr/>
          <a:lstStyle/>
          <a:p>
            <a:fld id="{89138C4E-EB6C-084B-938C-D73001D99940}" type="slidenum">
              <a:rPr lang="en-US" smtClean="0"/>
              <a:t>9</a:t>
            </a:fld>
            <a:endParaRPr lang="en-US"/>
          </a:p>
        </p:txBody>
      </p:sp>
    </p:spTree>
    <p:extLst>
      <p:ext uri="{BB962C8B-B14F-4D97-AF65-F5344CB8AC3E}">
        <p14:creationId xmlns:p14="http://schemas.microsoft.com/office/powerpoint/2010/main" val="750382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0C1D-42C1-B474-8B1E-D0FF5B874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B95DE-86E4-A7FA-4F49-028F54EFEC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5369DB-A280-5671-6FF7-B7E42543D6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AB35C0-244E-22F7-EEB4-D8C489CDA8E5}"/>
              </a:ext>
            </a:extLst>
          </p:cNvPr>
          <p:cNvSpPr>
            <a:spLocks noGrp="1"/>
          </p:cNvSpPr>
          <p:nvPr>
            <p:ph type="sldNum" sz="quarter" idx="5"/>
          </p:nvPr>
        </p:nvSpPr>
        <p:spPr/>
        <p:txBody>
          <a:bodyPr/>
          <a:lstStyle/>
          <a:p>
            <a:fld id="{89138C4E-EB6C-084B-938C-D73001D99940}" type="slidenum">
              <a:rPr lang="en-US" smtClean="0"/>
              <a:t>10</a:t>
            </a:fld>
            <a:endParaRPr lang="en-US"/>
          </a:p>
        </p:txBody>
      </p:sp>
    </p:spTree>
    <p:extLst>
      <p:ext uri="{BB962C8B-B14F-4D97-AF65-F5344CB8AC3E}">
        <p14:creationId xmlns:p14="http://schemas.microsoft.com/office/powerpoint/2010/main" val="3469508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18494-F7EB-23C9-2AAD-287A930FD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BD7EDC-78A1-0D2C-1F7F-DF39190177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232C64-CE74-0852-C393-6B264B885F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2">
                    <a:lumMod val="60000"/>
                    <a:lumOff val="40000"/>
                  </a:schemeClr>
                </a:solidFill>
                <a:latin typeface="Adobe Garamond Pro"/>
              </a:rPr>
              <a:t>The goal of this project is to leverage DMA to mimic a computer virus, gaining information on the machine without leaving any traces of the device. Specifically, we’ll be building a key-logger </a:t>
            </a:r>
            <a:r>
              <a:rPr lang="en-US">
                <a:effectLst/>
              </a:rPr>
              <a:t>that directly reads from the </a:t>
            </a:r>
            <a:r>
              <a:rPr lang="en-US" err="1">
                <a:effectLst/>
              </a:rPr>
              <a:t>gafAsyncKeyState</a:t>
            </a:r>
            <a:r>
              <a:rPr lang="en-US">
                <a:effectLst/>
              </a:rPr>
              <a:t> array. Using this as a basis, we explore means of DMA malware and its feasibility in real-life scenarios today.</a:t>
            </a:r>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13676CB8-291B-A76B-1E8F-EAC968E665B0}"/>
              </a:ext>
            </a:extLst>
          </p:cNvPr>
          <p:cNvSpPr>
            <a:spLocks noGrp="1"/>
          </p:cNvSpPr>
          <p:nvPr>
            <p:ph type="sldNum" sz="quarter" idx="5"/>
          </p:nvPr>
        </p:nvSpPr>
        <p:spPr/>
        <p:txBody>
          <a:bodyPr/>
          <a:lstStyle/>
          <a:p>
            <a:fld id="{89138C4E-EB6C-084B-938C-D73001D99940}" type="slidenum">
              <a:rPr lang="en-US" smtClean="0"/>
              <a:t>11</a:t>
            </a:fld>
            <a:endParaRPr lang="en-US"/>
          </a:p>
        </p:txBody>
      </p:sp>
    </p:spTree>
    <p:extLst>
      <p:ext uri="{BB962C8B-B14F-4D97-AF65-F5344CB8AC3E}">
        <p14:creationId xmlns:p14="http://schemas.microsoft.com/office/powerpoint/2010/main" val="1106089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A73EA-EB18-EC7E-72B8-C052B3DCC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9D0DD-50DF-26A2-C236-2213A0694B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53EF60-AE92-5CB7-9518-D680B992B2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714581-8B5C-FCA4-A467-CF525FE86401}"/>
              </a:ext>
            </a:extLst>
          </p:cNvPr>
          <p:cNvSpPr>
            <a:spLocks noGrp="1"/>
          </p:cNvSpPr>
          <p:nvPr>
            <p:ph type="sldNum" sz="quarter" idx="5"/>
          </p:nvPr>
        </p:nvSpPr>
        <p:spPr/>
        <p:txBody>
          <a:bodyPr/>
          <a:lstStyle/>
          <a:p>
            <a:fld id="{89138C4E-EB6C-084B-938C-D73001D99940}" type="slidenum">
              <a:rPr lang="en-US" smtClean="0"/>
              <a:t>12</a:t>
            </a:fld>
            <a:endParaRPr lang="en-US"/>
          </a:p>
        </p:txBody>
      </p:sp>
    </p:spTree>
    <p:extLst>
      <p:ext uri="{BB962C8B-B14F-4D97-AF65-F5344CB8AC3E}">
        <p14:creationId xmlns:p14="http://schemas.microsoft.com/office/powerpoint/2010/main" val="1340052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985EF-1DF2-12F1-028A-D09E239D9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A0624-B600-6B8A-C538-3477063FC42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99815F-650C-25B0-1E42-C320464FFF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2">
                    <a:lumMod val="60000"/>
                    <a:lumOff val="40000"/>
                  </a:schemeClr>
                </a:solidFill>
                <a:latin typeface="Adobe Garamond Pro"/>
              </a:rPr>
              <a:t>Before we continue, I wanted to use a slide to acknowledge my motivation for this research.</a:t>
            </a:r>
          </a:p>
        </p:txBody>
      </p:sp>
      <p:sp>
        <p:nvSpPr>
          <p:cNvPr id="4" name="Slide Number Placeholder 3">
            <a:extLst>
              <a:ext uri="{FF2B5EF4-FFF2-40B4-BE49-F238E27FC236}">
                <a16:creationId xmlns:a16="http://schemas.microsoft.com/office/drawing/2014/main" id="{8A6715AE-0083-8297-EDE8-993B35FCE079}"/>
              </a:ext>
            </a:extLst>
          </p:cNvPr>
          <p:cNvSpPr>
            <a:spLocks noGrp="1"/>
          </p:cNvSpPr>
          <p:nvPr>
            <p:ph type="sldNum" sz="quarter" idx="5"/>
          </p:nvPr>
        </p:nvSpPr>
        <p:spPr/>
        <p:txBody>
          <a:bodyPr/>
          <a:lstStyle/>
          <a:p>
            <a:fld id="{89138C4E-EB6C-084B-938C-D73001D99940}" type="slidenum">
              <a:rPr lang="en-US" smtClean="0"/>
              <a:t>13</a:t>
            </a:fld>
            <a:endParaRPr lang="en-US"/>
          </a:p>
        </p:txBody>
      </p:sp>
    </p:spTree>
    <p:extLst>
      <p:ext uri="{BB962C8B-B14F-4D97-AF65-F5344CB8AC3E}">
        <p14:creationId xmlns:p14="http://schemas.microsoft.com/office/powerpoint/2010/main" val="2281767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FEBB-E122-4C59-30E2-F8D338E26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5C94F-9418-EAAB-9D16-A848A895F3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5EE38B-36EB-6F6A-DD3B-0A7C85E324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482146-8A6D-6FB4-7135-53104B88B942}"/>
              </a:ext>
            </a:extLst>
          </p:cNvPr>
          <p:cNvSpPr>
            <a:spLocks noGrp="1"/>
          </p:cNvSpPr>
          <p:nvPr>
            <p:ph type="sldNum" sz="quarter" idx="5"/>
          </p:nvPr>
        </p:nvSpPr>
        <p:spPr/>
        <p:txBody>
          <a:bodyPr/>
          <a:lstStyle/>
          <a:p>
            <a:fld id="{89138C4E-EB6C-084B-938C-D73001D99940}" type="slidenum">
              <a:rPr lang="en-US" smtClean="0"/>
              <a:t>14</a:t>
            </a:fld>
            <a:endParaRPr lang="en-US"/>
          </a:p>
        </p:txBody>
      </p:sp>
    </p:spTree>
    <p:extLst>
      <p:ext uri="{BB962C8B-B14F-4D97-AF65-F5344CB8AC3E}">
        <p14:creationId xmlns:p14="http://schemas.microsoft.com/office/powerpoint/2010/main" val="1404177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F9B96-7E5B-FE93-0D9D-5971408E9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5F1C8-0FA0-B5C2-384E-A652BA30C1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3F9931-C24C-3A1F-4D4E-78CE2B96CEE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This project leverages the </a:t>
            </a:r>
            <a:r>
              <a:rPr lang="en-US" sz="1200" b="1">
                <a:solidFill>
                  <a:schemeClr val="tx2">
                    <a:lumMod val="60000"/>
                    <a:lumOff val="40000"/>
                  </a:schemeClr>
                </a:solidFill>
                <a:latin typeface="Adobe Garamond Pro"/>
              </a:rPr>
              <a:t>Screamer PCIe Squirrel</a:t>
            </a:r>
            <a:r>
              <a:rPr lang="en-US" sz="1200">
                <a:solidFill>
                  <a:schemeClr val="tx2">
                    <a:lumMod val="60000"/>
                    <a:lumOff val="40000"/>
                  </a:schemeClr>
                </a:solidFill>
                <a:latin typeface="Adobe Garamond Pro"/>
              </a:rPr>
              <a:t>, a circuit board designed to issue DMA attacks using the PCI Express port. </a:t>
            </a:r>
            <a:br>
              <a:rPr lang="en-US" sz="1200">
                <a:solidFill>
                  <a:schemeClr val="tx2">
                    <a:lumMod val="60000"/>
                    <a:lumOff val="40000"/>
                  </a:schemeClr>
                </a:solidFill>
                <a:latin typeface="Adobe Garamond Pro"/>
              </a:rPr>
            </a:br>
            <a:r>
              <a:rPr lang="en-US" sz="1200">
                <a:solidFill>
                  <a:schemeClr val="tx2">
                    <a:lumMod val="60000"/>
                    <a:lumOff val="40000"/>
                  </a:schemeClr>
                </a:solidFill>
                <a:latin typeface="Adobe Garamond Pro"/>
              </a:rPr>
              <a:t>Other boards are compatible for DMA attacks, so threat actors may have ways to potentially obscure their attacks by disguising their board as USB drives, keyboards, etcetera.</a:t>
            </a:r>
            <a:br>
              <a:rPr lang="en-US" sz="1200">
                <a:solidFill>
                  <a:schemeClr val="tx2">
                    <a:lumMod val="60000"/>
                    <a:lumOff val="40000"/>
                  </a:schemeClr>
                </a:solidFill>
                <a:latin typeface="Adobe Garamond Pro"/>
              </a:rPr>
            </a:br>
            <a:br>
              <a:rPr lang="en-US" sz="1200">
                <a:solidFill>
                  <a:schemeClr val="tx2">
                    <a:lumMod val="60000"/>
                    <a:lumOff val="40000"/>
                  </a:schemeClr>
                </a:solidFill>
                <a:latin typeface="Adobe Garamond Pro"/>
              </a:rPr>
            </a:br>
            <a:r>
              <a:rPr lang="en-US" sz="1200">
                <a:solidFill>
                  <a:schemeClr val="tx2">
                    <a:lumMod val="60000"/>
                    <a:lumOff val="40000"/>
                  </a:schemeClr>
                </a:solidFill>
                <a:latin typeface="Adobe Garamond Pro"/>
              </a:rPr>
              <a:t>I chose this device specifically because of its inherent support for DMA Attacks, and the support it has received from various open-source projects.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2">
                    <a:lumMod val="60000"/>
                    <a:lumOff val="40000"/>
                  </a:schemeClr>
                </a:solidFill>
                <a:latin typeface="Adobe Garamond Pro"/>
              </a:rPr>
              <a:t>Basically, its ease-of-use.</a:t>
            </a:r>
          </a:p>
        </p:txBody>
      </p:sp>
      <p:sp>
        <p:nvSpPr>
          <p:cNvPr id="4" name="Slide Number Placeholder 3">
            <a:extLst>
              <a:ext uri="{FF2B5EF4-FFF2-40B4-BE49-F238E27FC236}">
                <a16:creationId xmlns:a16="http://schemas.microsoft.com/office/drawing/2014/main" id="{AD28AEEE-50B0-89CF-6C42-1B64112257A4}"/>
              </a:ext>
            </a:extLst>
          </p:cNvPr>
          <p:cNvSpPr>
            <a:spLocks noGrp="1"/>
          </p:cNvSpPr>
          <p:nvPr>
            <p:ph type="sldNum" sz="quarter" idx="5"/>
          </p:nvPr>
        </p:nvSpPr>
        <p:spPr/>
        <p:txBody>
          <a:bodyPr/>
          <a:lstStyle/>
          <a:p>
            <a:fld id="{89138C4E-EB6C-084B-938C-D73001D99940}" type="slidenum">
              <a:rPr lang="en-US" smtClean="0"/>
              <a:t>15</a:t>
            </a:fld>
            <a:endParaRPr lang="en-US"/>
          </a:p>
        </p:txBody>
      </p:sp>
    </p:spTree>
    <p:extLst>
      <p:ext uri="{BB962C8B-B14F-4D97-AF65-F5344CB8AC3E}">
        <p14:creationId xmlns:p14="http://schemas.microsoft.com/office/powerpoint/2010/main" val="606722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F7C06-0C6B-6005-475A-966D40FCE4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F7F94-F7D4-7BAC-67E5-3BC4D0240F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838EEE6-F8F3-B62D-2C1F-83E92DD7FF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Our attack uses PCILeech, a software by Ulf Frisk on Github, to carry out the attack. </a:t>
            </a:r>
            <a:br>
              <a:rPr lang="en-US" sz="1200">
                <a:solidFill>
                  <a:schemeClr val="tx2">
                    <a:lumMod val="60000"/>
                    <a:lumOff val="40000"/>
                  </a:schemeClr>
                </a:solidFill>
                <a:latin typeface="Adobe Garamond Pro"/>
              </a:rPr>
            </a:br>
            <a:r>
              <a:rPr lang="en-US" sz="1200">
                <a:solidFill>
                  <a:schemeClr val="tx2">
                    <a:lumMod val="60000"/>
                    <a:lumOff val="40000"/>
                  </a:schemeClr>
                </a:solidFill>
                <a:latin typeface="Adobe Garamond Pro"/>
              </a:rPr>
              <a:t>The board is flashed from the Host PC with the PCILeech FPGA gateware, which begins execution when the target PC is booted.</a:t>
            </a:r>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998D3F94-9BDE-A4C3-012C-387CB896FCE4}"/>
              </a:ext>
            </a:extLst>
          </p:cNvPr>
          <p:cNvSpPr>
            <a:spLocks noGrp="1"/>
          </p:cNvSpPr>
          <p:nvPr>
            <p:ph type="sldNum" sz="quarter" idx="5"/>
          </p:nvPr>
        </p:nvSpPr>
        <p:spPr/>
        <p:txBody>
          <a:bodyPr/>
          <a:lstStyle/>
          <a:p>
            <a:fld id="{89138C4E-EB6C-084B-938C-D73001D99940}" type="slidenum">
              <a:rPr lang="en-US" smtClean="0"/>
              <a:t>16</a:t>
            </a:fld>
            <a:endParaRPr lang="en-US"/>
          </a:p>
        </p:txBody>
      </p:sp>
    </p:spTree>
    <p:extLst>
      <p:ext uri="{BB962C8B-B14F-4D97-AF65-F5344CB8AC3E}">
        <p14:creationId xmlns:p14="http://schemas.microsoft.com/office/powerpoint/2010/main" val="1550730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9C81-249E-0443-29FE-3243E1DE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AF332-DB89-2B5C-2489-8D8EAA916A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1A21E6-BD1E-9177-4584-16579EEBCB26}"/>
              </a:ext>
            </a:extLst>
          </p:cNvPr>
          <p:cNvSpPr>
            <a:spLocks noGrp="1"/>
          </p:cNvSpPr>
          <p:nvPr>
            <p:ph type="body" idx="1"/>
          </p:nvPr>
        </p:nvSpPr>
        <p:spPr/>
        <p:txBody>
          <a:bodyPr/>
          <a:lstStyle/>
          <a:p>
            <a:r>
              <a:rPr lang="en-US" sz="1200">
                <a:solidFill>
                  <a:schemeClr val="tx2">
                    <a:lumMod val="60000"/>
                    <a:lumOff val="40000"/>
                  </a:schemeClr>
                </a:solidFill>
                <a:latin typeface="Adobe Garamond Pro"/>
              </a:rPr>
              <a:t>This program allows us to </a:t>
            </a:r>
            <a:r>
              <a:rPr lang="en-US" sz="1200" b="1">
                <a:solidFill>
                  <a:schemeClr val="tx2">
                    <a:lumMod val="60000"/>
                    <a:lumOff val="40000"/>
                  </a:schemeClr>
                </a:solidFill>
                <a:latin typeface="Adobe Garamond Pro"/>
              </a:rPr>
              <a:t>probe </a:t>
            </a:r>
            <a:r>
              <a:rPr lang="en-US" sz="1200">
                <a:solidFill>
                  <a:schemeClr val="tx2">
                    <a:lumMod val="60000"/>
                    <a:lumOff val="40000"/>
                  </a:schemeClr>
                </a:solidFill>
                <a:latin typeface="Adobe Garamond Pro"/>
              </a:rPr>
              <a:t>memory on the target device. Basically, we can scan the entire DRAM of the system.</a:t>
            </a:r>
            <a:endParaRPr lang="en-US" sz="1200" b="1">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3A4DFAE2-53BA-90CF-7711-B4D7A9BE2F69}"/>
              </a:ext>
            </a:extLst>
          </p:cNvPr>
          <p:cNvSpPr>
            <a:spLocks noGrp="1"/>
          </p:cNvSpPr>
          <p:nvPr>
            <p:ph type="sldNum" sz="quarter" idx="5"/>
          </p:nvPr>
        </p:nvSpPr>
        <p:spPr/>
        <p:txBody>
          <a:bodyPr/>
          <a:lstStyle/>
          <a:p>
            <a:fld id="{89138C4E-EB6C-084B-938C-D73001D99940}" type="slidenum">
              <a:rPr lang="en-US" smtClean="0"/>
              <a:t>17</a:t>
            </a:fld>
            <a:endParaRPr lang="en-US"/>
          </a:p>
        </p:txBody>
      </p:sp>
    </p:spTree>
    <p:extLst>
      <p:ext uri="{BB962C8B-B14F-4D97-AF65-F5344CB8AC3E}">
        <p14:creationId xmlns:p14="http://schemas.microsoft.com/office/powerpoint/2010/main" val="3495513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5AD0E-E0D8-A6DC-3730-0591459A3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B66399-EF74-530C-4AD1-B6CD63C9E7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B1AD09-3FB4-3BD2-28AC-543C5569D9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Now that we can properly read the memory on the target device, we can begin to construct a key-logger.</a:t>
            </a:r>
            <a:endParaRPr lang="en-US" sz="1200" b="1">
              <a:solidFill>
                <a:schemeClr val="tx2">
                  <a:lumMod val="60000"/>
                  <a:lumOff val="40000"/>
                </a:schemeClr>
              </a:solidFill>
              <a:latin typeface="Adobe Garamond Pro"/>
            </a:endParaRPr>
          </a:p>
          <a:p>
            <a:endParaRPr lang="en-US" sz="1200" b="1">
              <a:solidFill>
                <a:schemeClr val="tx2">
                  <a:lumMod val="60000"/>
                  <a:lumOff val="40000"/>
                </a:schemeClr>
              </a:solidFill>
              <a:latin typeface="Adobe Garamond Pro"/>
            </a:endParaRPr>
          </a:p>
          <a:p>
            <a:r>
              <a:rPr lang="en-US" sz="1200" b="1">
                <a:solidFill>
                  <a:schemeClr val="tx2">
                    <a:lumMod val="60000"/>
                    <a:lumOff val="40000"/>
                  </a:schemeClr>
                </a:solidFill>
                <a:latin typeface="Adobe Garamond Pro"/>
              </a:rPr>
              <a:t>Here’s how we’ll go about that:</a:t>
            </a:r>
            <a:endParaRPr lang="en-US" sz="1200" b="0">
              <a:solidFill>
                <a:schemeClr val="tx2">
                  <a:lumMod val="60000"/>
                  <a:lumOff val="40000"/>
                </a:schemeClr>
              </a:solidFill>
              <a:latin typeface="Adobe Garamond Pro"/>
            </a:endParaRPr>
          </a:p>
          <a:p>
            <a:endParaRPr lang="en-US" sz="1200" b="0">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First, we want to identify a function that stores key-presses in a buffer, which we can directly read. </a:t>
            </a:r>
            <a:r>
              <a:rPr lang="en-US" sz="1200" b="1">
                <a:solidFill>
                  <a:schemeClr val="tx2">
                    <a:lumMod val="60000"/>
                    <a:lumOff val="40000"/>
                  </a:schemeClr>
                </a:solidFill>
                <a:latin typeface="Adobe Garamond Pro"/>
              </a:rPr>
              <a:t>GetAsyncKeyState</a:t>
            </a:r>
            <a:r>
              <a:rPr lang="en-US" sz="1200" b="0">
                <a:solidFill>
                  <a:schemeClr val="tx2">
                    <a:lumMod val="60000"/>
                    <a:lumOff val="40000"/>
                  </a:schemeClr>
                </a:solidFill>
                <a:latin typeface="Adobe Garamond Pro"/>
              </a:rPr>
              <a:t> is a </a:t>
            </a:r>
            <a:r>
              <a:rPr lang="en-US" sz="1200" b="1" err="1">
                <a:solidFill>
                  <a:schemeClr val="tx2">
                    <a:lumMod val="60000"/>
                    <a:lumOff val="40000"/>
                  </a:schemeClr>
                </a:solidFill>
                <a:latin typeface="Adobe Garamond Pro"/>
              </a:rPr>
              <a:t>WinAPI</a:t>
            </a:r>
            <a:r>
              <a:rPr lang="en-US" sz="1200" b="1">
                <a:solidFill>
                  <a:schemeClr val="tx2">
                    <a:lumMod val="60000"/>
                    <a:lumOff val="40000"/>
                  </a:schemeClr>
                </a:solidFill>
                <a:latin typeface="Adobe Garamond Pro"/>
              </a:rPr>
              <a:t> </a:t>
            </a:r>
            <a:r>
              <a:rPr lang="en-US" sz="1200" b="0">
                <a:solidFill>
                  <a:schemeClr val="tx2">
                    <a:lumMod val="60000"/>
                    <a:lumOff val="40000"/>
                  </a:schemeClr>
                </a:solidFill>
                <a:latin typeface="Adobe Garamond Pro"/>
              </a:rPr>
              <a:t>function that does exactly this.</a:t>
            </a:r>
          </a:p>
          <a:p>
            <a:r>
              <a:rPr lang="en-US" sz="1200" b="0">
                <a:solidFill>
                  <a:schemeClr val="tx2">
                    <a:lumMod val="60000"/>
                    <a:lumOff val="40000"/>
                  </a:schemeClr>
                </a:solidFill>
                <a:latin typeface="Adobe Garamond Pro"/>
              </a:rPr>
              <a:t>The GetAsyncKeyState is called by the Client/Server </a:t>
            </a:r>
            <a:r>
              <a:rPr lang="en-US" sz="1200" b="0" err="1">
                <a:solidFill>
                  <a:schemeClr val="tx2">
                    <a:lumMod val="60000"/>
                    <a:lumOff val="40000"/>
                  </a:schemeClr>
                </a:solidFill>
                <a:latin typeface="Adobe Garamond Pro"/>
              </a:rPr>
              <a:t>RunTime</a:t>
            </a:r>
            <a:r>
              <a:rPr lang="en-US" sz="1200" b="0">
                <a:solidFill>
                  <a:schemeClr val="tx2">
                    <a:lumMod val="60000"/>
                    <a:lumOff val="40000"/>
                  </a:schemeClr>
                </a:solidFill>
                <a:latin typeface="Adobe Garamond Pro"/>
              </a:rPr>
              <a:t> Subsystem (CSRSS).</a:t>
            </a:r>
          </a:p>
        </p:txBody>
      </p:sp>
      <p:sp>
        <p:nvSpPr>
          <p:cNvPr id="4" name="Slide Number Placeholder 3">
            <a:extLst>
              <a:ext uri="{FF2B5EF4-FFF2-40B4-BE49-F238E27FC236}">
                <a16:creationId xmlns:a16="http://schemas.microsoft.com/office/drawing/2014/main" id="{2BCC7415-00BA-05FE-C5F4-F480EB0FD3A5}"/>
              </a:ext>
            </a:extLst>
          </p:cNvPr>
          <p:cNvSpPr>
            <a:spLocks noGrp="1"/>
          </p:cNvSpPr>
          <p:nvPr>
            <p:ph type="sldNum" sz="quarter" idx="5"/>
          </p:nvPr>
        </p:nvSpPr>
        <p:spPr/>
        <p:txBody>
          <a:bodyPr/>
          <a:lstStyle/>
          <a:p>
            <a:fld id="{89138C4E-EB6C-084B-938C-D73001D99940}" type="slidenum">
              <a:rPr lang="en-US" smtClean="0"/>
              <a:t>18</a:t>
            </a:fld>
            <a:endParaRPr lang="en-US"/>
          </a:p>
        </p:txBody>
      </p:sp>
    </p:spTree>
    <p:extLst>
      <p:ext uri="{BB962C8B-B14F-4D97-AF65-F5344CB8AC3E}">
        <p14:creationId xmlns:p14="http://schemas.microsoft.com/office/powerpoint/2010/main" val="6999872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3F728-94D1-7F4B-2B8A-49A08C85C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2285-904C-A2FC-F79E-EDDCFE0134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B0A2DD-D603-A91D-0B37-D5C7241B80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This means that we can get the process ID of that program, which we then look up in the map of our process buffer. From there we can get the base address of that process and the size of the process.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The memory of this process can then be scanned using the AOB or Pattern of the </a:t>
            </a:r>
            <a:r>
              <a:rPr lang="en-US" sz="1200" b="1">
                <a:solidFill>
                  <a:schemeClr val="tx2">
                    <a:lumMod val="60000"/>
                    <a:lumOff val="40000"/>
                  </a:schemeClr>
                </a:solidFill>
                <a:latin typeface="Adobe Garamond Pro"/>
              </a:rPr>
              <a:t>GetAsyncKeyState</a:t>
            </a:r>
            <a:r>
              <a:rPr lang="en-US" sz="1200" b="0">
                <a:solidFill>
                  <a:schemeClr val="tx2">
                    <a:lumMod val="60000"/>
                    <a:lumOff val="40000"/>
                  </a:schemeClr>
                </a:solidFill>
                <a:latin typeface="Adobe Garamond Pro"/>
              </a:rPr>
              <a:t>, which yields another address. We can simply access or dereference this address this address in the context of the process to acquire the key being pressed </a:t>
            </a:r>
            <a:endParaRPr lang="en-US" sz="1200" b="1">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48 8D 90 ? ? ? ? E8 ? ? ? ? 0F 57 C0</a:t>
            </a:r>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4493AD1A-6FF1-E85A-C6DB-0A4AE046B158}"/>
              </a:ext>
            </a:extLst>
          </p:cNvPr>
          <p:cNvSpPr>
            <a:spLocks noGrp="1"/>
          </p:cNvSpPr>
          <p:nvPr>
            <p:ph type="sldNum" sz="quarter" idx="5"/>
          </p:nvPr>
        </p:nvSpPr>
        <p:spPr/>
        <p:txBody>
          <a:bodyPr/>
          <a:lstStyle/>
          <a:p>
            <a:fld id="{89138C4E-EB6C-084B-938C-D73001D99940}" type="slidenum">
              <a:rPr lang="en-US" smtClean="0"/>
              <a:t>19</a:t>
            </a:fld>
            <a:endParaRPr lang="en-US"/>
          </a:p>
        </p:txBody>
      </p:sp>
    </p:spTree>
    <p:extLst>
      <p:ext uri="{BB962C8B-B14F-4D97-AF65-F5344CB8AC3E}">
        <p14:creationId xmlns:p14="http://schemas.microsoft.com/office/powerpoint/2010/main" val="551675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61F69-09D9-A931-243F-389C76F5F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E94E7-5D67-2557-6E3C-E2C31D6705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41574E-EE7E-D75B-54D3-A8CD564ED21C}"/>
              </a:ext>
            </a:extLst>
          </p:cNvPr>
          <p:cNvSpPr>
            <a:spLocks noGrp="1"/>
          </p:cNvSpPr>
          <p:nvPr>
            <p:ph type="body" idx="1"/>
          </p:nvPr>
        </p:nvSpPr>
        <p:spPr/>
        <p:txBody>
          <a:bodyPr/>
          <a:lstStyle/>
          <a:p>
            <a:r>
              <a:rPr lang="en-US" sz="1200">
                <a:solidFill>
                  <a:schemeClr val="tx2">
                    <a:lumMod val="60000"/>
                    <a:lumOff val="40000"/>
                  </a:schemeClr>
                </a:solidFill>
                <a:latin typeface="Adobe Garamond Pro"/>
              </a:rPr>
              <a:t>Building a successful keylogger marks the completion of the first phase. Here is how our current set-up looks.</a:t>
            </a:r>
          </a:p>
          <a:p>
            <a:endParaRPr lang="en-US" sz="1200" b="1">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The </a:t>
            </a:r>
            <a:r>
              <a:rPr lang="en-US" sz="1200" b="1">
                <a:solidFill>
                  <a:schemeClr val="tx2">
                    <a:lumMod val="60000"/>
                    <a:lumOff val="40000"/>
                  </a:schemeClr>
                </a:solidFill>
                <a:latin typeface="Adobe Garamond Pro"/>
              </a:rPr>
              <a:t>DMA </a:t>
            </a:r>
            <a:r>
              <a:rPr lang="en-US" sz="1200" b="0">
                <a:solidFill>
                  <a:schemeClr val="tx2">
                    <a:lumMod val="60000"/>
                    <a:lumOff val="40000"/>
                  </a:schemeClr>
                </a:solidFill>
                <a:latin typeface="Adobe Garamond Pro"/>
              </a:rPr>
              <a:t>Device is connected via PCIe slot to the target computer. There is a USB-C that is run from the DMA device to the host device. The purpose of this USB-C is two-fold. The host tells the DMA device where to access </a:t>
            </a:r>
            <a:r>
              <a:rPr lang="en-US" sz="1200" b="1">
                <a:solidFill>
                  <a:schemeClr val="tx2">
                    <a:lumMod val="60000"/>
                    <a:lumOff val="40000"/>
                  </a:schemeClr>
                </a:solidFill>
                <a:latin typeface="Adobe Garamond Pro"/>
              </a:rPr>
              <a:t>GetAsyncKeyState</a:t>
            </a:r>
            <a:r>
              <a:rPr lang="en-US" sz="1200" b="0">
                <a:solidFill>
                  <a:schemeClr val="tx2">
                    <a:lumMod val="60000"/>
                    <a:lumOff val="40000"/>
                  </a:schemeClr>
                </a:solidFill>
                <a:latin typeface="Adobe Garamond Pro"/>
              </a:rPr>
              <a:t>. The accessed memory is read on the DMA card and then sent back to the Host Device.</a:t>
            </a:r>
          </a:p>
          <a:p>
            <a:endParaRPr lang="en-US" sz="1200" b="0">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There is an issue with this set-up though. Namely, the DMA device must have physical connection to the </a:t>
            </a:r>
            <a:r>
              <a:rPr lang="en-US" sz="1200" b="1">
                <a:solidFill>
                  <a:schemeClr val="tx2">
                    <a:lumMod val="60000"/>
                    <a:lumOff val="40000"/>
                  </a:schemeClr>
                </a:solidFill>
                <a:latin typeface="Adobe Garamond Pro"/>
              </a:rPr>
              <a:t>Host Device</a:t>
            </a:r>
            <a:r>
              <a:rPr lang="en-US" sz="1200" b="0">
                <a:solidFill>
                  <a:schemeClr val="tx2">
                    <a:lumMod val="60000"/>
                    <a:lumOff val="40000"/>
                  </a:schemeClr>
                </a:solidFill>
                <a:latin typeface="Adobe Garamond Pro"/>
              </a:rPr>
              <a:t>, which the attacker is operating.</a:t>
            </a:r>
          </a:p>
          <a:p>
            <a:endParaRPr lang="en-US" sz="1200" b="0">
              <a:solidFill>
                <a:schemeClr val="tx2">
                  <a:lumMod val="60000"/>
                  <a:lumOff val="40000"/>
                </a:schemeClr>
              </a:solidFill>
              <a:latin typeface="Adobe Garamond Pro"/>
            </a:endParaRPr>
          </a:p>
          <a:p>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C096C81D-CB2E-531B-FB9F-3155FE65F71B}"/>
              </a:ext>
            </a:extLst>
          </p:cNvPr>
          <p:cNvSpPr>
            <a:spLocks noGrp="1"/>
          </p:cNvSpPr>
          <p:nvPr>
            <p:ph type="sldNum" sz="quarter" idx="5"/>
          </p:nvPr>
        </p:nvSpPr>
        <p:spPr/>
        <p:txBody>
          <a:bodyPr/>
          <a:lstStyle/>
          <a:p>
            <a:fld id="{89138C4E-EB6C-084B-938C-D73001D99940}" type="slidenum">
              <a:rPr lang="en-US" smtClean="0"/>
              <a:t>20</a:t>
            </a:fld>
            <a:endParaRPr lang="en-US"/>
          </a:p>
        </p:txBody>
      </p:sp>
    </p:spTree>
    <p:extLst>
      <p:ext uri="{BB962C8B-B14F-4D97-AF65-F5344CB8AC3E}">
        <p14:creationId xmlns:p14="http://schemas.microsoft.com/office/powerpoint/2010/main" val="28993282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2B67C-34CF-A54A-1920-A67B8CC0A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C8AA6-C9AC-820F-283B-C90B53595F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626B76-F7E6-8F16-C1F3-CF0C76CD3883}"/>
              </a:ext>
            </a:extLst>
          </p:cNvPr>
          <p:cNvSpPr>
            <a:spLocks noGrp="1"/>
          </p:cNvSpPr>
          <p:nvPr>
            <p:ph type="body" idx="1"/>
          </p:nvPr>
        </p:nvSpPr>
        <p:spPr/>
        <p:txBody>
          <a:bodyPr/>
          <a:lstStyle/>
          <a:p>
            <a:r>
              <a:rPr lang="en-US" sz="1200">
                <a:solidFill>
                  <a:schemeClr val="tx2">
                    <a:lumMod val="60000"/>
                    <a:lumOff val="40000"/>
                  </a:schemeClr>
                </a:solidFill>
                <a:latin typeface="Adobe Garamond Pro"/>
              </a:rPr>
              <a:t>By modifying this set-up a bit, we can resolve this. We start by moving the keylogger script to the DMA device, flashing it onto the board.</a:t>
            </a:r>
            <a:endParaRPr lang="en-US" sz="1200" b="0">
              <a:solidFill>
                <a:schemeClr val="tx2">
                  <a:lumMod val="60000"/>
                  <a:lumOff val="40000"/>
                </a:schemeClr>
              </a:solidFill>
              <a:latin typeface="Adobe Garamond Pro"/>
            </a:endParaRPr>
          </a:p>
          <a:p>
            <a:endParaRPr lang="en-US" sz="1200" b="0">
              <a:solidFill>
                <a:schemeClr val="tx2">
                  <a:lumMod val="60000"/>
                  <a:lumOff val="40000"/>
                </a:schemeClr>
              </a:solidFill>
              <a:latin typeface="Adobe Garamond Pro"/>
            </a:endParaRPr>
          </a:p>
          <a:p>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A801F005-1ECC-D97F-647B-8BC4151240D1}"/>
              </a:ext>
            </a:extLst>
          </p:cNvPr>
          <p:cNvSpPr>
            <a:spLocks noGrp="1"/>
          </p:cNvSpPr>
          <p:nvPr>
            <p:ph type="sldNum" sz="quarter" idx="5"/>
          </p:nvPr>
        </p:nvSpPr>
        <p:spPr/>
        <p:txBody>
          <a:bodyPr/>
          <a:lstStyle/>
          <a:p>
            <a:fld id="{89138C4E-EB6C-084B-938C-D73001D99940}" type="slidenum">
              <a:rPr lang="en-US" smtClean="0"/>
              <a:t>21</a:t>
            </a:fld>
            <a:endParaRPr lang="en-US"/>
          </a:p>
        </p:txBody>
      </p:sp>
    </p:spTree>
    <p:extLst>
      <p:ext uri="{BB962C8B-B14F-4D97-AF65-F5344CB8AC3E}">
        <p14:creationId xmlns:p14="http://schemas.microsoft.com/office/powerpoint/2010/main" val="19737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E6C97-2BC6-9673-2454-91C9FAB09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0B20C-D050-55C4-24C4-DA018ED7F1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E2F126-C2D0-B521-692A-049EDAAECB99}"/>
              </a:ext>
            </a:extLst>
          </p:cNvPr>
          <p:cNvSpPr>
            <a:spLocks noGrp="1"/>
          </p:cNvSpPr>
          <p:nvPr>
            <p:ph type="body" idx="1"/>
          </p:nvPr>
        </p:nvSpPr>
        <p:spPr/>
        <p:txBody>
          <a:bodyPr/>
          <a:lstStyle/>
          <a:p>
            <a:r>
              <a:rPr lang="en-US" sz="1200">
                <a:solidFill>
                  <a:schemeClr val="tx2">
                    <a:lumMod val="60000"/>
                    <a:lumOff val="40000"/>
                  </a:schemeClr>
                </a:solidFill>
                <a:latin typeface="Adobe Garamond Pro"/>
              </a:rPr>
              <a:t>Next, we host a webserver from the host-device, allowing data to be received. The keylogger script now uses the curl command to send POST requests to the web server so that it may be accessed remotely.</a:t>
            </a:r>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B46892D0-6040-0D09-1E6C-5FA3C660A74A}"/>
              </a:ext>
            </a:extLst>
          </p:cNvPr>
          <p:cNvSpPr>
            <a:spLocks noGrp="1"/>
          </p:cNvSpPr>
          <p:nvPr>
            <p:ph type="sldNum" sz="quarter" idx="5"/>
          </p:nvPr>
        </p:nvSpPr>
        <p:spPr/>
        <p:txBody>
          <a:bodyPr/>
          <a:lstStyle/>
          <a:p>
            <a:fld id="{89138C4E-EB6C-084B-938C-D73001D99940}" type="slidenum">
              <a:rPr lang="en-US" smtClean="0"/>
              <a:t>22</a:t>
            </a:fld>
            <a:endParaRPr lang="en-US"/>
          </a:p>
        </p:txBody>
      </p:sp>
    </p:spTree>
    <p:extLst>
      <p:ext uri="{BB962C8B-B14F-4D97-AF65-F5344CB8AC3E}">
        <p14:creationId xmlns:p14="http://schemas.microsoft.com/office/powerpoint/2010/main" val="16732402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701B1-86C2-FF16-2806-252BD499D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BD875-CA79-EAF7-2FD8-46ACACA6B5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FAAEC3-AA30-2D7E-B277-1A7CCD3D0F2D}"/>
              </a:ext>
            </a:extLst>
          </p:cNvPr>
          <p:cNvSpPr>
            <a:spLocks noGrp="1"/>
          </p:cNvSpPr>
          <p:nvPr>
            <p:ph type="body" idx="1"/>
          </p:nvPr>
        </p:nvSpPr>
        <p:spPr/>
        <p:txBody>
          <a:bodyPr/>
          <a:lstStyle/>
          <a:p>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D30B4824-30F1-A5F9-4D77-CFE6988A3EAE}"/>
              </a:ext>
            </a:extLst>
          </p:cNvPr>
          <p:cNvSpPr>
            <a:spLocks noGrp="1"/>
          </p:cNvSpPr>
          <p:nvPr>
            <p:ph type="sldNum" sz="quarter" idx="5"/>
          </p:nvPr>
        </p:nvSpPr>
        <p:spPr/>
        <p:txBody>
          <a:bodyPr/>
          <a:lstStyle/>
          <a:p>
            <a:fld id="{89138C4E-EB6C-084B-938C-D73001D99940}" type="slidenum">
              <a:rPr lang="en-US" smtClean="0"/>
              <a:t>23</a:t>
            </a:fld>
            <a:endParaRPr lang="en-US"/>
          </a:p>
        </p:txBody>
      </p:sp>
    </p:spTree>
    <p:extLst>
      <p:ext uri="{BB962C8B-B14F-4D97-AF65-F5344CB8AC3E}">
        <p14:creationId xmlns:p14="http://schemas.microsoft.com/office/powerpoint/2010/main" val="3653726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5B06-1E4C-FF29-6FAA-45F6EEFC5E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B6068-6F6C-C26A-4200-133F1E6D17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5FB6AF-8A69-1DE0-2BCE-9B070E1ED4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E169CD-FF04-83C8-68EF-9D55E937DD39}"/>
              </a:ext>
            </a:extLst>
          </p:cNvPr>
          <p:cNvSpPr>
            <a:spLocks noGrp="1"/>
          </p:cNvSpPr>
          <p:nvPr>
            <p:ph type="sldNum" sz="quarter" idx="5"/>
          </p:nvPr>
        </p:nvSpPr>
        <p:spPr/>
        <p:txBody>
          <a:bodyPr/>
          <a:lstStyle/>
          <a:p>
            <a:fld id="{89138C4E-EB6C-084B-938C-D73001D99940}" type="slidenum">
              <a:rPr lang="en-US" smtClean="0"/>
              <a:t>24</a:t>
            </a:fld>
            <a:endParaRPr lang="en-US"/>
          </a:p>
        </p:txBody>
      </p:sp>
    </p:spTree>
    <p:extLst>
      <p:ext uri="{BB962C8B-B14F-4D97-AF65-F5344CB8AC3E}">
        <p14:creationId xmlns:p14="http://schemas.microsoft.com/office/powerpoint/2010/main" val="2081429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8BFD8-024E-02A0-220D-1EA1B9CFC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197EA-E9BA-D824-D6B7-3F4EF4A044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7976AC-6DEF-CFEA-65A6-42E7930812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As a result of this set-up, we now have a </a:t>
            </a:r>
            <a:r>
              <a:rPr lang="en-US" sz="1200" b="1">
                <a:solidFill>
                  <a:schemeClr val="tx2">
                    <a:lumMod val="60000"/>
                    <a:lumOff val="40000"/>
                  </a:schemeClr>
                </a:solidFill>
                <a:latin typeface="Adobe Garamond Pro"/>
              </a:rPr>
              <a:t>DMA device</a:t>
            </a:r>
            <a:r>
              <a:rPr lang="en-US" sz="1200">
                <a:solidFill>
                  <a:schemeClr val="tx2">
                    <a:lumMod val="60000"/>
                    <a:lumOff val="40000"/>
                  </a:schemeClr>
                </a:solidFill>
                <a:latin typeface="Adobe Garamond Pro"/>
              </a:rPr>
              <a:t> plugged into the computer that monitors all key-presses and sends data back to the </a:t>
            </a:r>
            <a:r>
              <a:rPr lang="en-US" sz="1200" b="1">
                <a:solidFill>
                  <a:schemeClr val="tx2">
                    <a:lumMod val="60000"/>
                    <a:lumOff val="40000"/>
                  </a:schemeClr>
                </a:solidFill>
                <a:latin typeface="Adobe Garamond Pro"/>
              </a:rPr>
              <a:t>host’s webserver</a:t>
            </a:r>
            <a:r>
              <a:rPr lang="en-US" sz="1200" b="0">
                <a:solidFill>
                  <a:schemeClr val="tx2">
                    <a:lumMod val="60000"/>
                    <a:lumOff val="40000"/>
                  </a:schemeClr>
                </a:solidFill>
                <a:latin typeface="Adobe Garamond Pro"/>
              </a:rPr>
              <a:t>.</a:t>
            </a:r>
          </a:p>
        </p:txBody>
      </p:sp>
      <p:sp>
        <p:nvSpPr>
          <p:cNvPr id="4" name="Slide Number Placeholder 3">
            <a:extLst>
              <a:ext uri="{FF2B5EF4-FFF2-40B4-BE49-F238E27FC236}">
                <a16:creationId xmlns:a16="http://schemas.microsoft.com/office/drawing/2014/main" id="{E8087B88-53EA-3EFC-185A-17938A627FC6}"/>
              </a:ext>
            </a:extLst>
          </p:cNvPr>
          <p:cNvSpPr>
            <a:spLocks noGrp="1"/>
          </p:cNvSpPr>
          <p:nvPr>
            <p:ph type="sldNum" sz="quarter" idx="5"/>
          </p:nvPr>
        </p:nvSpPr>
        <p:spPr/>
        <p:txBody>
          <a:bodyPr/>
          <a:lstStyle/>
          <a:p>
            <a:fld id="{89138C4E-EB6C-084B-938C-D73001D99940}" type="slidenum">
              <a:rPr lang="en-US" smtClean="0"/>
              <a:t>25</a:t>
            </a:fld>
            <a:endParaRPr lang="en-US"/>
          </a:p>
        </p:txBody>
      </p:sp>
    </p:spTree>
    <p:extLst>
      <p:ext uri="{BB962C8B-B14F-4D97-AF65-F5344CB8AC3E}">
        <p14:creationId xmlns:p14="http://schemas.microsoft.com/office/powerpoint/2010/main" val="24134984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7A2E-5DEC-E7D4-E1A4-E94E7EE36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086F4-F572-BBE4-B01D-FD775FF63E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E497A7-F98C-B075-5FB1-C4F7772147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2">
                    <a:lumMod val="60000"/>
                    <a:lumOff val="40000"/>
                  </a:schemeClr>
                </a:solidFill>
                <a:latin typeface="Adobe Garamond Pro"/>
              </a:rPr>
              <a:t>This is very similar to how the typical </a:t>
            </a:r>
            <a:r>
              <a:rPr lang="en-US" sz="1200" b="1">
                <a:solidFill>
                  <a:schemeClr val="tx2">
                    <a:lumMod val="60000"/>
                    <a:lumOff val="40000"/>
                  </a:schemeClr>
                </a:solidFill>
                <a:latin typeface="Adobe Garamond Pro"/>
              </a:rPr>
              <a:t>software-based</a:t>
            </a:r>
            <a:r>
              <a:rPr lang="en-US" sz="1200" b="0">
                <a:solidFill>
                  <a:schemeClr val="tx2">
                    <a:lumMod val="60000"/>
                    <a:lumOff val="40000"/>
                  </a:schemeClr>
                </a:solidFill>
                <a:latin typeface="Adobe Garamond Pro"/>
              </a:rPr>
              <a:t> keylogger works, with the advantage that no program needs to be run on the </a:t>
            </a:r>
            <a:r>
              <a:rPr lang="en-US" sz="1200" b="1">
                <a:solidFill>
                  <a:schemeClr val="tx2">
                    <a:lumMod val="60000"/>
                    <a:lumOff val="40000"/>
                  </a:schemeClr>
                </a:solidFill>
                <a:latin typeface="Adobe Garamond Pro"/>
              </a:rPr>
              <a:t>target device</a:t>
            </a:r>
            <a:r>
              <a:rPr lang="en-US" sz="1200" b="0">
                <a:solidFill>
                  <a:schemeClr val="tx2">
                    <a:lumMod val="60000"/>
                    <a:lumOff val="40000"/>
                  </a:schemeClr>
                </a:solidFill>
                <a:latin typeface="Adobe Garamond Pro"/>
              </a:rPr>
              <a:t>, meaning it is undetectable by anti-virus programs.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2">
                    <a:lumMod val="60000"/>
                    <a:lumOff val="40000"/>
                  </a:schemeClr>
                </a:solidFill>
                <a:latin typeface="Adobe Garamond Pro"/>
              </a:rPr>
              <a:t>However, there does need to be a physical attachment to the device.. So It can just be unplugged, right?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b="0">
                <a:solidFill>
                  <a:schemeClr val="tx2">
                    <a:lumMod val="60000"/>
                    <a:lumOff val="40000"/>
                  </a:schemeClr>
                </a:solidFill>
                <a:latin typeface="Adobe Garamond Pro"/>
              </a:rPr>
            </a:br>
            <a:r>
              <a:rPr lang="en-US" sz="1200" b="0">
                <a:solidFill>
                  <a:schemeClr val="tx2">
                    <a:lumMod val="60000"/>
                    <a:lumOff val="40000"/>
                  </a:schemeClr>
                </a:solidFill>
                <a:latin typeface="Adobe Garamond Pro"/>
              </a:rPr>
              <a:t>Theoretically, yes, but boards similar to this can be exploited and disguised. What if the DMA attack is disguised as a keyboard or mouse someone hands you to plug in? What if it’s a USB stick? Were you aware that this kind of attack was possible?</a:t>
            </a:r>
          </a:p>
        </p:txBody>
      </p:sp>
      <p:sp>
        <p:nvSpPr>
          <p:cNvPr id="4" name="Slide Number Placeholder 3">
            <a:extLst>
              <a:ext uri="{FF2B5EF4-FFF2-40B4-BE49-F238E27FC236}">
                <a16:creationId xmlns:a16="http://schemas.microsoft.com/office/drawing/2014/main" id="{B60001CF-9638-8B47-6E18-C5050DD1A957}"/>
              </a:ext>
            </a:extLst>
          </p:cNvPr>
          <p:cNvSpPr>
            <a:spLocks noGrp="1"/>
          </p:cNvSpPr>
          <p:nvPr>
            <p:ph type="sldNum" sz="quarter" idx="5"/>
          </p:nvPr>
        </p:nvSpPr>
        <p:spPr/>
        <p:txBody>
          <a:bodyPr/>
          <a:lstStyle/>
          <a:p>
            <a:fld id="{89138C4E-EB6C-084B-938C-D73001D99940}" type="slidenum">
              <a:rPr lang="en-US" smtClean="0"/>
              <a:t>26</a:t>
            </a:fld>
            <a:endParaRPr lang="en-US"/>
          </a:p>
        </p:txBody>
      </p:sp>
    </p:spTree>
    <p:extLst>
      <p:ext uri="{BB962C8B-B14F-4D97-AF65-F5344CB8AC3E}">
        <p14:creationId xmlns:p14="http://schemas.microsoft.com/office/powerpoint/2010/main" val="2115242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0BEB0-D031-ABA3-16AA-A4D00AF64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2CB28-62E2-1D37-E82D-EA2B77AF30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37DBB91-3644-99F4-E348-EE9895D63263}"/>
              </a:ext>
            </a:extLst>
          </p:cNvPr>
          <p:cNvSpPr>
            <a:spLocks noGrp="1"/>
          </p:cNvSpPr>
          <p:nvPr>
            <p:ph type="body" idx="1"/>
          </p:nvPr>
        </p:nvSpPr>
        <p:spPr/>
        <p:txBody>
          <a:bodyPr/>
          <a:lstStyle/>
          <a:p>
            <a:r>
              <a:rPr lang="en-US" sz="1200">
                <a:solidFill>
                  <a:schemeClr val="tx2">
                    <a:lumMod val="60000"/>
                    <a:lumOff val="40000"/>
                  </a:schemeClr>
                </a:solidFill>
                <a:latin typeface="Adobe Garamond Pro"/>
              </a:rPr>
              <a:t>Thankfully, only </a:t>
            </a:r>
            <a:r>
              <a:rPr lang="en-US" sz="1200" b="1">
                <a:solidFill>
                  <a:schemeClr val="tx2">
                    <a:lumMod val="60000"/>
                    <a:lumOff val="40000"/>
                  </a:schemeClr>
                </a:solidFill>
                <a:latin typeface="Adobe Garamond Pro"/>
              </a:rPr>
              <a:t>Thunderbolt 3 </a:t>
            </a:r>
            <a:r>
              <a:rPr lang="en-US" sz="1200">
                <a:solidFill>
                  <a:schemeClr val="tx2">
                    <a:lumMod val="60000"/>
                    <a:lumOff val="40000"/>
                  </a:schemeClr>
                </a:solidFill>
                <a:latin typeface="Adobe Garamond Pro"/>
              </a:rPr>
              <a:t>ports are vulnerable to DMA attacks since they can carry PCI Express.</a:t>
            </a:r>
          </a:p>
          <a:p>
            <a:endParaRPr lang="en-US" sz="1200">
              <a:solidFill>
                <a:schemeClr val="tx2">
                  <a:lumMod val="60000"/>
                  <a:lumOff val="40000"/>
                </a:schemeClr>
              </a:solidFill>
              <a:latin typeface="Adobe Garamond 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Additionally, </a:t>
            </a:r>
            <a:r>
              <a:rPr lang="en-US" sz="1200" b="0">
                <a:solidFill>
                  <a:schemeClr val="tx2">
                    <a:lumMod val="60000"/>
                    <a:lumOff val="40000"/>
                  </a:schemeClr>
                </a:solidFill>
                <a:latin typeface="Adobe Garamond Pro"/>
              </a:rPr>
              <a:t>According to </a:t>
            </a:r>
            <a:r>
              <a:rPr lang="en-US" sz="1200" b="0" err="1">
                <a:solidFill>
                  <a:schemeClr val="tx2">
                    <a:lumMod val="60000"/>
                    <a:lumOff val="40000"/>
                  </a:schemeClr>
                </a:solidFill>
                <a:latin typeface="Adobe Garamond Pro"/>
              </a:rPr>
              <a:t>Stigviewer</a:t>
            </a:r>
            <a:r>
              <a:rPr lang="en-US" sz="1200" b="0">
                <a:solidFill>
                  <a:schemeClr val="tx2">
                    <a:lumMod val="60000"/>
                    <a:lumOff val="40000"/>
                  </a:schemeClr>
                </a:solidFill>
                <a:latin typeface="Adobe Garamond Pro"/>
              </a:rPr>
              <a:t>, </a:t>
            </a:r>
            <a:r>
              <a:rPr lang="en-US" sz="1200" b="1">
                <a:solidFill>
                  <a:schemeClr val="tx2">
                    <a:lumMod val="60000"/>
                    <a:lumOff val="40000"/>
                  </a:schemeClr>
                </a:solidFill>
                <a:latin typeface="Adobe Garamond Pro"/>
              </a:rPr>
              <a:t>Windows 10 version 1803 </a:t>
            </a:r>
            <a:r>
              <a:rPr lang="en-US" sz="1200" b="0">
                <a:solidFill>
                  <a:schemeClr val="tx2">
                    <a:lumMod val="60000"/>
                    <a:lumOff val="40000"/>
                  </a:schemeClr>
                </a:solidFill>
                <a:latin typeface="Adobe Garamond Pro"/>
              </a:rPr>
              <a:t>devices and above now come configured to have a higher security level for </a:t>
            </a:r>
            <a:r>
              <a:rPr lang="en-US" sz="1200" b="1">
                <a:solidFill>
                  <a:schemeClr val="tx2">
                    <a:lumMod val="60000"/>
                    <a:lumOff val="40000"/>
                  </a:schemeClr>
                </a:solidFill>
                <a:latin typeface="Adobe Garamond Pro"/>
              </a:rPr>
              <a:t>Thunderbolt </a:t>
            </a:r>
            <a:r>
              <a:rPr lang="en-US" sz="1200" b="0">
                <a:solidFill>
                  <a:schemeClr val="tx2">
                    <a:lumMod val="60000"/>
                    <a:lumOff val="40000"/>
                  </a:schemeClr>
                </a:solidFill>
                <a:latin typeface="Adobe Garamond Pro"/>
              </a:rPr>
              <a:t>ports, thus limiting </a:t>
            </a:r>
            <a:r>
              <a:rPr lang="en-US" sz="1200" b="1">
                <a:solidFill>
                  <a:schemeClr val="tx2">
                    <a:lumMod val="60000"/>
                    <a:lumOff val="40000"/>
                  </a:schemeClr>
                </a:solidFill>
                <a:latin typeface="Adobe Garamond Pro"/>
              </a:rPr>
              <a:t>DMA Attacks</a:t>
            </a:r>
            <a:r>
              <a:rPr lang="en-US" sz="1200" b="0">
                <a:solidFill>
                  <a:schemeClr val="tx2">
                    <a:lumMod val="60000"/>
                    <a:lumOff val="40000"/>
                  </a:schemeClr>
                </a:solidFill>
                <a:latin typeface="Adobe Garamond Pro"/>
              </a:rPr>
              <a:t>.</a:t>
            </a:r>
          </a:p>
          <a:p>
            <a:r>
              <a:rPr lang="en-US" sz="1200" b="0">
                <a:solidFill>
                  <a:schemeClr val="tx2">
                    <a:lumMod val="60000"/>
                    <a:lumOff val="40000"/>
                  </a:schemeClr>
                </a:solidFill>
                <a:latin typeface="Adobe Garamond Pro"/>
              </a:rPr>
              <a:t>But, this means that computers that were released before </a:t>
            </a:r>
            <a:r>
              <a:rPr lang="en-US" sz="1200" b="1">
                <a:solidFill>
                  <a:schemeClr val="tx2">
                    <a:lumMod val="60000"/>
                    <a:lumOff val="40000"/>
                  </a:schemeClr>
                </a:solidFill>
                <a:latin typeface="Adobe Garamond Pro"/>
              </a:rPr>
              <a:t>Windows 10 Version 1803 </a:t>
            </a:r>
            <a:r>
              <a:rPr lang="en-US" sz="1200" b="0">
                <a:solidFill>
                  <a:schemeClr val="tx2">
                    <a:lumMod val="60000"/>
                    <a:lumOff val="40000"/>
                  </a:schemeClr>
                </a:solidFill>
                <a:latin typeface="Adobe Garamond Pro"/>
              </a:rPr>
              <a:t>became the standard- even if they are upgraded to said version, are inherently vulnerable to DMA attacks due to insufficient hardware requirements.</a:t>
            </a:r>
          </a:p>
          <a:p>
            <a:endParaRPr lang="en-US" sz="1200" b="0">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https://www.stigviewer.com/stigs/microsoft_windows_10/2025-02-25/finding/V-220902</a:t>
            </a:r>
          </a:p>
        </p:txBody>
      </p:sp>
      <p:sp>
        <p:nvSpPr>
          <p:cNvPr id="4" name="Slide Number Placeholder 3">
            <a:extLst>
              <a:ext uri="{FF2B5EF4-FFF2-40B4-BE49-F238E27FC236}">
                <a16:creationId xmlns:a16="http://schemas.microsoft.com/office/drawing/2014/main" id="{FB1E0F5E-E2BF-0623-E752-B14E1A007E22}"/>
              </a:ext>
            </a:extLst>
          </p:cNvPr>
          <p:cNvSpPr>
            <a:spLocks noGrp="1"/>
          </p:cNvSpPr>
          <p:nvPr>
            <p:ph type="sldNum" sz="quarter" idx="5"/>
          </p:nvPr>
        </p:nvSpPr>
        <p:spPr/>
        <p:txBody>
          <a:bodyPr/>
          <a:lstStyle/>
          <a:p>
            <a:fld id="{89138C4E-EB6C-084B-938C-D73001D99940}" type="slidenum">
              <a:rPr lang="en-US" smtClean="0"/>
              <a:t>27</a:t>
            </a:fld>
            <a:endParaRPr lang="en-US"/>
          </a:p>
        </p:txBody>
      </p:sp>
    </p:spTree>
    <p:extLst>
      <p:ext uri="{BB962C8B-B14F-4D97-AF65-F5344CB8AC3E}">
        <p14:creationId xmlns:p14="http://schemas.microsoft.com/office/powerpoint/2010/main" val="9820244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4EC2D-9634-9879-878D-8AFB712474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A860F-466D-4995-FEE5-FFA0D8BB63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BB0A81-E21F-E473-C661-FDBCE9BC879E}"/>
              </a:ext>
            </a:extLst>
          </p:cNvPr>
          <p:cNvSpPr>
            <a:spLocks noGrp="1"/>
          </p:cNvSpPr>
          <p:nvPr>
            <p:ph type="body" idx="1"/>
          </p:nvPr>
        </p:nvSpPr>
        <p:spPr/>
        <p:txBody>
          <a:bodyPr/>
          <a:lstStyle/>
          <a:p>
            <a:r>
              <a:rPr lang="en-US" sz="1200">
                <a:solidFill>
                  <a:schemeClr val="tx2">
                    <a:lumMod val="60000"/>
                    <a:lumOff val="40000"/>
                  </a:schemeClr>
                </a:solidFill>
                <a:latin typeface="Adobe Garamond Pro"/>
              </a:rPr>
              <a:t>The </a:t>
            </a:r>
            <a:r>
              <a:rPr lang="en-US" sz="1200" b="1">
                <a:solidFill>
                  <a:schemeClr val="tx2">
                    <a:lumMod val="60000"/>
                    <a:lumOff val="40000"/>
                  </a:schemeClr>
                </a:solidFill>
                <a:latin typeface="Adobe Garamond Pro"/>
              </a:rPr>
              <a:t>statcounter </a:t>
            </a:r>
            <a:r>
              <a:rPr lang="en-US" sz="1200" b="0">
                <a:solidFill>
                  <a:schemeClr val="tx2">
                    <a:lumMod val="60000"/>
                    <a:lumOff val="40000"/>
                  </a:schemeClr>
                </a:solidFill>
                <a:latin typeface="Adobe Garamond Pro"/>
              </a:rPr>
              <a:t>website states that in March 2026, about 2% of all Windows devices are still running </a:t>
            </a:r>
            <a:r>
              <a:rPr lang="en-US" sz="1200" b="1">
                <a:solidFill>
                  <a:schemeClr val="tx2">
                    <a:lumMod val="60000"/>
                    <a:lumOff val="40000"/>
                  </a:schemeClr>
                </a:solidFill>
                <a:latin typeface="Adobe Garamond Pro"/>
              </a:rPr>
              <a:t>Windows 7</a:t>
            </a:r>
            <a:r>
              <a:rPr lang="en-US" sz="1200" b="0">
                <a:solidFill>
                  <a:schemeClr val="tx2">
                    <a:lumMod val="60000"/>
                    <a:lumOff val="40000"/>
                  </a:schemeClr>
                </a:solidFill>
                <a:latin typeface="Adobe Garamond Pro"/>
              </a:rPr>
              <a:t> or below. This statistic doesn’t even factor in devices that simply upgraded to </a:t>
            </a:r>
            <a:r>
              <a:rPr lang="en-US" sz="1200" b="1">
                <a:solidFill>
                  <a:schemeClr val="tx2">
                    <a:lumMod val="60000"/>
                    <a:lumOff val="40000"/>
                  </a:schemeClr>
                </a:solidFill>
                <a:latin typeface="Adobe Garamond Pro"/>
              </a:rPr>
              <a:t>Windows 10</a:t>
            </a:r>
            <a:r>
              <a:rPr lang="en-US" sz="1200" b="0">
                <a:solidFill>
                  <a:schemeClr val="tx2">
                    <a:lumMod val="60000"/>
                    <a:lumOff val="40000"/>
                  </a:schemeClr>
                </a:solidFill>
                <a:latin typeface="Adobe Garamond Pro"/>
              </a:rPr>
              <a:t>, but were purchased before the </a:t>
            </a:r>
            <a:r>
              <a:rPr lang="en-US" sz="1200" b="1">
                <a:solidFill>
                  <a:schemeClr val="tx2">
                    <a:lumMod val="60000"/>
                    <a:lumOff val="40000"/>
                  </a:schemeClr>
                </a:solidFill>
                <a:latin typeface="Adobe Garamond Pro"/>
              </a:rPr>
              <a:t>Windows 10 Version 1803</a:t>
            </a:r>
            <a:r>
              <a:rPr lang="en-US" sz="1200" b="0">
                <a:solidFill>
                  <a:schemeClr val="tx2">
                    <a:lumMod val="60000"/>
                    <a:lumOff val="40000"/>
                  </a:schemeClr>
                </a:solidFill>
                <a:latin typeface="Adobe Garamond Pro"/>
              </a:rPr>
              <a:t> update.</a:t>
            </a:r>
          </a:p>
          <a:p>
            <a:endParaRPr lang="en-US" sz="1200" b="0">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How many of these devices are owned by large companies or even the </a:t>
            </a:r>
            <a:r>
              <a:rPr lang="en-US" sz="1200" b="1">
                <a:solidFill>
                  <a:schemeClr val="tx2">
                    <a:lumMod val="60000"/>
                    <a:lumOff val="40000"/>
                  </a:schemeClr>
                </a:solidFill>
                <a:latin typeface="Adobe Garamond Pro"/>
              </a:rPr>
              <a:t>U.S. government?</a:t>
            </a:r>
            <a:endParaRPr lang="en-US" sz="120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214F1E30-1E1A-4328-D257-8CC921039CA8}"/>
              </a:ext>
            </a:extLst>
          </p:cNvPr>
          <p:cNvSpPr>
            <a:spLocks noGrp="1"/>
          </p:cNvSpPr>
          <p:nvPr>
            <p:ph type="sldNum" sz="quarter" idx="5"/>
          </p:nvPr>
        </p:nvSpPr>
        <p:spPr/>
        <p:txBody>
          <a:bodyPr/>
          <a:lstStyle/>
          <a:p>
            <a:fld id="{89138C4E-EB6C-084B-938C-D73001D99940}" type="slidenum">
              <a:rPr lang="en-US" smtClean="0"/>
              <a:t>28</a:t>
            </a:fld>
            <a:endParaRPr lang="en-US"/>
          </a:p>
        </p:txBody>
      </p:sp>
    </p:spTree>
    <p:extLst>
      <p:ext uri="{BB962C8B-B14F-4D97-AF65-F5344CB8AC3E}">
        <p14:creationId xmlns:p14="http://schemas.microsoft.com/office/powerpoint/2010/main" val="15270297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01295-344C-230A-F76C-317B5A4DE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9D9C7-1928-C652-B746-7E90C1C0B0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2204D3-9F4A-2D05-AC03-2E6E739483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881143-6B77-1E22-CFE9-1CB9EE562B84}"/>
              </a:ext>
            </a:extLst>
          </p:cNvPr>
          <p:cNvSpPr>
            <a:spLocks noGrp="1"/>
          </p:cNvSpPr>
          <p:nvPr>
            <p:ph type="sldNum" sz="quarter" idx="5"/>
          </p:nvPr>
        </p:nvSpPr>
        <p:spPr/>
        <p:txBody>
          <a:bodyPr/>
          <a:lstStyle/>
          <a:p>
            <a:fld id="{89138C4E-EB6C-084B-938C-D73001D99940}" type="slidenum">
              <a:rPr lang="en-US" smtClean="0"/>
              <a:t>29</a:t>
            </a:fld>
            <a:endParaRPr lang="en-US"/>
          </a:p>
        </p:txBody>
      </p:sp>
    </p:spTree>
    <p:extLst>
      <p:ext uri="{BB962C8B-B14F-4D97-AF65-F5344CB8AC3E}">
        <p14:creationId xmlns:p14="http://schemas.microsoft.com/office/powerpoint/2010/main" val="12930679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A26D5-4CC3-CB0D-C2BB-A74B3511D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6CDF5-F5A2-DB06-362C-92D90375B4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3A94E4-5C2F-CD38-4A40-D9780F3E19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2">
                    <a:lumMod val="60000"/>
                    <a:lumOff val="40000"/>
                  </a:schemeClr>
                </a:solidFill>
                <a:latin typeface="Adobe Garamond Pro"/>
              </a:rPr>
              <a:t>If you weren’t already– I hope this presentation made you aware of the </a:t>
            </a:r>
            <a:r>
              <a:rPr lang="en-US" sz="1200" b="1">
                <a:solidFill>
                  <a:schemeClr val="tx2">
                    <a:lumMod val="60000"/>
                    <a:lumOff val="40000"/>
                  </a:schemeClr>
                </a:solidFill>
                <a:latin typeface="Adobe Garamond Pro"/>
              </a:rPr>
              <a:t>dangers</a:t>
            </a:r>
            <a:r>
              <a:rPr lang="en-US" sz="1200">
                <a:solidFill>
                  <a:schemeClr val="tx2">
                    <a:lumMod val="60000"/>
                    <a:lumOff val="40000"/>
                  </a:schemeClr>
                </a:solidFill>
                <a:latin typeface="Adobe Garamond Pro"/>
              </a:rPr>
              <a:t> of </a:t>
            </a:r>
            <a:r>
              <a:rPr lang="en-US" sz="1200" b="1">
                <a:solidFill>
                  <a:schemeClr val="tx2">
                    <a:lumMod val="60000"/>
                    <a:lumOff val="40000"/>
                  </a:schemeClr>
                </a:solidFill>
                <a:latin typeface="Adobe Garamond Pro"/>
              </a:rPr>
              <a:t>DMA Attacks</a:t>
            </a:r>
            <a:r>
              <a:rPr lang="en-US" sz="1200">
                <a:solidFill>
                  <a:schemeClr val="tx2">
                    <a:lumMod val="60000"/>
                    <a:lumOff val="40000"/>
                  </a:schemeClr>
                </a:solidFill>
                <a:latin typeface="Adobe Garamond Pro"/>
              </a:rPr>
              <a:t>.</a:t>
            </a:r>
          </a:p>
          <a:p>
            <a:endParaRPr lang="en-US" sz="1200" b="1">
              <a:solidFill>
                <a:schemeClr val="tx2">
                  <a:lumMod val="60000"/>
                  <a:lumOff val="40000"/>
                </a:schemeClr>
              </a:solidFill>
              <a:latin typeface="Adobe Garamond Pro"/>
            </a:endParaRPr>
          </a:p>
          <a:p>
            <a:r>
              <a:rPr lang="en-US" sz="1200" b="1">
                <a:solidFill>
                  <a:schemeClr val="tx2">
                    <a:lumMod val="60000"/>
                    <a:lumOff val="40000"/>
                  </a:schemeClr>
                </a:solidFill>
                <a:latin typeface="Adobe Garamond Pro"/>
              </a:rPr>
              <a:t>Now for our key take-aways…</a:t>
            </a:r>
            <a:br>
              <a:rPr lang="en-US" sz="1200" b="0">
                <a:solidFill>
                  <a:schemeClr val="tx2">
                    <a:lumMod val="60000"/>
                    <a:lumOff val="40000"/>
                  </a:schemeClr>
                </a:solidFill>
                <a:latin typeface="Adobe Garamond Pro"/>
              </a:rPr>
            </a:br>
            <a:r>
              <a:rPr lang="en-US" sz="1200" b="0">
                <a:solidFill>
                  <a:schemeClr val="tx2">
                    <a:lumMod val="60000"/>
                    <a:lumOff val="40000"/>
                  </a:schemeClr>
                </a:solidFill>
                <a:latin typeface="Adobe Garamond Pro"/>
              </a:rPr>
              <a:t>I’ve seen a lot of college students leave their computers unattended in public spaces to go get a snack or to go to the bathroom. Although I demonstrated a keylogger, other forms of malware such as a </a:t>
            </a:r>
            <a:r>
              <a:rPr lang="en-US" sz="1200" b="1">
                <a:solidFill>
                  <a:schemeClr val="tx2">
                    <a:lumMod val="60000"/>
                    <a:lumOff val="40000"/>
                  </a:schemeClr>
                </a:solidFill>
                <a:latin typeface="Adobe Garamond Pro"/>
              </a:rPr>
              <a:t>File-Dropper,</a:t>
            </a:r>
            <a:r>
              <a:rPr lang="en-US" sz="1200" b="0">
                <a:solidFill>
                  <a:schemeClr val="tx2">
                    <a:lumMod val="60000"/>
                    <a:lumOff val="40000"/>
                  </a:schemeClr>
                </a:solidFill>
                <a:latin typeface="Adobe Garamond Pro"/>
              </a:rPr>
              <a:t> which essentially downloads files from the internet can be replicated using this attack, potentially allowing threat actors to gain </a:t>
            </a:r>
            <a:r>
              <a:rPr lang="en-US" sz="1200" b="1">
                <a:solidFill>
                  <a:schemeClr val="tx2">
                    <a:lumMod val="60000"/>
                    <a:lumOff val="40000"/>
                  </a:schemeClr>
                </a:solidFill>
                <a:latin typeface="Adobe Garamond Pro"/>
              </a:rPr>
              <a:t>persistence</a:t>
            </a:r>
            <a:r>
              <a:rPr lang="en-US" sz="1200" b="0">
                <a:solidFill>
                  <a:schemeClr val="tx2">
                    <a:lumMod val="60000"/>
                    <a:lumOff val="40000"/>
                  </a:schemeClr>
                </a:solidFill>
                <a:latin typeface="Adobe Garamond Pro"/>
              </a:rPr>
              <a:t> over the device. Even if the device is password protected, DMA attacks can work even from the lock-screen.</a:t>
            </a:r>
          </a:p>
          <a:p>
            <a:endParaRPr lang="en-US" sz="1200" b="0">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In the case of </a:t>
            </a:r>
            <a:r>
              <a:rPr lang="en-US" sz="1200" b="1">
                <a:solidFill>
                  <a:schemeClr val="tx2">
                    <a:lumMod val="60000"/>
                    <a:lumOff val="40000"/>
                  </a:schemeClr>
                </a:solidFill>
                <a:latin typeface="Adobe Garamond Pro"/>
              </a:rPr>
              <a:t>DMA Attacks</a:t>
            </a:r>
            <a:r>
              <a:rPr lang="en-US" sz="1200" b="0">
                <a:solidFill>
                  <a:schemeClr val="tx2">
                    <a:lumMod val="60000"/>
                    <a:lumOff val="40000"/>
                  </a:schemeClr>
                </a:solidFill>
                <a:latin typeface="Adobe Garamond Pro"/>
              </a:rPr>
              <a:t>, vulnerable information such as passwords stored in </a:t>
            </a:r>
            <a:r>
              <a:rPr lang="en-US" sz="1200" b="1">
                <a:solidFill>
                  <a:schemeClr val="tx2">
                    <a:lumMod val="60000"/>
                    <a:lumOff val="40000"/>
                  </a:schemeClr>
                </a:solidFill>
                <a:latin typeface="Adobe Garamond Pro"/>
              </a:rPr>
              <a:t>Google Chrome</a:t>
            </a:r>
            <a:r>
              <a:rPr lang="en-US" sz="1200" b="0">
                <a:solidFill>
                  <a:schemeClr val="tx2">
                    <a:lumMod val="60000"/>
                    <a:lumOff val="40000"/>
                  </a:schemeClr>
                </a:solidFill>
                <a:latin typeface="Adobe Garamond Pro"/>
              </a:rPr>
              <a:t> can just be read directly and sent to the attacker.</a:t>
            </a:r>
          </a:p>
          <a:p>
            <a:endParaRPr lang="en-US" sz="1200" b="0">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Second.. </a:t>
            </a:r>
            <a:r>
              <a:rPr lang="en-US" sz="1200" b="1">
                <a:solidFill>
                  <a:schemeClr val="tx2">
                    <a:lumMod val="60000"/>
                    <a:lumOff val="40000"/>
                  </a:schemeClr>
                </a:solidFill>
                <a:latin typeface="Adobe Garamond Pro"/>
              </a:rPr>
              <a:t>PLEASE </a:t>
            </a:r>
            <a:r>
              <a:rPr lang="en-US" sz="1200" b="0">
                <a:solidFill>
                  <a:schemeClr val="tx2">
                    <a:lumMod val="60000"/>
                    <a:lumOff val="40000"/>
                  </a:schemeClr>
                </a:solidFill>
                <a:latin typeface="Adobe Garamond Pro"/>
              </a:rPr>
              <a:t>update your devices. Many companies use legacy hardware and software because it cuts down on costs to neglect updates, especially if that means already well-established code has to be changed. They justify this philosophy by saying stuff like: “If it </a:t>
            </a:r>
            <a:r>
              <a:rPr lang="en-US" sz="1200" b="0" err="1">
                <a:solidFill>
                  <a:schemeClr val="tx2">
                    <a:lumMod val="60000"/>
                    <a:lumOff val="40000"/>
                  </a:schemeClr>
                </a:solidFill>
                <a:latin typeface="Adobe Garamond Pro"/>
              </a:rPr>
              <a:t>ain’t</a:t>
            </a:r>
            <a:r>
              <a:rPr lang="en-US" sz="1200" b="0">
                <a:solidFill>
                  <a:schemeClr val="tx2">
                    <a:lumMod val="60000"/>
                    <a:lumOff val="40000"/>
                  </a:schemeClr>
                </a:solidFill>
                <a:latin typeface="Adobe Garamond Pro"/>
              </a:rPr>
              <a:t> broke, don’t fix it”; but sometimes it takes a bit of time for us to realize how broken something truly is.</a:t>
            </a:r>
          </a:p>
          <a:p>
            <a:endParaRPr lang="en-US" sz="1200" b="0">
              <a:solidFill>
                <a:schemeClr val="tx2">
                  <a:lumMod val="60000"/>
                  <a:lumOff val="40000"/>
                </a:schemeClr>
              </a:solidFill>
              <a:latin typeface="Adobe Garamond Pro"/>
            </a:endParaRPr>
          </a:p>
          <a:p>
            <a:r>
              <a:rPr lang="en-US" sz="1200" b="0">
                <a:solidFill>
                  <a:schemeClr val="tx2">
                    <a:lumMod val="60000"/>
                    <a:lumOff val="40000"/>
                  </a:schemeClr>
                </a:solidFill>
                <a:latin typeface="Adobe Garamond Pro"/>
              </a:rPr>
              <a:t>And finally, circling back to </a:t>
            </a:r>
            <a:r>
              <a:rPr lang="en-US" sz="1200" b="1">
                <a:solidFill>
                  <a:schemeClr val="tx2">
                    <a:lumMod val="60000"/>
                    <a:lumOff val="40000"/>
                  </a:schemeClr>
                </a:solidFill>
                <a:latin typeface="Adobe Garamond Pro"/>
              </a:rPr>
              <a:t>technical literacy</a:t>
            </a:r>
            <a:r>
              <a:rPr lang="en-US" sz="1200" b="0">
                <a:solidFill>
                  <a:schemeClr val="tx2">
                    <a:lumMod val="60000"/>
                    <a:lumOff val="40000"/>
                  </a:schemeClr>
                </a:solidFill>
                <a:latin typeface="Adobe Garamond Pro"/>
              </a:rPr>
              <a:t>. Please be aware of what you are plugging in to your computer. Variations of DMA cards or other hard-ware based attacks may be possible in the future.</a:t>
            </a:r>
          </a:p>
        </p:txBody>
      </p:sp>
      <p:sp>
        <p:nvSpPr>
          <p:cNvPr id="4" name="Slide Number Placeholder 3">
            <a:extLst>
              <a:ext uri="{FF2B5EF4-FFF2-40B4-BE49-F238E27FC236}">
                <a16:creationId xmlns:a16="http://schemas.microsoft.com/office/drawing/2014/main" id="{819CD469-FC0C-1523-63E5-3663C2F735F4}"/>
              </a:ext>
            </a:extLst>
          </p:cNvPr>
          <p:cNvSpPr>
            <a:spLocks noGrp="1"/>
          </p:cNvSpPr>
          <p:nvPr>
            <p:ph type="sldNum" sz="quarter" idx="5"/>
          </p:nvPr>
        </p:nvSpPr>
        <p:spPr/>
        <p:txBody>
          <a:bodyPr/>
          <a:lstStyle/>
          <a:p>
            <a:fld id="{89138C4E-EB6C-084B-938C-D73001D99940}" type="slidenum">
              <a:rPr lang="en-US" smtClean="0"/>
              <a:t>30</a:t>
            </a:fld>
            <a:endParaRPr lang="en-US"/>
          </a:p>
        </p:txBody>
      </p:sp>
    </p:spTree>
    <p:extLst>
      <p:ext uri="{BB962C8B-B14F-4D97-AF65-F5344CB8AC3E}">
        <p14:creationId xmlns:p14="http://schemas.microsoft.com/office/powerpoint/2010/main" val="2296238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A38A1-16D5-CD56-3538-2F38E8C32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27C46-D140-20B6-DEDC-F94250D984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F97181-797D-324C-890E-25E1F6CD35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A5BCD2-EB4B-609E-7C9D-7D0FDC118309}"/>
              </a:ext>
            </a:extLst>
          </p:cNvPr>
          <p:cNvSpPr>
            <a:spLocks noGrp="1"/>
          </p:cNvSpPr>
          <p:nvPr>
            <p:ph type="sldNum" sz="quarter" idx="5"/>
          </p:nvPr>
        </p:nvSpPr>
        <p:spPr/>
        <p:txBody>
          <a:bodyPr/>
          <a:lstStyle/>
          <a:p>
            <a:fld id="{89138C4E-EB6C-084B-938C-D73001D99940}" type="slidenum">
              <a:rPr lang="en-US" smtClean="0"/>
              <a:t>31</a:t>
            </a:fld>
            <a:endParaRPr lang="en-US"/>
          </a:p>
        </p:txBody>
      </p:sp>
    </p:spTree>
    <p:extLst>
      <p:ext uri="{BB962C8B-B14F-4D97-AF65-F5344CB8AC3E}">
        <p14:creationId xmlns:p14="http://schemas.microsoft.com/office/powerpoint/2010/main" val="19945194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1034E-50E4-A572-CFE9-C4BAF0D57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7EBD6-8652-064B-C664-5853CDE311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BE7477-1B9C-135A-7393-306CDD5E92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EF466C25-66E0-EEB6-CD72-DDEC48313DFB}"/>
              </a:ext>
            </a:extLst>
          </p:cNvPr>
          <p:cNvSpPr>
            <a:spLocks noGrp="1"/>
          </p:cNvSpPr>
          <p:nvPr>
            <p:ph type="sldNum" sz="quarter" idx="5"/>
          </p:nvPr>
        </p:nvSpPr>
        <p:spPr/>
        <p:txBody>
          <a:bodyPr/>
          <a:lstStyle/>
          <a:p>
            <a:fld id="{89138C4E-EB6C-084B-938C-D73001D99940}" type="slidenum">
              <a:rPr lang="en-US" smtClean="0"/>
              <a:t>32</a:t>
            </a:fld>
            <a:endParaRPr lang="en-US"/>
          </a:p>
        </p:txBody>
      </p:sp>
    </p:spTree>
    <p:extLst>
      <p:ext uri="{BB962C8B-B14F-4D97-AF65-F5344CB8AC3E}">
        <p14:creationId xmlns:p14="http://schemas.microsoft.com/office/powerpoint/2010/main" val="41774555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E9930-8689-E1D7-DA5C-F696C4864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673E8-BE08-A8AC-3C00-22942FB961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BA994F-007E-EBB3-9A87-219F2B4508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2">
                  <a:lumMod val="60000"/>
                  <a:lumOff val="40000"/>
                </a:schemeClr>
              </a:solidFill>
              <a:latin typeface="Adobe Garamond Pro"/>
            </a:endParaRPr>
          </a:p>
        </p:txBody>
      </p:sp>
      <p:sp>
        <p:nvSpPr>
          <p:cNvPr id="4" name="Slide Number Placeholder 3">
            <a:extLst>
              <a:ext uri="{FF2B5EF4-FFF2-40B4-BE49-F238E27FC236}">
                <a16:creationId xmlns:a16="http://schemas.microsoft.com/office/drawing/2014/main" id="{A5AE5AA5-56CE-5EB7-B14A-E3EB88DA4649}"/>
              </a:ext>
            </a:extLst>
          </p:cNvPr>
          <p:cNvSpPr>
            <a:spLocks noGrp="1"/>
          </p:cNvSpPr>
          <p:nvPr>
            <p:ph type="sldNum" sz="quarter" idx="5"/>
          </p:nvPr>
        </p:nvSpPr>
        <p:spPr/>
        <p:txBody>
          <a:bodyPr/>
          <a:lstStyle/>
          <a:p>
            <a:fld id="{89138C4E-EB6C-084B-938C-D73001D99940}" type="slidenum">
              <a:rPr lang="en-US" smtClean="0"/>
              <a:t>33</a:t>
            </a:fld>
            <a:endParaRPr lang="en-US"/>
          </a:p>
        </p:txBody>
      </p:sp>
    </p:spTree>
    <p:extLst>
      <p:ext uri="{BB962C8B-B14F-4D97-AF65-F5344CB8AC3E}">
        <p14:creationId xmlns:p14="http://schemas.microsoft.com/office/powerpoint/2010/main" val="659101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09286" y="1122363"/>
            <a:ext cx="6389225" cy="2387600"/>
          </a:xfrm>
        </p:spPr>
        <p:txBody>
          <a:bodyPr anchor="b"/>
          <a:lstStyle>
            <a:lvl1pPr algn="l">
              <a:defRPr sz="6000" b="1">
                <a:solidFill>
                  <a:srgbClr val="253565"/>
                </a:solidFill>
              </a:defRPr>
            </a:lvl1pPr>
          </a:lstStyle>
          <a:p>
            <a:r>
              <a:rPr lang="en-US"/>
              <a:t>Click to edit Master title style</a:t>
            </a:r>
          </a:p>
        </p:txBody>
      </p:sp>
      <p:sp>
        <p:nvSpPr>
          <p:cNvPr id="3" name="Subtitle 2"/>
          <p:cNvSpPr>
            <a:spLocks noGrp="1"/>
          </p:cNvSpPr>
          <p:nvPr>
            <p:ph type="subTitle" idx="1"/>
          </p:nvPr>
        </p:nvSpPr>
        <p:spPr>
          <a:xfrm>
            <a:off x="509286" y="3613613"/>
            <a:ext cx="6389225" cy="1655762"/>
          </a:xfrm>
        </p:spPr>
        <p:txBody>
          <a:bodyPr/>
          <a:lstStyle>
            <a:lvl1pPr marL="0" indent="0" algn="l">
              <a:buNone/>
              <a:defRPr sz="2400" b="1">
                <a:solidFill>
                  <a:srgbClr val="76757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43104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7549" y="365125"/>
            <a:ext cx="10416251" cy="1325563"/>
          </a:xfrm>
        </p:spPr>
        <p:txBody>
          <a:bodyPr/>
          <a:lstStyle>
            <a:lvl1pPr>
              <a:defRPr>
                <a:solidFill>
                  <a:srgbClr val="253565"/>
                </a:solidFill>
              </a:defRPr>
            </a:lvl1pPr>
          </a:lstStyle>
          <a:p>
            <a:r>
              <a:rPr lang="en-US"/>
              <a:t>Click to edit Master title style</a:t>
            </a:r>
          </a:p>
        </p:txBody>
      </p:sp>
      <p:sp>
        <p:nvSpPr>
          <p:cNvPr id="3" name="Content Placeholder 2"/>
          <p:cNvSpPr>
            <a:spLocks noGrp="1"/>
          </p:cNvSpPr>
          <p:nvPr>
            <p:ph idx="1"/>
          </p:nvPr>
        </p:nvSpPr>
        <p:spPr>
          <a:xfrm>
            <a:off x="937549" y="1825625"/>
            <a:ext cx="10416251" cy="4351338"/>
          </a:xfrm>
        </p:spPr>
        <p:txBody>
          <a:bodyPr/>
          <a:lstStyle>
            <a:lvl1pPr>
              <a:defRPr>
                <a:solidFill>
                  <a:srgbClr val="767575"/>
                </a:solidFill>
              </a:defRPr>
            </a:lvl1pPr>
            <a:lvl2pPr>
              <a:defRPr>
                <a:solidFill>
                  <a:srgbClr val="767575"/>
                </a:solidFill>
              </a:defRPr>
            </a:lvl2pPr>
            <a:lvl3pPr>
              <a:defRPr>
                <a:solidFill>
                  <a:srgbClr val="767575"/>
                </a:solidFill>
              </a:defRPr>
            </a:lvl3pPr>
            <a:lvl4pPr>
              <a:defRPr>
                <a:solidFill>
                  <a:srgbClr val="767575"/>
                </a:solidFill>
              </a:defRPr>
            </a:lvl4pPr>
            <a:lvl5pPr>
              <a:defRPr>
                <a:solidFill>
                  <a:srgbClr val="76757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53565"/>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solidFill>
                  <a:srgbClr val="767575"/>
                </a:solidFill>
              </a:defRPr>
            </a:lvl1pPr>
            <a:lvl2pPr>
              <a:defRPr>
                <a:solidFill>
                  <a:srgbClr val="767575"/>
                </a:solidFill>
              </a:defRPr>
            </a:lvl2pPr>
            <a:lvl3pPr>
              <a:defRPr>
                <a:solidFill>
                  <a:srgbClr val="767575"/>
                </a:solidFill>
              </a:defRPr>
            </a:lvl3pPr>
            <a:lvl4pPr>
              <a:defRPr>
                <a:solidFill>
                  <a:srgbClr val="767575"/>
                </a:solidFill>
              </a:defRPr>
            </a:lvl4pPr>
            <a:lvl5pPr>
              <a:defRPr>
                <a:solidFill>
                  <a:srgbClr val="76757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lvl1pPr>
              <a:defRPr>
                <a:solidFill>
                  <a:srgbClr val="767575"/>
                </a:solidFill>
              </a:defRPr>
            </a:lvl1pPr>
            <a:lvl2pPr>
              <a:defRPr>
                <a:solidFill>
                  <a:srgbClr val="767575"/>
                </a:solidFill>
              </a:defRPr>
            </a:lvl2pPr>
            <a:lvl3pPr>
              <a:defRPr>
                <a:solidFill>
                  <a:srgbClr val="767575"/>
                </a:solidFill>
              </a:defRPr>
            </a:lvl3pPr>
            <a:lvl4pPr>
              <a:defRPr>
                <a:solidFill>
                  <a:srgbClr val="767575"/>
                </a:solidFill>
              </a:defRPr>
            </a:lvl4pPr>
            <a:lvl5pPr>
              <a:defRPr>
                <a:solidFill>
                  <a:srgbClr val="76757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644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solidFill>
                  <a:srgbClr val="253565"/>
                </a:solidFill>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rgbClr val="767575"/>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97052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solidFill>
                  <a:srgbClr val="253565"/>
                </a:solidFill>
              </a:defRPr>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solidFill>
                  <a:srgbClr val="7675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solidFill>
                  <a:srgbClr val="767575"/>
                </a:solidFill>
              </a:defRPr>
            </a:lvl1pPr>
            <a:lvl2pPr>
              <a:defRPr>
                <a:solidFill>
                  <a:srgbClr val="767575"/>
                </a:solidFill>
              </a:defRPr>
            </a:lvl2pPr>
            <a:lvl3pPr>
              <a:defRPr>
                <a:solidFill>
                  <a:srgbClr val="767575"/>
                </a:solidFill>
              </a:defRPr>
            </a:lvl3pPr>
            <a:lvl4pPr>
              <a:defRPr>
                <a:solidFill>
                  <a:srgbClr val="767575"/>
                </a:solidFill>
              </a:defRPr>
            </a:lvl4pPr>
            <a:lvl5pPr>
              <a:defRPr>
                <a:solidFill>
                  <a:srgbClr val="76757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solidFill>
            <a:schemeClr val="bg1"/>
          </a:solidFill>
        </p:spPr>
        <p:txBody>
          <a:bodyPr anchor="b"/>
          <a:lstStyle>
            <a:lvl1pPr marL="0" indent="0">
              <a:buNone/>
              <a:defRPr sz="2400" b="1">
                <a:solidFill>
                  <a:srgbClr val="7675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solidFill>
                  <a:srgbClr val="767575"/>
                </a:solidFill>
              </a:defRPr>
            </a:lvl1pPr>
            <a:lvl2pPr>
              <a:defRPr>
                <a:solidFill>
                  <a:srgbClr val="767575"/>
                </a:solidFill>
              </a:defRPr>
            </a:lvl2pPr>
            <a:lvl3pPr>
              <a:defRPr>
                <a:solidFill>
                  <a:srgbClr val="767575"/>
                </a:solidFill>
              </a:defRPr>
            </a:lvl3pPr>
            <a:lvl4pPr>
              <a:defRPr>
                <a:solidFill>
                  <a:srgbClr val="767575"/>
                </a:solidFill>
              </a:defRPr>
            </a:lvl4pPr>
            <a:lvl5pPr>
              <a:defRPr>
                <a:solidFill>
                  <a:srgbClr val="76757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820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53565"/>
                </a:solidFill>
              </a:defRPr>
            </a:lvl1pPr>
          </a:lstStyle>
          <a:p>
            <a:r>
              <a:rPr lang="en-US"/>
              <a:t>Click to edit Master title style</a:t>
            </a:r>
          </a:p>
        </p:txBody>
      </p:sp>
    </p:spTree>
    <p:extLst>
      <p:ext uri="{BB962C8B-B14F-4D97-AF65-F5344CB8AC3E}">
        <p14:creationId xmlns:p14="http://schemas.microsoft.com/office/powerpoint/2010/main" val="1353144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5419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53565"/>
                </a:solidFill>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solidFill>
                  <a:srgbClr val="767575"/>
                </a:solidFill>
              </a:defRPr>
            </a:lvl1pPr>
            <a:lvl2pPr>
              <a:defRPr sz="2800">
                <a:solidFill>
                  <a:srgbClr val="767575"/>
                </a:solidFill>
              </a:defRPr>
            </a:lvl2pPr>
            <a:lvl3pPr>
              <a:defRPr sz="2400">
                <a:solidFill>
                  <a:srgbClr val="767575"/>
                </a:solidFill>
              </a:defRPr>
            </a:lvl3pPr>
            <a:lvl4pPr>
              <a:defRPr sz="2000">
                <a:solidFill>
                  <a:srgbClr val="767575"/>
                </a:solidFill>
              </a:defRPr>
            </a:lvl4pPr>
            <a:lvl5pPr>
              <a:defRPr sz="2000">
                <a:solidFill>
                  <a:srgbClr val="767575"/>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solidFill>
                  <a:srgbClr val="767575"/>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5660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53565"/>
                </a:solidFill>
              </a:defRPr>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solidFill>
                  <a:srgbClr val="767575"/>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70059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0C6F74-6576-B646-8488-B1C8FADA120E}" type="datetimeFigureOut">
              <a:rPr lang="en-US" smtClean="0"/>
              <a:t>10/25/2026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4EF9A8-9EAE-9942-BEF6-E71D05219539}" type="slidenum">
              <a:rPr lang="en-US" smtClean="0"/>
              <a:t>‹#›</a:t>
            </a:fld>
            <a:endParaRPr lang="en-US"/>
          </a:p>
        </p:txBody>
      </p:sp>
    </p:spTree>
    <p:extLst>
      <p:ext uri="{BB962C8B-B14F-4D97-AF65-F5344CB8AC3E}">
        <p14:creationId xmlns:p14="http://schemas.microsoft.com/office/powerpoint/2010/main" val="145354730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2" r:id="rId3"/>
    <p:sldLayoutId id="2147483651"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Helvetica" charset="0"/>
          <a:ea typeface="Helvetica" charset="0"/>
          <a:cs typeface="Helvetic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Adobe Garamond Pro" charset="0"/>
          <a:ea typeface="Adobe Garamond Pro" charset="0"/>
          <a:cs typeface="Adobe Garamond Pro"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Adobe Garamond Pro" charset="0"/>
          <a:ea typeface="Adobe Garamond Pro" charset="0"/>
          <a:cs typeface="Adobe Garamond Pro"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Adobe Garamond Pro" charset="0"/>
          <a:ea typeface="Adobe Garamond Pro" charset="0"/>
          <a:cs typeface="Adobe Garamond Pro"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Adobe Garamond Pro" charset="0"/>
          <a:ea typeface="Adobe Garamond Pro" charset="0"/>
          <a:cs typeface="Adobe Garamond Pro"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Adobe Garamond Pro" charset="0"/>
          <a:ea typeface="Adobe Garamond Pro" charset="0"/>
          <a:cs typeface="Adobe Garamond Pr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gif"/><Relationship Id="rId5" Type="http://schemas.openxmlformats.org/officeDocument/2006/relationships/image" Target="../media/image8.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languages.oup.com/google-dictionary-en" TargetMode="External"/><Relationship Id="rId5" Type="http://schemas.openxmlformats.org/officeDocument/2006/relationships/image" Target="../media/image1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en.wikipedia.org/wiki/Kernel_%28operating_system%29" TargetMode="External"/><Relationship Id="rId5" Type="http://schemas.openxmlformats.org/officeDocument/2006/relationships/image" Target="../media/image10.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gi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gif"/><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gif"/><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gif"/><Relationship Id="rId5" Type="http://schemas.openxmlformats.org/officeDocument/2006/relationships/image" Target="../media/image10.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0.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png"/><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gif"/><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0.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blog.frizk.net/2016/10/dma-attacking-over-usb-c-and.html"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10.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gs.statcounter.com/os-version-market-share/windows/desktop/worldwide"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10.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gif"/><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gif"/><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09286" y="1122363"/>
            <a:ext cx="10448524" cy="2387600"/>
          </a:xfrm>
        </p:spPr>
        <p:txBody>
          <a:bodyPr>
            <a:noAutofit/>
          </a:bodyPr>
          <a:lstStyle/>
          <a:p>
            <a:r>
              <a:rPr lang="en-US" sz="4800" b="0">
                <a:solidFill>
                  <a:srgbClr val="CC2637"/>
                </a:solidFill>
                <a:latin typeface="Helvetica"/>
                <a:cs typeface="Helvetica"/>
              </a:rPr>
              <a:t>Hacking via Direct Memory Allocation A Feasibility Report</a:t>
            </a:r>
            <a:endParaRPr lang="en-US">
              <a:solidFill>
                <a:srgbClr val="CC2637"/>
              </a:solidFill>
            </a:endParaRPr>
          </a:p>
        </p:txBody>
      </p:sp>
      <p:pic>
        <p:nvPicPr>
          <p:cNvPr id="10" name="Picture 9">
            <a:extLst>
              <a:ext uri="{FF2B5EF4-FFF2-40B4-BE49-F238E27FC236}">
                <a16:creationId xmlns:a16="http://schemas.microsoft.com/office/drawing/2014/main" id="{1B8F73AE-E166-358A-85C9-7E9704B49768}"/>
              </a:ext>
            </a:extLst>
          </p:cNvPr>
          <p:cNvPicPr>
            <a:picLocks noChangeAspect="1"/>
          </p:cNvPicPr>
          <p:nvPr/>
        </p:nvPicPr>
        <p:blipFill>
          <a:blip r:embed="rId3"/>
          <a:stretch>
            <a:fillRect/>
          </a:stretch>
        </p:blipFill>
        <p:spPr>
          <a:xfrm>
            <a:off x="670276" y="1122363"/>
            <a:ext cx="5063272" cy="562586"/>
          </a:xfrm>
          <a:prstGeom prst="rect">
            <a:avLst/>
          </a:prstGeom>
        </p:spPr>
      </p:pic>
      <p:pic>
        <p:nvPicPr>
          <p:cNvPr id="14" name="Picture 13">
            <a:extLst>
              <a:ext uri="{FF2B5EF4-FFF2-40B4-BE49-F238E27FC236}">
                <a16:creationId xmlns:a16="http://schemas.microsoft.com/office/drawing/2014/main" id="{1451AE55-8DD2-575A-FF34-06363B72872C}"/>
              </a:ext>
            </a:extLst>
          </p:cNvPr>
          <p:cNvPicPr>
            <a:picLocks noChangeAspect="1"/>
          </p:cNvPicPr>
          <p:nvPr/>
        </p:nvPicPr>
        <p:blipFill>
          <a:blip r:embed="rId4"/>
          <a:stretch>
            <a:fillRect/>
          </a:stretch>
        </p:blipFill>
        <p:spPr>
          <a:xfrm>
            <a:off x="10767202" y="966564"/>
            <a:ext cx="735223" cy="874183"/>
          </a:xfrm>
          <a:prstGeom prst="rect">
            <a:avLst/>
          </a:prstGeom>
        </p:spPr>
      </p:pic>
      <p:pic>
        <p:nvPicPr>
          <p:cNvPr id="18" name="Picture 17">
            <a:extLst>
              <a:ext uri="{FF2B5EF4-FFF2-40B4-BE49-F238E27FC236}">
                <a16:creationId xmlns:a16="http://schemas.microsoft.com/office/drawing/2014/main" id="{4F170970-8A3C-D3B3-165C-7854222532FC}"/>
              </a:ext>
            </a:extLst>
          </p:cNvPr>
          <p:cNvPicPr>
            <a:picLocks noChangeAspect="1"/>
          </p:cNvPicPr>
          <p:nvPr/>
        </p:nvPicPr>
        <p:blipFill>
          <a:blip r:embed="rId5"/>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DA7DC5D2-413E-F0B6-012E-3E3A69DDDE35}"/>
              </a:ext>
            </a:extLst>
          </p:cNvPr>
          <p:cNvPicPr>
            <a:picLocks noChangeAspect="1"/>
          </p:cNvPicPr>
          <p:nvPr/>
        </p:nvPicPr>
        <p:blipFill>
          <a:blip r:embed="rId6"/>
          <a:stretch>
            <a:fillRect/>
          </a:stretch>
        </p:blipFill>
        <p:spPr>
          <a:xfrm>
            <a:off x="699785" y="6058401"/>
            <a:ext cx="1179499" cy="393166"/>
          </a:xfrm>
          <a:prstGeom prst="rect">
            <a:avLst/>
          </a:prstGeom>
        </p:spPr>
      </p:pic>
      <p:sp>
        <p:nvSpPr>
          <p:cNvPr id="32" name="Subtitle 2">
            <a:extLst>
              <a:ext uri="{FF2B5EF4-FFF2-40B4-BE49-F238E27FC236}">
                <a16:creationId xmlns:a16="http://schemas.microsoft.com/office/drawing/2014/main" id="{032C096E-0251-34EB-6939-6737E75069B3}"/>
              </a:ext>
            </a:extLst>
          </p:cNvPr>
          <p:cNvSpPr txBox="1">
            <a:spLocks/>
          </p:cNvSpPr>
          <p:nvPr/>
        </p:nvSpPr>
        <p:spPr>
          <a:xfrm>
            <a:off x="961509" y="3648828"/>
            <a:ext cx="5586714" cy="8138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Research by: Yannis Lagrosa</a:t>
            </a:r>
          </a:p>
        </p:txBody>
      </p:sp>
      <p:pic>
        <p:nvPicPr>
          <p:cNvPr id="35" name="Picture 34">
            <a:extLst>
              <a:ext uri="{FF2B5EF4-FFF2-40B4-BE49-F238E27FC236}">
                <a16:creationId xmlns:a16="http://schemas.microsoft.com/office/drawing/2014/main" id="{B6F3A17A-A27C-643E-293E-2E4076638530}"/>
              </a:ext>
            </a:extLst>
          </p:cNvPr>
          <p:cNvPicPr>
            <a:picLocks noChangeAspect="1"/>
          </p:cNvPicPr>
          <p:nvPr/>
        </p:nvPicPr>
        <p:blipFill>
          <a:blip r:embed="rId7"/>
          <a:stretch>
            <a:fillRect/>
          </a:stretch>
        </p:blipFill>
        <p:spPr>
          <a:xfrm>
            <a:off x="828159" y="3776756"/>
            <a:ext cx="78362" cy="156011"/>
          </a:xfrm>
          <a:prstGeom prst="rect">
            <a:avLst/>
          </a:prstGeom>
        </p:spPr>
      </p:pic>
      <p:pic>
        <p:nvPicPr>
          <p:cNvPr id="36" name="Picture 35">
            <a:extLst>
              <a:ext uri="{FF2B5EF4-FFF2-40B4-BE49-F238E27FC236}">
                <a16:creationId xmlns:a16="http://schemas.microsoft.com/office/drawing/2014/main" id="{383DE615-86D0-7825-6275-A2FABBE7E6CF}"/>
              </a:ext>
            </a:extLst>
          </p:cNvPr>
          <p:cNvPicPr>
            <a:picLocks noChangeAspect="1"/>
          </p:cNvPicPr>
          <p:nvPr/>
        </p:nvPicPr>
        <p:blipFill>
          <a:blip r:embed="rId7"/>
          <a:stretch>
            <a:fillRect/>
          </a:stretch>
        </p:blipFill>
        <p:spPr>
          <a:xfrm>
            <a:off x="828693" y="4162530"/>
            <a:ext cx="78362" cy="156011"/>
          </a:xfrm>
          <a:prstGeom prst="rect">
            <a:avLst/>
          </a:prstGeom>
        </p:spPr>
      </p:pic>
      <p:sp>
        <p:nvSpPr>
          <p:cNvPr id="37" name="Subtitle 2">
            <a:extLst>
              <a:ext uri="{FF2B5EF4-FFF2-40B4-BE49-F238E27FC236}">
                <a16:creationId xmlns:a16="http://schemas.microsoft.com/office/drawing/2014/main" id="{CA1E4D12-37E3-D851-C2D8-0C72C44B30D6}"/>
              </a:ext>
            </a:extLst>
          </p:cNvPr>
          <p:cNvSpPr txBox="1">
            <a:spLocks/>
          </p:cNvSpPr>
          <p:nvPr/>
        </p:nvSpPr>
        <p:spPr>
          <a:xfrm>
            <a:off x="961509" y="4013467"/>
            <a:ext cx="5586714" cy="8138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      Advisor: Dr. Tracy Bilsing</a:t>
            </a:r>
          </a:p>
        </p:txBody>
      </p:sp>
      <p:pic>
        <p:nvPicPr>
          <p:cNvPr id="38" name="Picture 37">
            <a:extLst>
              <a:ext uri="{FF2B5EF4-FFF2-40B4-BE49-F238E27FC236}">
                <a16:creationId xmlns:a16="http://schemas.microsoft.com/office/drawing/2014/main" id="{9D32E03E-B30F-0909-1394-19E91359669F}"/>
              </a:ext>
            </a:extLst>
          </p:cNvPr>
          <p:cNvPicPr>
            <a:picLocks noChangeAspect="1"/>
          </p:cNvPicPr>
          <p:nvPr/>
        </p:nvPicPr>
        <p:blipFill>
          <a:blip r:embed="rId7"/>
          <a:stretch>
            <a:fillRect/>
          </a:stretch>
        </p:blipFill>
        <p:spPr>
          <a:xfrm>
            <a:off x="5730152" y="5975651"/>
            <a:ext cx="78362" cy="156011"/>
          </a:xfrm>
          <a:prstGeom prst="rect">
            <a:avLst/>
          </a:prstGeom>
        </p:spPr>
      </p:pic>
      <p:sp>
        <p:nvSpPr>
          <p:cNvPr id="39" name="Subtitle 2">
            <a:extLst>
              <a:ext uri="{FF2B5EF4-FFF2-40B4-BE49-F238E27FC236}">
                <a16:creationId xmlns:a16="http://schemas.microsoft.com/office/drawing/2014/main" id="{2F9E0687-0702-EE64-FF15-AE8EF92E34D5}"/>
              </a:ext>
            </a:extLst>
          </p:cNvPr>
          <p:cNvSpPr txBox="1">
            <a:spLocks/>
          </p:cNvSpPr>
          <p:nvPr/>
        </p:nvSpPr>
        <p:spPr>
          <a:xfrm>
            <a:off x="5862968" y="5826588"/>
            <a:ext cx="5586714" cy="8138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Tracking Bad Actors: Human &amp; Machine</a:t>
            </a:r>
          </a:p>
        </p:txBody>
      </p:sp>
      <p:pic>
        <p:nvPicPr>
          <p:cNvPr id="40" name="Picture 39">
            <a:extLst>
              <a:ext uri="{FF2B5EF4-FFF2-40B4-BE49-F238E27FC236}">
                <a16:creationId xmlns:a16="http://schemas.microsoft.com/office/drawing/2014/main" id="{BB9DA99F-8D6C-B60C-A558-4BCB1DD9671E}"/>
              </a:ext>
            </a:extLst>
          </p:cNvPr>
          <p:cNvPicPr>
            <a:picLocks noChangeAspect="1"/>
          </p:cNvPicPr>
          <p:nvPr/>
        </p:nvPicPr>
        <p:blipFill>
          <a:blip r:embed="rId7"/>
          <a:stretch>
            <a:fillRect/>
          </a:stretch>
        </p:blipFill>
        <p:spPr>
          <a:xfrm rot="10800000">
            <a:off x="11504136" y="5975651"/>
            <a:ext cx="78362" cy="156011"/>
          </a:xfrm>
          <a:prstGeom prst="rect">
            <a:avLst/>
          </a:prstGeom>
        </p:spPr>
      </p:pic>
      <p:sp>
        <p:nvSpPr>
          <p:cNvPr id="3" name="Rectangle 2">
            <a:extLst>
              <a:ext uri="{FF2B5EF4-FFF2-40B4-BE49-F238E27FC236}">
                <a16:creationId xmlns:a16="http://schemas.microsoft.com/office/drawing/2014/main" id="{F770542C-0ACE-61A7-89D7-31F92386297C}"/>
              </a:ext>
            </a:extLst>
          </p:cNvPr>
          <p:cNvSpPr/>
          <p:nvPr/>
        </p:nvSpPr>
        <p:spPr>
          <a:xfrm>
            <a:off x="6096000" y="1301951"/>
            <a:ext cx="4309533" cy="205116"/>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4835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C690EF8-E966-35E2-DD92-963D0F17B33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5235FC0-E76F-91B8-6B5C-7340CEE094C7}"/>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26B3548A-52E1-9B48-7411-17C3955A94E2}"/>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0E27C1BA-B501-8F04-43E2-4175B73941B7}"/>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Helvetica" panose="020B0604020202020204" pitchFamily="34" charset="0"/>
                <a:cs typeface="Helvetica" panose="020B0604020202020204" pitchFamily="34" charset="0"/>
              </a:rPr>
              <a:t>Outline</a:t>
            </a:r>
          </a:p>
        </p:txBody>
      </p:sp>
      <p:pic>
        <p:nvPicPr>
          <p:cNvPr id="12" name="Picture 11">
            <a:extLst>
              <a:ext uri="{FF2B5EF4-FFF2-40B4-BE49-F238E27FC236}">
                <a16:creationId xmlns:a16="http://schemas.microsoft.com/office/drawing/2014/main" id="{CD0342E4-9B94-A4A0-A5E1-1FF012B29A03}"/>
              </a:ext>
            </a:extLst>
          </p:cNvPr>
          <p:cNvPicPr>
            <a:picLocks noChangeAspect="1"/>
          </p:cNvPicPr>
          <p:nvPr/>
        </p:nvPicPr>
        <p:blipFill>
          <a:blip r:embed="rId5"/>
          <a:stretch>
            <a:fillRect/>
          </a:stretch>
        </p:blipFill>
        <p:spPr>
          <a:xfrm>
            <a:off x="908288" y="2445923"/>
            <a:ext cx="204601" cy="204601"/>
          </a:xfrm>
          <a:prstGeom prst="rect">
            <a:avLst/>
          </a:prstGeom>
        </p:spPr>
      </p:pic>
      <p:sp>
        <p:nvSpPr>
          <p:cNvPr id="13" name="Content Placeholder 2">
            <a:extLst>
              <a:ext uri="{FF2B5EF4-FFF2-40B4-BE49-F238E27FC236}">
                <a16:creationId xmlns:a16="http://schemas.microsoft.com/office/drawing/2014/main" id="{97D738D5-F6DD-6B25-8DA4-2DF3C8D6D5E3}"/>
              </a:ext>
            </a:extLst>
          </p:cNvPr>
          <p:cNvSpPr txBox="1">
            <a:spLocks/>
          </p:cNvSpPr>
          <p:nvPr/>
        </p:nvSpPr>
        <p:spPr>
          <a:xfrm>
            <a:off x="1099193" y="1878246"/>
            <a:ext cx="10589871"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rgbClr val="CC2637"/>
                </a:solidFill>
                <a:latin typeface="+mn-lt"/>
              </a:rPr>
              <a:t>Introduction</a:t>
            </a:r>
          </a:p>
          <a:p>
            <a:r>
              <a:rPr lang="en-US">
                <a:solidFill>
                  <a:schemeClr val="tx2">
                    <a:lumMod val="50000"/>
                  </a:schemeClr>
                </a:solidFill>
                <a:latin typeface="+mn-lt"/>
              </a:rPr>
              <a:t>Motivation</a:t>
            </a:r>
          </a:p>
          <a:p>
            <a:r>
              <a:rPr lang="en-US">
                <a:solidFill>
                  <a:schemeClr val="bg2">
                    <a:lumMod val="25000"/>
                  </a:schemeClr>
                </a:solidFill>
                <a:latin typeface="+mn-lt"/>
              </a:rPr>
              <a:t>Related Work</a:t>
            </a:r>
          </a:p>
          <a:p>
            <a:r>
              <a:rPr lang="en-US">
                <a:solidFill>
                  <a:schemeClr val="bg2">
                    <a:lumMod val="25000"/>
                  </a:schemeClr>
                </a:solidFill>
                <a:latin typeface="+mn-lt"/>
              </a:rPr>
              <a:t>Methodology</a:t>
            </a:r>
          </a:p>
          <a:p>
            <a:r>
              <a:rPr lang="en-US">
                <a:solidFill>
                  <a:schemeClr val="bg2">
                    <a:lumMod val="25000"/>
                  </a:schemeClr>
                </a:solidFill>
                <a:latin typeface="+mn-lt"/>
              </a:rPr>
              <a:t>Result and Discussion</a:t>
            </a:r>
          </a:p>
          <a:p>
            <a:r>
              <a:rPr lang="en-US">
                <a:solidFill>
                  <a:schemeClr val="bg2">
                    <a:lumMod val="25000"/>
                  </a:schemeClr>
                </a:solidFill>
                <a:latin typeface="+mn-lt"/>
              </a:rPr>
              <a:t>Conclusion</a:t>
            </a:r>
          </a:p>
          <a:p>
            <a:r>
              <a:rPr lang="en-US">
                <a:solidFill>
                  <a:schemeClr val="bg2">
                    <a:lumMod val="25000"/>
                  </a:schemeClr>
                </a:solidFill>
                <a:latin typeface="+mn-lt"/>
              </a:rPr>
              <a:t>References</a:t>
            </a:r>
          </a:p>
        </p:txBody>
      </p:sp>
      <p:pic>
        <p:nvPicPr>
          <p:cNvPr id="16" name="Picture 15">
            <a:extLst>
              <a:ext uri="{FF2B5EF4-FFF2-40B4-BE49-F238E27FC236}">
                <a16:creationId xmlns:a16="http://schemas.microsoft.com/office/drawing/2014/main" id="{ACBA8C95-D9FB-3238-C5FD-B9EBDB2A52CA}"/>
              </a:ext>
            </a:extLst>
          </p:cNvPr>
          <p:cNvPicPr>
            <a:picLocks noChangeAspect="1"/>
          </p:cNvPicPr>
          <p:nvPr/>
        </p:nvPicPr>
        <p:blipFill>
          <a:blip r:embed="rId6"/>
          <a:stretch>
            <a:fillRect/>
          </a:stretch>
        </p:blipFill>
        <p:spPr>
          <a:xfrm>
            <a:off x="908288" y="1966004"/>
            <a:ext cx="204602" cy="204602"/>
          </a:xfrm>
          <a:prstGeom prst="rect">
            <a:avLst/>
          </a:prstGeom>
        </p:spPr>
      </p:pic>
      <p:pic>
        <p:nvPicPr>
          <p:cNvPr id="17" name="Picture 16">
            <a:extLst>
              <a:ext uri="{FF2B5EF4-FFF2-40B4-BE49-F238E27FC236}">
                <a16:creationId xmlns:a16="http://schemas.microsoft.com/office/drawing/2014/main" id="{0ED5F465-3079-8C5C-94DB-23226C15C529}"/>
              </a:ext>
            </a:extLst>
          </p:cNvPr>
          <p:cNvPicPr>
            <a:picLocks noChangeAspect="1"/>
          </p:cNvPicPr>
          <p:nvPr/>
        </p:nvPicPr>
        <p:blipFill>
          <a:blip r:embed="rId5"/>
          <a:stretch>
            <a:fillRect/>
          </a:stretch>
        </p:blipFill>
        <p:spPr>
          <a:xfrm>
            <a:off x="908288" y="2876323"/>
            <a:ext cx="204601" cy="204601"/>
          </a:xfrm>
          <a:prstGeom prst="rect">
            <a:avLst/>
          </a:prstGeom>
        </p:spPr>
      </p:pic>
      <p:pic>
        <p:nvPicPr>
          <p:cNvPr id="19" name="Picture 18">
            <a:extLst>
              <a:ext uri="{FF2B5EF4-FFF2-40B4-BE49-F238E27FC236}">
                <a16:creationId xmlns:a16="http://schemas.microsoft.com/office/drawing/2014/main" id="{97A69B25-D387-F6A0-D601-EB788E585B79}"/>
              </a:ext>
            </a:extLst>
          </p:cNvPr>
          <p:cNvPicPr>
            <a:picLocks noChangeAspect="1"/>
          </p:cNvPicPr>
          <p:nvPr/>
        </p:nvPicPr>
        <p:blipFill>
          <a:blip r:embed="rId5"/>
          <a:stretch>
            <a:fillRect/>
          </a:stretch>
        </p:blipFill>
        <p:spPr>
          <a:xfrm>
            <a:off x="908288" y="3356241"/>
            <a:ext cx="204601" cy="204601"/>
          </a:xfrm>
          <a:prstGeom prst="rect">
            <a:avLst/>
          </a:prstGeom>
        </p:spPr>
      </p:pic>
      <p:pic>
        <p:nvPicPr>
          <p:cNvPr id="20" name="Picture 19">
            <a:extLst>
              <a:ext uri="{FF2B5EF4-FFF2-40B4-BE49-F238E27FC236}">
                <a16:creationId xmlns:a16="http://schemas.microsoft.com/office/drawing/2014/main" id="{04C8AEF8-518C-E24F-E418-6746A4817F9F}"/>
              </a:ext>
            </a:extLst>
          </p:cNvPr>
          <p:cNvPicPr>
            <a:picLocks noChangeAspect="1"/>
          </p:cNvPicPr>
          <p:nvPr/>
        </p:nvPicPr>
        <p:blipFill>
          <a:blip r:embed="rId5"/>
          <a:stretch>
            <a:fillRect/>
          </a:stretch>
        </p:blipFill>
        <p:spPr>
          <a:xfrm>
            <a:off x="908288" y="3777077"/>
            <a:ext cx="204601" cy="204601"/>
          </a:xfrm>
          <a:prstGeom prst="rect">
            <a:avLst/>
          </a:prstGeom>
        </p:spPr>
      </p:pic>
      <p:pic>
        <p:nvPicPr>
          <p:cNvPr id="21" name="Picture 20">
            <a:extLst>
              <a:ext uri="{FF2B5EF4-FFF2-40B4-BE49-F238E27FC236}">
                <a16:creationId xmlns:a16="http://schemas.microsoft.com/office/drawing/2014/main" id="{223E76F0-49D3-EA3B-B2E2-B8B2E3099344}"/>
              </a:ext>
            </a:extLst>
          </p:cNvPr>
          <p:cNvPicPr>
            <a:picLocks noChangeAspect="1"/>
          </p:cNvPicPr>
          <p:nvPr/>
        </p:nvPicPr>
        <p:blipFill>
          <a:blip r:embed="rId5"/>
          <a:stretch>
            <a:fillRect/>
          </a:stretch>
        </p:blipFill>
        <p:spPr>
          <a:xfrm>
            <a:off x="908288" y="4255960"/>
            <a:ext cx="204601" cy="204601"/>
          </a:xfrm>
          <a:prstGeom prst="rect">
            <a:avLst/>
          </a:prstGeom>
        </p:spPr>
      </p:pic>
      <p:pic>
        <p:nvPicPr>
          <p:cNvPr id="22" name="Picture 21">
            <a:extLst>
              <a:ext uri="{FF2B5EF4-FFF2-40B4-BE49-F238E27FC236}">
                <a16:creationId xmlns:a16="http://schemas.microsoft.com/office/drawing/2014/main" id="{0C1F0B26-C9BE-3BE0-7DFE-27086FDF5943}"/>
              </a:ext>
            </a:extLst>
          </p:cNvPr>
          <p:cNvPicPr>
            <a:picLocks noChangeAspect="1"/>
          </p:cNvPicPr>
          <p:nvPr/>
        </p:nvPicPr>
        <p:blipFill>
          <a:blip r:embed="rId5"/>
          <a:stretch>
            <a:fillRect/>
          </a:stretch>
        </p:blipFill>
        <p:spPr>
          <a:xfrm>
            <a:off x="908288" y="4741177"/>
            <a:ext cx="204601" cy="204601"/>
          </a:xfrm>
          <a:prstGeom prst="rect">
            <a:avLst/>
          </a:prstGeom>
        </p:spPr>
      </p:pic>
      <p:sp>
        <p:nvSpPr>
          <p:cNvPr id="29" name="Rectangle 28">
            <a:extLst>
              <a:ext uri="{FF2B5EF4-FFF2-40B4-BE49-F238E27FC236}">
                <a16:creationId xmlns:a16="http://schemas.microsoft.com/office/drawing/2014/main" id="{1D22578C-AE72-A998-53B5-63A5E8F4B447}"/>
              </a:ext>
            </a:extLst>
          </p:cNvPr>
          <p:cNvSpPr/>
          <p:nvPr/>
        </p:nvSpPr>
        <p:spPr>
          <a:xfrm>
            <a:off x="3908968" y="1159846"/>
            <a:ext cx="7780096" cy="14919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64BAA2E4-B8C2-8EF3-48C8-DAF82C822AB0}"/>
              </a:ext>
            </a:extLst>
          </p:cNvPr>
          <p:cNvPicPr>
            <a:picLocks noChangeAspect="1"/>
          </p:cNvPicPr>
          <p:nvPr/>
        </p:nvPicPr>
        <p:blipFill>
          <a:blip r:embed="rId7"/>
          <a:stretch>
            <a:fillRect/>
          </a:stretch>
        </p:blipFill>
        <p:spPr>
          <a:xfrm>
            <a:off x="9106636" y="5735597"/>
            <a:ext cx="2582428" cy="645607"/>
          </a:xfrm>
          <a:prstGeom prst="rect">
            <a:avLst/>
          </a:prstGeom>
        </p:spPr>
      </p:pic>
    </p:spTree>
    <p:extLst>
      <p:ext uri="{BB962C8B-B14F-4D97-AF65-F5344CB8AC3E}">
        <p14:creationId xmlns:p14="http://schemas.microsoft.com/office/powerpoint/2010/main" val="3723207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EBC0A497-46D5-34B6-2E54-6392FCA06D6A}"/>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859A2C2D-AA6F-10C4-D9C4-3C4EEEB2C873}"/>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5161F84B-ABCD-AF9C-3A64-920F6D93B8F7}"/>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950A0F44-F52E-016C-DEDA-FC4A348E1542}"/>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Introduction</a:t>
            </a:r>
          </a:p>
        </p:txBody>
      </p:sp>
      <p:sp>
        <p:nvSpPr>
          <p:cNvPr id="13" name="Content Placeholder 2">
            <a:extLst>
              <a:ext uri="{FF2B5EF4-FFF2-40B4-BE49-F238E27FC236}">
                <a16:creationId xmlns:a16="http://schemas.microsoft.com/office/drawing/2014/main" id="{8DDC359F-62A0-2A93-49B0-1A707E26E161}"/>
              </a:ext>
            </a:extLst>
          </p:cNvPr>
          <p:cNvSpPr txBox="1">
            <a:spLocks/>
          </p:cNvSpPr>
          <p:nvPr/>
        </p:nvSpPr>
        <p:spPr>
          <a:xfrm>
            <a:off x="1111986" y="2090408"/>
            <a:ext cx="1383657" cy="44331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2">
                    <a:lumMod val="25000"/>
                  </a:schemeClr>
                </a:solidFill>
                <a:latin typeface="+mn-lt"/>
              </a:rPr>
              <a:t>hacking</a:t>
            </a:r>
          </a:p>
          <a:p>
            <a:endParaRPr lang="en-US">
              <a:solidFill>
                <a:schemeClr val="bg2">
                  <a:lumMod val="25000"/>
                </a:schemeClr>
              </a:solidFill>
              <a:latin typeface="+mn-lt"/>
            </a:endParaRPr>
          </a:p>
        </p:txBody>
      </p:sp>
      <p:sp>
        <p:nvSpPr>
          <p:cNvPr id="6" name="Rectangle 4">
            <a:extLst>
              <a:ext uri="{FF2B5EF4-FFF2-40B4-BE49-F238E27FC236}">
                <a16:creationId xmlns:a16="http://schemas.microsoft.com/office/drawing/2014/main" id="{E99EC52B-FBFD-8A0F-F95D-C106E855A0FA}"/>
              </a:ext>
            </a:extLst>
          </p:cNvPr>
          <p:cNvSpPr>
            <a:spLocks noChangeArrowheads="1"/>
          </p:cNvSpPr>
          <p:nvPr/>
        </p:nvSpPr>
        <p:spPr bwMode="auto">
          <a:xfrm>
            <a:off x="1111986" y="2795382"/>
            <a:ext cx="12192000" cy="0"/>
          </a:xfrm>
          <a:prstGeom prst="rect">
            <a:avLst/>
          </a:prstGeom>
          <a:solidFill>
            <a:srgbClr val="1F1F1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9E9E9E"/>
                </a:solidFill>
                <a:effectLst/>
                <a:latin typeface="Arial" panose="020B0604020202020204" pitchFamily="34" charset="0"/>
                <a:ea typeface="Roboto" panose="02000000000000000000" pitchFamily="2" charset="0"/>
              </a:rPr>
              <a:t>/ˈ</a:t>
            </a:r>
            <a:r>
              <a:rPr kumimoji="0" lang="en-US" altLang="en-US" sz="900" b="0" i="0" u="none" strike="noStrike" cap="none" normalizeH="0" baseline="0" err="1">
                <a:ln>
                  <a:noFill/>
                </a:ln>
                <a:solidFill>
                  <a:srgbClr val="9E9E9E"/>
                </a:solidFill>
                <a:effectLst/>
                <a:latin typeface="Arial" panose="020B0604020202020204" pitchFamily="34" charset="0"/>
                <a:ea typeface="Roboto" panose="02000000000000000000" pitchFamily="2" charset="0"/>
              </a:rPr>
              <a:t>hakiNG</a:t>
            </a:r>
            <a:r>
              <a:rPr kumimoji="0" lang="en-US" altLang="en-US" sz="900" b="0" i="0" u="none" strike="noStrike" cap="none" normalizeH="0" baseline="0">
                <a:ln>
                  <a:noFill/>
                </a:ln>
                <a:solidFill>
                  <a:srgbClr val="9E9E9E"/>
                </a:solidFill>
                <a:effectLst/>
                <a:latin typeface="Arial" panose="020B0604020202020204" pitchFamily="34" charset="0"/>
                <a:ea typeface="Roboto" panose="02000000000000000000" pitchFamily="2" charset="0"/>
              </a:rPr>
              <a:t>/</a:t>
            </a:r>
            <a:endParaRPr kumimoji="0" lang="en-US" altLang="en-US" sz="600" b="0" i="0" u="none" strike="noStrike" cap="none" normalizeH="0" baseline="0">
              <a:ln>
                <a:noFill/>
              </a:ln>
              <a:solidFill>
                <a:srgbClr val="E8E8E8"/>
              </a:solidFill>
              <a:effectLst/>
              <a:latin typeface="Arial" panose="020B0604020202020204" pitchFamily="34" charset="0"/>
              <a:ea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3D9E6B83-30EF-11DD-5589-089775C0AF11}"/>
              </a:ext>
            </a:extLst>
          </p:cNvPr>
          <p:cNvPicPr>
            <a:picLocks noChangeAspect="1"/>
          </p:cNvPicPr>
          <p:nvPr/>
        </p:nvPicPr>
        <p:blipFill>
          <a:blip r:embed="rId5"/>
          <a:stretch>
            <a:fillRect/>
          </a:stretch>
        </p:blipFill>
        <p:spPr>
          <a:xfrm>
            <a:off x="788479" y="2218181"/>
            <a:ext cx="323507" cy="323507"/>
          </a:xfrm>
          <a:prstGeom prst="rect">
            <a:avLst/>
          </a:prstGeom>
        </p:spPr>
      </p:pic>
      <p:sp>
        <p:nvSpPr>
          <p:cNvPr id="9" name="Content Placeholder 2">
            <a:extLst>
              <a:ext uri="{FF2B5EF4-FFF2-40B4-BE49-F238E27FC236}">
                <a16:creationId xmlns:a16="http://schemas.microsoft.com/office/drawing/2014/main" id="{96136E2B-3472-CFB0-C3C1-94E65FB37802}"/>
              </a:ext>
            </a:extLst>
          </p:cNvPr>
          <p:cNvSpPr txBox="1">
            <a:spLocks/>
          </p:cNvSpPr>
          <p:nvPr/>
        </p:nvSpPr>
        <p:spPr>
          <a:xfrm>
            <a:off x="698936" y="2760572"/>
            <a:ext cx="901357" cy="39316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sz="1200" b="0"/>
              <a:t>noun</a:t>
            </a:r>
            <a:endParaRPr lang="en-US" sz="1200">
              <a:solidFill>
                <a:schemeClr val="bg2">
                  <a:lumMod val="25000"/>
                </a:schemeClr>
              </a:solidFill>
              <a:latin typeface="+mn-lt"/>
            </a:endParaRPr>
          </a:p>
        </p:txBody>
      </p:sp>
      <p:sp>
        <p:nvSpPr>
          <p:cNvPr id="14" name="TextBox 13">
            <a:extLst>
              <a:ext uri="{FF2B5EF4-FFF2-40B4-BE49-F238E27FC236}">
                <a16:creationId xmlns:a16="http://schemas.microsoft.com/office/drawing/2014/main" id="{B89956A4-C638-58A2-D210-9F4EAE2C31EF}"/>
              </a:ext>
            </a:extLst>
          </p:cNvPr>
          <p:cNvSpPr txBox="1"/>
          <p:nvPr/>
        </p:nvSpPr>
        <p:spPr>
          <a:xfrm>
            <a:off x="698936" y="2927322"/>
            <a:ext cx="6692900" cy="369332"/>
          </a:xfrm>
          <a:prstGeom prst="rect">
            <a:avLst/>
          </a:prstGeom>
          <a:noFill/>
        </p:spPr>
        <p:txBody>
          <a:bodyPr wrap="square">
            <a:spAutoFit/>
          </a:bodyPr>
          <a:lstStyle/>
          <a:p>
            <a:r>
              <a:rPr lang="en-US" b="0" i="0">
                <a:solidFill>
                  <a:srgbClr val="E8E8E8"/>
                </a:solidFill>
                <a:effectLst/>
                <a:latin typeface="Google Sans"/>
              </a:rPr>
              <a:t>the gaining of unauthorized access to data in a system or computer.</a:t>
            </a:r>
            <a:endParaRPr lang="en-US"/>
          </a:p>
        </p:txBody>
      </p:sp>
      <p:sp>
        <p:nvSpPr>
          <p:cNvPr id="23" name="TextBox 22">
            <a:extLst>
              <a:ext uri="{FF2B5EF4-FFF2-40B4-BE49-F238E27FC236}">
                <a16:creationId xmlns:a16="http://schemas.microsoft.com/office/drawing/2014/main" id="{D8C81199-F50F-810A-559F-B8C88B97D03D}"/>
              </a:ext>
            </a:extLst>
          </p:cNvPr>
          <p:cNvSpPr txBox="1"/>
          <p:nvPr/>
        </p:nvSpPr>
        <p:spPr>
          <a:xfrm>
            <a:off x="698936" y="3298542"/>
            <a:ext cx="6096000" cy="307777"/>
          </a:xfrm>
          <a:prstGeom prst="rect">
            <a:avLst/>
          </a:prstGeom>
          <a:noFill/>
        </p:spPr>
        <p:txBody>
          <a:bodyPr wrap="square">
            <a:spAutoFit/>
          </a:bodyPr>
          <a:lstStyle/>
          <a:p>
            <a:r>
              <a:rPr lang="en-US" sz="1400" b="0" i="0">
                <a:solidFill>
                  <a:srgbClr val="9E9E9E"/>
                </a:solidFill>
                <a:effectLst/>
                <a:latin typeface="Roboto" panose="02000000000000000000" pitchFamily="2" charset="0"/>
              </a:rPr>
              <a:t>"outlawing hacking has not stopped it"</a:t>
            </a:r>
            <a:endParaRPr lang="en-US" sz="1400"/>
          </a:p>
        </p:txBody>
      </p:sp>
      <p:sp>
        <p:nvSpPr>
          <p:cNvPr id="25" name="TextBox 24">
            <a:extLst>
              <a:ext uri="{FF2B5EF4-FFF2-40B4-BE49-F238E27FC236}">
                <a16:creationId xmlns:a16="http://schemas.microsoft.com/office/drawing/2014/main" id="{948C0730-6227-6A7B-2279-9DD30547A5E7}"/>
              </a:ext>
            </a:extLst>
          </p:cNvPr>
          <p:cNvSpPr txBox="1"/>
          <p:nvPr/>
        </p:nvSpPr>
        <p:spPr>
          <a:xfrm>
            <a:off x="698936" y="1870798"/>
            <a:ext cx="6096000" cy="215444"/>
          </a:xfrm>
          <a:prstGeom prst="rect">
            <a:avLst/>
          </a:prstGeom>
          <a:noFill/>
        </p:spPr>
        <p:txBody>
          <a:bodyPr wrap="square">
            <a:spAutoFit/>
          </a:bodyPr>
          <a:lstStyle/>
          <a:p>
            <a:r>
              <a:rPr lang="en-US" sz="800" b="0" i="0">
                <a:solidFill>
                  <a:srgbClr val="BDC1C6"/>
                </a:solidFill>
                <a:effectLst/>
                <a:latin typeface="Roboto" panose="02000000000000000000" pitchFamily="2" charset="0"/>
              </a:rPr>
              <a:t>Definition from </a:t>
            </a:r>
            <a:r>
              <a:rPr lang="en-US" sz="800" b="0" i="0">
                <a:solidFill>
                  <a:srgbClr val="CC2637"/>
                </a:solidFill>
                <a:effectLst/>
                <a:latin typeface="Roboto" panose="02000000000000000000" pitchFamily="2" charset="0"/>
                <a:hlinkClick r:id="rId6">
                  <a:extLst>
                    <a:ext uri="{A12FA001-AC4F-418D-AE19-62706E023703}">
                      <ahyp:hlinkClr xmlns:ahyp="http://schemas.microsoft.com/office/drawing/2018/hyperlinkcolor" val="tx"/>
                    </a:ext>
                  </a:extLst>
                </a:hlinkClick>
              </a:rPr>
              <a:t>Oxford Languages</a:t>
            </a:r>
            <a:endParaRPr lang="en-US" sz="800">
              <a:solidFill>
                <a:srgbClr val="CC2637"/>
              </a:solidFill>
            </a:endParaRPr>
          </a:p>
        </p:txBody>
      </p:sp>
      <p:sp>
        <p:nvSpPr>
          <p:cNvPr id="2" name="Subtitle 2">
            <a:extLst>
              <a:ext uri="{FF2B5EF4-FFF2-40B4-BE49-F238E27FC236}">
                <a16:creationId xmlns:a16="http://schemas.microsoft.com/office/drawing/2014/main" id="{AFF7BFA1-4449-2057-710E-DC953363C3CA}"/>
              </a:ext>
            </a:extLst>
          </p:cNvPr>
          <p:cNvSpPr txBox="1">
            <a:spLocks/>
          </p:cNvSpPr>
          <p:nvPr/>
        </p:nvSpPr>
        <p:spPr>
          <a:xfrm>
            <a:off x="921829" y="3913993"/>
            <a:ext cx="1795979"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Malware</a:t>
            </a:r>
          </a:p>
        </p:txBody>
      </p:sp>
      <p:pic>
        <p:nvPicPr>
          <p:cNvPr id="3" name="Picture 2">
            <a:extLst>
              <a:ext uri="{FF2B5EF4-FFF2-40B4-BE49-F238E27FC236}">
                <a16:creationId xmlns:a16="http://schemas.microsoft.com/office/drawing/2014/main" id="{43E4400B-2D9D-4E4C-5F2B-BFDC542D5983}"/>
              </a:ext>
            </a:extLst>
          </p:cNvPr>
          <p:cNvPicPr>
            <a:picLocks noChangeAspect="1"/>
          </p:cNvPicPr>
          <p:nvPr/>
        </p:nvPicPr>
        <p:blipFill>
          <a:blip r:embed="rId7"/>
          <a:stretch>
            <a:fillRect/>
          </a:stretch>
        </p:blipFill>
        <p:spPr>
          <a:xfrm>
            <a:off x="788479" y="4041920"/>
            <a:ext cx="78362" cy="156011"/>
          </a:xfrm>
          <a:prstGeom prst="rect">
            <a:avLst/>
          </a:prstGeom>
        </p:spPr>
      </p:pic>
      <p:sp>
        <p:nvSpPr>
          <p:cNvPr id="4" name="Subtitle 2">
            <a:extLst>
              <a:ext uri="{FF2B5EF4-FFF2-40B4-BE49-F238E27FC236}">
                <a16:creationId xmlns:a16="http://schemas.microsoft.com/office/drawing/2014/main" id="{D626AF34-4265-EAFA-326A-62DD48096311}"/>
              </a:ext>
            </a:extLst>
          </p:cNvPr>
          <p:cNvSpPr txBox="1">
            <a:spLocks/>
          </p:cNvSpPr>
          <p:nvPr/>
        </p:nvSpPr>
        <p:spPr>
          <a:xfrm>
            <a:off x="921829" y="4328759"/>
            <a:ext cx="1795979"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Phishing</a:t>
            </a:r>
          </a:p>
        </p:txBody>
      </p:sp>
      <p:pic>
        <p:nvPicPr>
          <p:cNvPr id="7" name="Picture 6">
            <a:extLst>
              <a:ext uri="{FF2B5EF4-FFF2-40B4-BE49-F238E27FC236}">
                <a16:creationId xmlns:a16="http://schemas.microsoft.com/office/drawing/2014/main" id="{B25EE086-D11D-A8F3-8B27-0DF970D28AFA}"/>
              </a:ext>
            </a:extLst>
          </p:cNvPr>
          <p:cNvPicPr>
            <a:picLocks noChangeAspect="1"/>
          </p:cNvPicPr>
          <p:nvPr/>
        </p:nvPicPr>
        <p:blipFill>
          <a:blip r:embed="rId7"/>
          <a:stretch>
            <a:fillRect/>
          </a:stretch>
        </p:blipFill>
        <p:spPr>
          <a:xfrm>
            <a:off x="788479" y="4456686"/>
            <a:ext cx="78362" cy="156011"/>
          </a:xfrm>
          <a:prstGeom prst="rect">
            <a:avLst/>
          </a:prstGeom>
        </p:spPr>
      </p:pic>
      <p:sp>
        <p:nvSpPr>
          <p:cNvPr id="10" name="Subtitle 2">
            <a:extLst>
              <a:ext uri="{FF2B5EF4-FFF2-40B4-BE49-F238E27FC236}">
                <a16:creationId xmlns:a16="http://schemas.microsoft.com/office/drawing/2014/main" id="{F1B35D83-84B1-3188-A0F3-E721B869B75C}"/>
              </a:ext>
            </a:extLst>
          </p:cNvPr>
          <p:cNvSpPr txBox="1">
            <a:spLocks/>
          </p:cNvSpPr>
          <p:nvPr/>
        </p:nvSpPr>
        <p:spPr>
          <a:xfrm>
            <a:off x="921829" y="4793960"/>
            <a:ext cx="2867541"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Social Engineering..?</a:t>
            </a:r>
          </a:p>
        </p:txBody>
      </p:sp>
      <p:pic>
        <p:nvPicPr>
          <p:cNvPr id="11" name="Picture 10">
            <a:extLst>
              <a:ext uri="{FF2B5EF4-FFF2-40B4-BE49-F238E27FC236}">
                <a16:creationId xmlns:a16="http://schemas.microsoft.com/office/drawing/2014/main" id="{C4AC56C3-0018-A1DF-0296-1AA9A492BB88}"/>
              </a:ext>
            </a:extLst>
          </p:cNvPr>
          <p:cNvPicPr>
            <a:picLocks noChangeAspect="1"/>
          </p:cNvPicPr>
          <p:nvPr/>
        </p:nvPicPr>
        <p:blipFill>
          <a:blip r:embed="rId7"/>
          <a:stretch>
            <a:fillRect/>
          </a:stretch>
        </p:blipFill>
        <p:spPr>
          <a:xfrm>
            <a:off x="788479" y="4921887"/>
            <a:ext cx="78362" cy="156011"/>
          </a:xfrm>
          <a:prstGeom prst="rect">
            <a:avLst/>
          </a:prstGeom>
        </p:spPr>
      </p:pic>
      <p:pic>
        <p:nvPicPr>
          <p:cNvPr id="15" name="Picture 14">
            <a:extLst>
              <a:ext uri="{FF2B5EF4-FFF2-40B4-BE49-F238E27FC236}">
                <a16:creationId xmlns:a16="http://schemas.microsoft.com/office/drawing/2014/main" id="{3D652ED7-0C64-AA1D-7B9E-3A64EA509D64}"/>
              </a:ext>
            </a:extLst>
          </p:cNvPr>
          <p:cNvPicPr>
            <a:picLocks noChangeAspect="1"/>
          </p:cNvPicPr>
          <p:nvPr/>
        </p:nvPicPr>
        <p:blipFill>
          <a:blip r:embed="rId8"/>
          <a:stretch>
            <a:fillRect/>
          </a:stretch>
        </p:blipFill>
        <p:spPr>
          <a:xfrm>
            <a:off x="9106636" y="5735597"/>
            <a:ext cx="2582428" cy="645607"/>
          </a:xfrm>
          <a:prstGeom prst="rect">
            <a:avLst/>
          </a:prstGeom>
        </p:spPr>
      </p:pic>
    </p:spTree>
    <p:extLst>
      <p:ext uri="{BB962C8B-B14F-4D97-AF65-F5344CB8AC3E}">
        <p14:creationId xmlns:p14="http://schemas.microsoft.com/office/powerpoint/2010/main" val="4105380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14B97881-0832-F96A-48EC-ED4CC7AC5AF3}"/>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E13D8630-1A6E-0C04-8CF2-F4212A91483F}"/>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6DA9FADE-ABE9-96FE-074C-2DE0BE1ED3AB}"/>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EF362ECD-8257-F69B-45B7-BA3F5869623F}"/>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Hacking is </a:t>
            </a:r>
            <a:r>
              <a:rPr lang="en-US">
                <a:solidFill>
                  <a:srgbClr val="CC2637"/>
                </a:solidFill>
                <a:latin typeface="+mn-lt"/>
                <a:cs typeface="Helvetica" panose="020B0604020202020204" pitchFamily="34" charset="0"/>
              </a:rPr>
              <a:t>bad.</a:t>
            </a:r>
          </a:p>
        </p:txBody>
      </p:sp>
      <p:sp>
        <p:nvSpPr>
          <p:cNvPr id="14" name="TextBox 13">
            <a:extLst>
              <a:ext uri="{FF2B5EF4-FFF2-40B4-BE49-F238E27FC236}">
                <a16:creationId xmlns:a16="http://schemas.microsoft.com/office/drawing/2014/main" id="{5A14184D-784D-A50B-CB7B-44E06926646F}"/>
              </a:ext>
            </a:extLst>
          </p:cNvPr>
          <p:cNvSpPr txBox="1"/>
          <p:nvPr/>
        </p:nvSpPr>
        <p:spPr>
          <a:xfrm>
            <a:off x="699785" y="1683025"/>
            <a:ext cx="6692900" cy="830997"/>
          </a:xfrm>
          <a:prstGeom prst="rect">
            <a:avLst/>
          </a:prstGeom>
          <a:noFill/>
        </p:spPr>
        <p:txBody>
          <a:bodyPr wrap="square">
            <a:spAutoFit/>
          </a:bodyPr>
          <a:lstStyle/>
          <a:p>
            <a:r>
              <a:rPr lang="en-US" sz="2400">
                <a:solidFill>
                  <a:schemeClr val="tx2">
                    <a:lumMod val="60000"/>
                    <a:lumOff val="40000"/>
                  </a:schemeClr>
                </a:solidFill>
                <a:latin typeface="Adobe Garamond Pro"/>
              </a:rPr>
              <a:t>Getting hacked is </a:t>
            </a:r>
            <a:r>
              <a:rPr lang="en-US" sz="2400" b="1">
                <a:solidFill>
                  <a:schemeClr val="tx2">
                    <a:lumMod val="60000"/>
                    <a:lumOff val="40000"/>
                  </a:schemeClr>
                </a:solidFill>
                <a:latin typeface="Adobe Garamond Pro"/>
              </a:rPr>
              <a:t>bad</a:t>
            </a:r>
            <a:r>
              <a:rPr lang="en-US" sz="2400">
                <a:solidFill>
                  <a:schemeClr val="tx2">
                    <a:lumMod val="60000"/>
                    <a:lumOff val="40000"/>
                  </a:schemeClr>
                </a:solidFill>
                <a:latin typeface="Adobe Garamond Pro"/>
              </a:rPr>
              <a:t>.</a:t>
            </a:r>
            <a:br>
              <a:rPr lang="en-US" sz="2400">
                <a:solidFill>
                  <a:schemeClr val="tx2">
                    <a:lumMod val="60000"/>
                    <a:lumOff val="40000"/>
                  </a:schemeClr>
                </a:solidFill>
                <a:latin typeface="Adobe Garamond Pro"/>
              </a:rPr>
            </a:br>
            <a:r>
              <a:rPr lang="en-US" sz="2400">
                <a:solidFill>
                  <a:schemeClr val="tx2">
                    <a:lumMod val="60000"/>
                    <a:lumOff val="40000"/>
                  </a:schemeClr>
                </a:solidFill>
                <a:latin typeface="Adobe Garamond Pro"/>
              </a:rPr>
              <a:t>So how do we </a:t>
            </a:r>
            <a:r>
              <a:rPr lang="en-US" sz="2400" b="1">
                <a:solidFill>
                  <a:schemeClr val="tx2">
                    <a:lumMod val="60000"/>
                    <a:lumOff val="40000"/>
                  </a:schemeClr>
                </a:solidFill>
                <a:latin typeface="Adobe Garamond Pro"/>
              </a:rPr>
              <a:t>prevent </a:t>
            </a:r>
            <a:r>
              <a:rPr lang="en-US" sz="2400">
                <a:solidFill>
                  <a:schemeClr val="tx2">
                    <a:lumMod val="60000"/>
                    <a:lumOff val="40000"/>
                  </a:schemeClr>
                </a:solidFill>
                <a:latin typeface="Adobe Garamond Pro"/>
              </a:rPr>
              <a:t>it?</a:t>
            </a:r>
          </a:p>
        </p:txBody>
      </p:sp>
      <p:sp>
        <p:nvSpPr>
          <p:cNvPr id="2" name="Subtitle 2">
            <a:extLst>
              <a:ext uri="{FF2B5EF4-FFF2-40B4-BE49-F238E27FC236}">
                <a16:creationId xmlns:a16="http://schemas.microsoft.com/office/drawing/2014/main" id="{32D9D94F-58B9-A63E-F5D3-8496BBB961A5}"/>
              </a:ext>
            </a:extLst>
          </p:cNvPr>
          <p:cNvSpPr txBox="1">
            <a:spLocks/>
          </p:cNvSpPr>
          <p:nvPr/>
        </p:nvSpPr>
        <p:spPr>
          <a:xfrm>
            <a:off x="897279" y="3211223"/>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Technical Literacy</a:t>
            </a:r>
          </a:p>
        </p:txBody>
      </p:sp>
      <p:pic>
        <p:nvPicPr>
          <p:cNvPr id="3" name="Picture 2">
            <a:extLst>
              <a:ext uri="{FF2B5EF4-FFF2-40B4-BE49-F238E27FC236}">
                <a16:creationId xmlns:a16="http://schemas.microsoft.com/office/drawing/2014/main" id="{1B8F6C11-AF70-4A50-288B-03086C3CF065}"/>
              </a:ext>
            </a:extLst>
          </p:cNvPr>
          <p:cNvPicPr>
            <a:picLocks noChangeAspect="1"/>
          </p:cNvPicPr>
          <p:nvPr/>
        </p:nvPicPr>
        <p:blipFill>
          <a:blip r:embed="rId5"/>
          <a:stretch>
            <a:fillRect/>
          </a:stretch>
        </p:blipFill>
        <p:spPr>
          <a:xfrm>
            <a:off x="763929" y="3339150"/>
            <a:ext cx="78362" cy="156011"/>
          </a:xfrm>
          <a:prstGeom prst="rect">
            <a:avLst/>
          </a:prstGeom>
        </p:spPr>
      </p:pic>
      <p:sp>
        <p:nvSpPr>
          <p:cNvPr id="4" name="Subtitle 2">
            <a:extLst>
              <a:ext uri="{FF2B5EF4-FFF2-40B4-BE49-F238E27FC236}">
                <a16:creationId xmlns:a16="http://schemas.microsoft.com/office/drawing/2014/main" id="{E8F4DC9E-7A7B-9FC4-BE35-1C2A3780C267}"/>
              </a:ext>
            </a:extLst>
          </p:cNvPr>
          <p:cNvSpPr txBox="1">
            <a:spLocks/>
          </p:cNvSpPr>
          <p:nvPr/>
        </p:nvSpPr>
        <p:spPr>
          <a:xfrm>
            <a:off x="897279" y="3625989"/>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Anti-Virus Software</a:t>
            </a:r>
          </a:p>
        </p:txBody>
      </p:sp>
      <p:pic>
        <p:nvPicPr>
          <p:cNvPr id="7" name="Picture 6">
            <a:extLst>
              <a:ext uri="{FF2B5EF4-FFF2-40B4-BE49-F238E27FC236}">
                <a16:creationId xmlns:a16="http://schemas.microsoft.com/office/drawing/2014/main" id="{7A4EC187-5461-1AAF-C4CD-65FCAD867521}"/>
              </a:ext>
            </a:extLst>
          </p:cNvPr>
          <p:cNvPicPr>
            <a:picLocks noChangeAspect="1"/>
          </p:cNvPicPr>
          <p:nvPr/>
        </p:nvPicPr>
        <p:blipFill>
          <a:blip r:embed="rId5"/>
          <a:stretch>
            <a:fillRect/>
          </a:stretch>
        </p:blipFill>
        <p:spPr>
          <a:xfrm>
            <a:off x="763929" y="3753916"/>
            <a:ext cx="78362" cy="156011"/>
          </a:xfrm>
          <a:prstGeom prst="rect">
            <a:avLst/>
          </a:prstGeom>
        </p:spPr>
      </p:pic>
      <p:sp>
        <p:nvSpPr>
          <p:cNvPr id="12" name="Subtitle 2">
            <a:extLst>
              <a:ext uri="{FF2B5EF4-FFF2-40B4-BE49-F238E27FC236}">
                <a16:creationId xmlns:a16="http://schemas.microsoft.com/office/drawing/2014/main" id="{2F25CC6C-2673-61F0-D06D-5808C664BFED}"/>
              </a:ext>
            </a:extLst>
          </p:cNvPr>
          <p:cNvSpPr txBox="1">
            <a:spLocks/>
          </p:cNvSpPr>
          <p:nvPr/>
        </p:nvSpPr>
        <p:spPr>
          <a:xfrm>
            <a:off x="897279" y="2785098"/>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Identify Vulnerabilities</a:t>
            </a:r>
          </a:p>
        </p:txBody>
      </p:sp>
      <p:pic>
        <p:nvPicPr>
          <p:cNvPr id="15" name="Picture 14">
            <a:extLst>
              <a:ext uri="{FF2B5EF4-FFF2-40B4-BE49-F238E27FC236}">
                <a16:creationId xmlns:a16="http://schemas.microsoft.com/office/drawing/2014/main" id="{A130EE62-8F85-409F-51AC-244B886C1DF0}"/>
              </a:ext>
            </a:extLst>
          </p:cNvPr>
          <p:cNvPicPr>
            <a:picLocks noChangeAspect="1"/>
          </p:cNvPicPr>
          <p:nvPr/>
        </p:nvPicPr>
        <p:blipFill>
          <a:blip r:embed="rId5"/>
          <a:stretch>
            <a:fillRect/>
          </a:stretch>
        </p:blipFill>
        <p:spPr>
          <a:xfrm>
            <a:off x="763929" y="2913025"/>
            <a:ext cx="78362" cy="156011"/>
          </a:xfrm>
          <a:prstGeom prst="rect">
            <a:avLst/>
          </a:prstGeom>
        </p:spPr>
      </p:pic>
      <p:sp>
        <p:nvSpPr>
          <p:cNvPr id="16" name="TextBox 15">
            <a:extLst>
              <a:ext uri="{FF2B5EF4-FFF2-40B4-BE49-F238E27FC236}">
                <a16:creationId xmlns:a16="http://schemas.microsoft.com/office/drawing/2014/main" id="{3BBB6080-D85E-4A4E-5B49-C1EE756FB82D}"/>
              </a:ext>
            </a:extLst>
          </p:cNvPr>
          <p:cNvSpPr txBox="1"/>
          <p:nvPr/>
        </p:nvSpPr>
        <p:spPr>
          <a:xfrm>
            <a:off x="699785" y="4168682"/>
            <a:ext cx="6692900" cy="830997"/>
          </a:xfrm>
          <a:prstGeom prst="rect">
            <a:avLst/>
          </a:prstGeom>
          <a:noFill/>
        </p:spPr>
        <p:txBody>
          <a:bodyPr wrap="square">
            <a:spAutoFit/>
          </a:bodyPr>
          <a:lstStyle/>
          <a:p>
            <a:r>
              <a:rPr lang="en-US" sz="2400" b="0" i="0">
                <a:solidFill>
                  <a:schemeClr val="tx2">
                    <a:lumMod val="60000"/>
                    <a:lumOff val="40000"/>
                  </a:schemeClr>
                </a:solidFill>
                <a:effectLst/>
                <a:latin typeface="Adobe Garamond Pro"/>
              </a:rPr>
              <a:t>Anti-Viruses aren’t </a:t>
            </a:r>
            <a:r>
              <a:rPr lang="en-US" sz="2400" b="1" i="0">
                <a:solidFill>
                  <a:schemeClr val="tx2">
                    <a:lumMod val="60000"/>
                    <a:lumOff val="40000"/>
                  </a:schemeClr>
                </a:solidFill>
                <a:effectLst/>
                <a:latin typeface="Adobe Garamond Pro"/>
              </a:rPr>
              <a:t>all-powerful</a:t>
            </a:r>
            <a:r>
              <a:rPr lang="en-US" sz="2400" b="0" i="0">
                <a:solidFill>
                  <a:schemeClr val="tx2">
                    <a:lumMod val="60000"/>
                    <a:lumOff val="40000"/>
                  </a:schemeClr>
                </a:solidFill>
                <a:effectLst/>
                <a:latin typeface="Adobe Garamond Pro"/>
              </a:rPr>
              <a:t>.. </a:t>
            </a:r>
            <a:br>
              <a:rPr lang="en-US" sz="2400" b="0" i="0">
                <a:solidFill>
                  <a:schemeClr val="tx2">
                    <a:lumMod val="60000"/>
                    <a:lumOff val="40000"/>
                  </a:schemeClr>
                </a:solidFill>
                <a:effectLst/>
                <a:latin typeface="Adobe Garamond Pro"/>
              </a:rPr>
            </a:br>
            <a:r>
              <a:rPr lang="en-US" sz="2400" b="0" i="0">
                <a:solidFill>
                  <a:schemeClr val="tx2">
                    <a:lumMod val="60000"/>
                    <a:lumOff val="40000"/>
                  </a:schemeClr>
                </a:solidFill>
                <a:effectLst/>
                <a:latin typeface="Adobe Garamond Pro"/>
              </a:rPr>
              <a:t>How do they work? </a:t>
            </a:r>
            <a:endParaRPr lang="en-US" sz="2400">
              <a:solidFill>
                <a:schemeClr val="tx2">
                  <a:lumMod val="60000"/>
                  <a:lumOff val="40000"/>
                </a:schemeClr>
              </a:solidFill>
              <a:latin typeface="Adobe Garamond Pro"/>
            </a:endParaRPr>
          </a:p>
        </p:txBody>
      </p:sp>
      <p:pic>
        <p:nvPicPr>
          <p:cNvPr id="17" name="Picture 16">
            <a:extLst>
              <a:ext uri="{FF2B5EF4-FFF2-40B4-BE49-F238E27FC236}">
                <a16:creationId xmlns:a16="http://schemas.microsoft.com/office/drawing/2014/main" id="{2056B250-D6C9-02A4-B247-6A1485ECD401}"/>
              </a:ext>
            </a:extLst>
          </p:cNvPr>
          <p:cNvPicPr>
            <a:picLocks noChangeAspect="1"/>
          </p:cNvPicPr>
          <p:nvPr/>
        </p:nvPicPr>
        <p:blipFill>
          <a:blip r:embed="rId6"/>
          <a:stretch>
            <a:fillRect/>
          </a:stretch>
        </p:blipFill>
        <p:spPr>
          <a:xfrm>
            <a:off x="9106636" y="5735597"/>
            <a:ext cx="2582428" cy="645607"/>
          </a:xfrm>
          <a:prstGeom prst="rect">
            <a:avLst/>
          </a:prstGeom>
        </p:spPr>
      </p:pic>
    </p:spTree>
    <p:extLst>
      <p:ext uri="{BB962C8B-B14F-4D97-AF65-F5344CB8AC3E}">
        <p14:creationId xmlns:p14="http://schemas.microsoft.com/office/powerpoint/2010/main" val="1524658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DB93236B-9D2A-4639-8BA8-0138DC9C4C5C}"/>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8C276A78-696B-A45C-0757-0820AF170701}"/>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86E650EA-930A-9F50-0F2E-087E4519133A}"/>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4BE7D482-7D58-BC45-A5A6-507110568D3C}"/>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Anti-Virus Software</a:t>
            </a:r>
          </a:p>
        </p:txBody>
      </p:sp>
      <p:sp>
        <p:nvSpPr>
          <p:cNvPr id="12" name="Subtitle 2">
            <a:extLst>
              <a:ext uri="{FF2B5EF4-FFF2-40B4-BE49-F238E27FC236}">
                <a16:creationId xmlns:a16="http://schemas.microsoft.com/office/drawing/2014/main" id="{C3C11124-BCDF-98C8-042F-76EB7E73E475}"/>
              </a:ext>
            </a:extLst>
          </p:cNvPr>
          <p:cNvSpPr txBox="1">
            <a:spLocks/>
          </p:cNvSpPr>
          <p:nvPr/>
        </p:nvSpPr>
        <p:spPr>
          <a:xfrm>
            <a:off x="893188" y="1647374"/>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Detection</a:t>
            </a:r>
          </a:p>
        </p:txBody>
      </p:sp>
      <p:pic>
        <p:nvPicPr>
          <p:cNvPr id="15" name="Picture 14">
            <a:extLst>
              <a:ext uri="{FF2B5EF4-FFF2-40B4-BE49-F238E27FC236}">
                <a16:creationId xmlns:a16="http://schemas.microsoft.com/office/drawing/2014/main" id="{D7758414-D076-E633-97D6-ADA3818537D7}"/>
              </a:ext>
            </a:extLst>
          </p:cNvPr>
          <p:cNvPicPr>
            <a:picLocks noChangeAspect="1"/>
          </p:cNvPicPr>
          <p:nvPr/>
        </p:nvPicPr>
        <p:blipFill>
          <a:blip r:embed="rId5"/>
          <a:stretch>
            <a:fillRect/>
          </a:stretch>
        </p:blipFill>
        <p:spPr>
          <a:xfrm>
            <a:off x="759838" y="1775301"/>
            <a:ext cx="78362" cy="156011"/>
          </a:xfrm>
          <a:prstGeom prst="rect">
            <a:avLst/>
          </a:prstGeom>
        </p:spPr>
      </p:pic>
      <p:sp>
        <p:nvSpPr>
          <p:cNvPr id="16" name="TextBox 15">
            <a:extLst>
              <a:ext uri="{FF2B5EF4-FFF2-40B4-BE49-F238E27FC236}">
                <a16:creationId xmlns:a16="http://schemas.microsoft.com/office/drawing/2014/main" id="{1CC17478-6229-6439-17A2-BA82A542E8E0}"/>
              </a:ext>
            </a:extLst>
          </p:cNvPr>
          <p:cNvSpPr txBox="1"/>
          <p:nvPr/>
        </p:nvSpPr>
        <p:spPr>
          <a:xfrm>
            <a:off x="893188" y="2023069"/>
            <a:ext cx="10538974" cy="461665"/>
          </a:xfrm>
          <a:prstGeom prst="rect">
            <a:avLst/>
          </a:prstGeom>
          <a:noFill/>
        </p:spPr>
        <p:txBody>
          <a:bodyPr wrap="square">
            <a:spAutoFit/>
          </a:bodyPr>
          <a:lstStyle/>
          <a:p>
            <a:r>
              <a:rPr lang="en-US" sz="2400" b="0" i="0">
                <a:solidFill>
                  <a:schemeClr val="tx2">
                    <a:lumMod val="60000"/>
                    <a:lumOff val="40000"/>
                  </a:schemeClr>
                </a:solidFill>
                <a:effectLst/>
                <a:latin typeface="Adobe Garamond Pro"/>
              </a:rPr>
              <a:t>Anti-Viruses can work either </a:t>
            </a:r>
            <a:r>
              <a:rPr lang="en-US" sz="2400" b="1" i="0">
                <a:solidFill>
                  <a:schemeClr val="tx2">
                    <a:lumMod val="60000"/>
                    <a:lumOff val="40000"/>
                  </a:schemeClr>
                </a:solidFill>
                <a:effectLst/>
                <a:latin typeface="Adobe Garamond Pro"/>
              </a:rPr>
              <a:t>statically</a:t>
            </a:r>
            <a:r>
              <a:rPr lang="en-US" sz="2400" b="0" i="0">
                <a:solidFill>
                  <a:schemeClr val="tx2">
                    <a:lumMod val="60000"/>
                    <a:lumOff val="40000"/>
                  </a:schemeClr>
                </a:solidFill>
                <a:effectLst/>
                <a:latin typeface="Adobe Garamond Pro"/>
              </a:rPr>
              <a:t> (</a:t>
            </a:r>
            <a:r>
              <a:rPr lang="en-US" sz="2400">
                <a:solidFill>
                  <a:schemeClr val="tx2">
                    <a:lumMod val="60000"/>
                    <a:lumOff val="40000"/>
                  </a:schemeClr>
                </a:solidFill>
                <a:latin typeface="Adobe Garamond Pro"/>
              </a:rPr>
              <a:t>passive) </a:t>
            </a:r>
            <a:r>
              <a:rPr lang="en-US" sz="2400" b="0" i="0">
                <a:solidFill>
                  <a:schemeClr val="tx2">
                    <a:lumMod val="60000"/>
                    <a:lumOff val="40000"/>
                  </a:schemeClr>
                </a:solidFill>
                <a:effectLst/>
                <a:latin typeface="Adobe Garamond Pro"/>
              </a:rPr>
              <a:t>or </a:t>
            </a:r>
            <a:r>
              <a:rPr lang="en-US" sz="2400" b="1" i="0">
                <a:solidFill>
                  <a:schemeClr val="tx2">
                    <a:lumMod val="60000"/>
                    <a:lumOff val="40000"/>
                  </a:schemeClr>
                </a:solidFill>
                <a:effectLst/>
                <a:latin typeface="Adobe Garamond Pro"/>
              </a:rPr>
              <a:t>dynamically </a:t>
            </a:r>
            <a:r>
              <a:rPr lang="en-US" sz="2400" i="0">
                <a:solidFill>
                  <a:schemeClr val="tx2">
                    <a:lumMod val="60000"/>
                    <a:lumOff val="40000"/>
                  </a:schemeClr>
                </a:solidFill>
                <a:effectLst/>
                <a:latin typeface="Adobe Garamond Pro"/>
              </a:rPr>
              <a:t>(active)</a:t>
            </a:r>
            <a:r>
              <a:rPr lang="en-US" sz="2400" b="0" i="0">
                <a:solidFill>
                  <a:schemeClr val="tx2">
                    <a:lumMod val="60000"/>
                    <a:lumOff val="40000"/>
                  </a:schemeClr>
                </a:solidFill>
                <a:effectLst/>
                <a:latin typeface="Adobe Garamond Pro"/>
              </a:rPr>
              <a:t>.</a:t>
            </a:r>
            <a:endParaRPr lang="en-US" sz="2400">
              <a:solidFill>
                <a:schemeClr val="tx2">
                  <a:lumMod val="60000"/>
                  <a:lumOff val="40000"/>
                </a:schemeClr>
              </a:solidFill>
              <a:latin typeface="Adobe Garamond Pro"/>
            </a:endParaRPr>
          </a:p>
        </p:txBody>
      </p:sp>
      <p:pic>
        <p:nvPicPr>
          <p:cNvPr id="19" name="Picture 18">
            <a:extLst>
              <a:ext uri="{FF2B5EF4-FFF2-40B4-BE49-F238E27FC236}">
                <a16:creationId xmlns:a16="http://schemas.microsoft.com/office/drawing/2014/main" id="{08663C05-C3D7-92CC-9435-1BB4D85BBFF1}"/>
              </a:ext>
            </a:extLst>
          </p:cNvPr>
          <p:cNvPicPr>
            <a:picLocks noChangeAspect="1"/>
          </p:cNvPicPr>
          <p:nvPr/>
        </p:nvPicPr>
        <p:blipFill>
          <a:blip r:embed="rId6"/>
          <a:stretch>
            <a:fillRect/>
          </a:stretch>
        </p:blipFill>
        <p:spPr>
          <a:xfrm>
            <a:off x="8043288" y="2603864"/>
            <a:ext cx="3883600" cy="2784991"/>
          </a:xfrm>
          <a:prstGeom prst="rect">
            <a:avLst/>
          </a:prstGeom>
          <a:ln>
            <a:solidFill>
              <a:srgbClr val="CC2637"/>
            </a:solidFill>
          </a:ln>
          <a:effectLst>
            <a:outerShdw blurRad="50800" dist="38100" dir="8100000" algn="tr" rotWithShape="0">
              <a:prstClr val="black"/>
            </a:outerShdw>
          </a:effectLst>
        </p:spPr>
      </p:pic>
      <p:sp>
        <p:nvSpPr>
          <p:cNvPr id="20" name="TextBox 19">
            <a:extLst>
              <a:ext uri="{FF2B5EF4-FFF2-40B4-BE49-F238E27FC236}">
                <a16:creationId xmlns:a16="http://schemas.microsoft.com/office/drawing/2014/main" id="{5E0907B8-B691-4CCE-70D2-47E6A116AFE3}"/>
              </a:ext>
            </a:extLst>
          </p:cNvPr>
          <p:cNvSpPr txBox="1"/>
          <p:nvPr/>
        </p:nvSpPr>
        <p:spPr>
          <a:xfrm>
            <a:off x="759838" y="2603864"/>
            <a:ext cx="7088762" cy="2308324"/>
          </a:xfrm>
          <a:prstGeom prst="rect">
            <a:avLst/>
          </a:prstGeom>
          <a:noFill/>
        </p:spPr>
        <p:txBody>
          <a:bodyPr wrap="square">
            <a:spAutoFit/>
          </a:bodyPr>
          <a:lstStyle/>
          <a:p>
            <a:r>
              <a:rPr lang="en-US" sz="2400">
                <a:solidFill>
                  <a:schemeClr val="tx2">
                    <a:lumMod val="60000"/>
                    <a:lumOff val="40000"/>
                  </a:schemeClr>
                </a:solidFill>
                <a:latin typeface="Adobe Garamond Pro"/>
              </a:rPr>
              <a:t>A</a:t>
            </a:r>
            <a:r>
              <a:rPr lang="en-US" sz="2400" b="1">
                <a:solidFill>
                  <a:schemeClr val="tx2">
                    <a:lumMod val="60000"/>
                    <a:lumOff val="40000"/>
                  </a:schemeClr>
                </a:solidFill>
                <a:latin typeface="Adobe Garamond Pro"/>
              </a:rPr>
              <a:t> static </a:t>
            </a:r>
            <a:r>
              <a:rPr lang="en-US" sz="2400">
                <a:solidFill>
                  <a:schemeClr val="tx2">
                    <a:lumMod val="60000"/>
                    <a:lumOff val="40000"/>
                  </a:schemeClr>
                </a:solidFill>
                <a:latin typeface="Adobe Garamond Pro"/>
              </a:rPr>
              <a:t>approach to detecting viruses may be to analyze the </a:t>
            </a:r>
            <a:r>
              <a:rPr lang="en-US" sz="2400" b="1">
                <a:solidFill>
                  <a:schemeClr val="tx2">
                    <a:lumMod val="60000"/>
                    <a:lumOff val="40000"/>
                  </a:schemeClr>
                </a:solidFill>
                <a:latin typeface="Adobe Garamond Pro"/>
              </a:rPr>
              <a:t>binary</a:t>
            </a:r>
            <a:r>
              <a:rPr lang="en-US" sz="2400">
                <a:solidFill>
                  <a:schemeClr val="tx2">
                    <a:lumMod val="60000"/>
                    <a:lumOff val="40000"/>
                  </a:schemeClr>
                </a:solidFill>
                <a:latin typeface="Adobe Garamond Pro"/>
              </a:rPr>
              <a:t> of a file.</a:t>
            </a:r>
          </a:p>
          <a:p>
            <a:endParaRPr lang="en-US" sz="2400">
              <a:solidFill>
                <a:schemeClr val="tx2">
                  <a:lumMod val="60000"/>
                  <a:lumOff val="40000"/>
                </a:schemeClr>
              </a:solidFill>
              <a:latin typeface="Adobe Garamond Pro"/>
            </a:endParaRPr>
          </a:p>
          <a:p>
            <a:r>
              <a:rPr lang="en-US" sz="2400">
                <a:solidFill>
                  <a:schemeClr val="tx2">
                    <a:lumMod val="60000"/>
                    <a:lumOff val="40000"/>
                  </a:schemeClr>
                </a:solidFill>
                <a:latin typeface="Adobe Garamond Pro"/>
              </a:rPr>
              <a:t>Viruses will typically have tell tale signs.</a:t>
            </a:r>
          </a:p>
          <a:p>
            <a:endParaRPr lang="en-US" sz="2400">
              <a:solidFill>
                <a:schemeClr val="tx2">
                  <a:lumMod val="60000"/>
                  <a:lumOff val="40000"/>
                </a:schemeClr>
              </a:solidFill>
              <a:latin typeface="Adobe Garamond Pro"/>
            </a:endParaRPr>
          </a:p>
          <a:p>
            <a:r>
              <a:rPr lang="en-US" sz="2400">
                <a:solidFill>
                  <a:schemeClr val="tx2">
                    <a:lumMod val="60000"/>
                    <a:lumOff val="40000"/>
                  </a:schemeClr>
                </a:solidFill>
                <a:latin typeface="Adobe Garamond Pro"/>
              </a:rPr>
              <a:t>Functions from Kernel32.DLL such as </a:t>
            </a:r>
            <a:r>
              <a:rPr lang="en-US" sz="2400" b="1" err="1">
                <a:solidFill>
                  <a:schemeClr val="tx2">
                    <a:lumMod val="60000"/>
                    <a:lumOff val="40000"/>
                  </a:schemeClr>
                </a:solidFill>
                <a:latin typeface="Adobe Garamond Pro"/>
              </a:rPr>
              <a:t>LoadLibraryA</a:t>
            </a:r>
            <a:r>
              <a:rPr lang="en-US" sz="2400" b="1">
                <a:solidFill>
                  <a:schemeClr val="tx2">
                    <a:lumMod val="60000"/>
                    <a:lumOff val="40000"/>
                  </a:schemeClr>
                </a:solidFill>
                <a:latin typeface="Adobe Garamond Pro"/>
              </a:rPr>
              <a:t>.</a:t>
            </a:r>
          </a:p>
        </p:txBody>
      </p:sp>
      <p:sp>
        <p:nvSpPr>
          <p:cNvPr id="21" name="Rectangle 20">
            <a:extLst>
              <a:ext uri="{FF2B5EF4-FFF2-40B4-BE49-F238E27FC236}">
                <a16:creationId xmlns:a16="http://schemas.microsoft.com/office/drawing/2014/main" id="{D4341F2F-09EC-A961-B389-F1F633604126}"/>
              </a:ext>
            </a:extLst>
          </p:cNvPr>
          <p:cNvSpPr/>
          <p:nvPr/>
        </p:nvSpPr>
        <p:spPr>
          <a:xfrm>
            <a:off x="8055988" y="4721225"/>
            <a:ext cx="2762825" cy="101600"/>
          </a:xfrm>
          <a:prstGeom prst="rect">
            <a:avLst/>
          </a:prstGeom>
          <a:noFill/>
          <a:ln w="6350">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cxnSp>
        <p:nvCxnSpPr>
          <p:cNvPr id="23" name="Straight Arrow Connector 22">
            <a:extLst>
              <a:ext uri="{FF2B5EF4-FFF2-40B4-BE49-F238E27FC236}">
                <a16:creationId xmlns:a16="http://schemas.microsoft.com/office/drawing/2014/main" id="{D5C5A3E9-271B-B00A-6218-2C027E6A0F46}"/>
              </a:ext>
            </a:extLst>
          </p:cNvPr>
          <p:cNvCxnSpPr/>
          <p:nvPr/>
        </p:nvCxnSpPr>
        <p:spPr>
          <a:xfrm flipH="1">
            <a:off x="8981440" y="4277360"/>
            <a:ext cx="137160" cy="386080"/>
          </a:xfrm>
          <a:prstGeom prst="straightConnector1">
            <a:avLst/>
          </a:prstGeom>
          <a:ln>
            <a:solidFill>
              <a:srgbClr val="CC2637"/>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EE23BE5-004B-2755-E316-7BC3A4D200C5}"/>
              </a:ext>
            </a:extLst>
          </p:cNvPr>
          <p:cNvSpPr txBox="1"/>
          <p:nvPr/>
        </p:nvSpPr>
        <p:spPr>
          <a:xfrm>
            <a:off x="9118600" y="4033129"/>
            <a:ext cx="1364476" cy="369332"/>
          </a:xfrm>
          <a:prstGeom prst="rect">
            <a:avLst/>
          </a:prstGeom>
          <a:noFill/>
        </p:spPr>
        <p:txBody>
          <a:bodyPr wrap="none" rtlCol="0">
            <a:spAutoFit/>
          </a:bodyPr>
          <a:lstStyle/>
          <a:p>
            <a:r>
              <a:rPr lang="en-US">
                <a:solidFill>
                  <a:srgbClr val="CC2637"/>
                </a:solidFill>
              </a:rPr>
              <a:t>MALICIOUS?</a:t>
            </a:r>
          </a:p>
        </p:txBody>
      </p:sp>
      <p:pic>
        <p:nvPicPr>
          <p:cNvPr id="25" name="Picture 24">
            <a:extLst>
              <a:ext uri="{FF2B5EF4-FFF2-40B4-BE49-F238E27FC236}">
                <a16:creationId xmlns:a16="http://schemas.microsoft.com/office/drawing/2014/main" id="{721459D1-78FE-DC5C-E031-2DABE6D1DA6B}"/>
              </a:ext>
            </a:extLst>
          </p:cNvPr>
          <p:cNvPicPr>
            <a:picLocks noChangeAspect="1"/>
          </p:cNvPicPr>
          <p:nvPr/>
        </p:nvPicPr>
        <p:blipFill>
          <a:blip r:embed="rId7"/>
          <a:stretch>
            <a:fillRect/>
          </a:stretch>
        </p:blipFill>
        <p:spPr>
          <a:xfrm>
            <a:off x="9106636" y="5735597"/>
            <a:ext cx="2582428" cy="645607"/>
          </a:xfrm>
          <a:prstGeom prst="rect">
            <a:avLst/>
          </a:prstGeom>
        </p:spPr>
      </p:pic>
    </p:spTree>
    <p:extLst>
      <p:ext uri="{BB962C8B-B14F-4D97-AF65-F5344CB8AC3E}">
        <p14:creationId xmlns:p14="http://schemas.microsoft.com/office/powerpoint/2010/main" val="281603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052A2412-A217-6823-F293-E6EB686ADE87}"/>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493565B-758E-123C-6557-88BDEADAFBED}"/>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186D84FA-5EF9-4152-4169-8F7CBFE21EFA}"/>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C3DA4E92-0BB0-FD94-B7B5-8A1B9A16D14B}"/>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What is the Kernel..?</a:t>
            </a:r>
          </a:p>
        </p:txBody>
      </p:sp>
      <p:sp>
        <p:nvSpPr>
          <p:cNvPr id="12" name="Subtitle 2">
            <a:extLst>
              <a:ext uri="{FF2B5EF4-FFF2-40B4-BE49-F238E27FC236}">
                <a16:creationId xmlns:a16="http://schemas.microsoft.com/office/drawing/2014/main" id="{081F7592-2D0C-E300-A153-588E6A24DF6D}"/>
              </a:ext>
            </a:extLst>
          </p:cNvPr>
          <p:cNvSpPr txBox="1">
            <a:spLocks/>
          </p:cNvSpPr>
          <p:nvPr/>
        </p:nvSpPr>
        <p:spPr>
          <a:xfrm>
            <a:off x="699785" y="1690687"/>
            <a:ext cx="10654015" cy="376184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The </a:t>
            </a:r>
            <a:r>
              <a:rPr lang="en-US">
                <a:solidFill>
                  <a:schemeClr val="bg1">
                    <a:lumMod val="75000"/>
                  </a:schemeClr>
                </a:solidFill>
              </a:rPr>
              <a:t>administrator</a:t>
            </a:r>
            <a:r>
              <a:rPr lang="en-US" b="0">
                <a:solidFill>
                  <a:schemeClr val="bg1">
                    <a:lumMod val="75000"/>
                  </a:schemeClr>
                </a:solidFill>
              </a:rPr>
              <a:t> of the computer.</a:t>
            </a:r>
          </a:p>
          <a:p>
            <a:r>
              <a:rPr lang="en-US" b="0">
                <a:solidFill>
                  <a:schemeClr val="bg1">
                    <a:lumMod val="75000"/>
                  </a:schemeClr>
                </a:solidFill>
              </a:rPr>
              <a:t>It has control over the everything in the device.</a:t>
            </a:r>
          </a:p>
          <a:p>
            <a:endParaRPr lang="en-US" b="0">
              <a:solidFill>
                <a:schemeClr val="bg1">
                  <a:lumMod val="75000"/>
                </a:schemeClr>
              </a:solidFill>
            </a:endParaRPr>
          </a:p>
          <a:p>
            <a:r>
              <a:rPr lang="en-US" b="0">
                <a:solidFill>
                  <a:schemeClr val="bg1">
                    <a:lumMod val="75000"/>
                  </a:schemeClr>
                </a:solidFill>
              </a:rPr>
              <a:t>Provides an interface for software to interact </a:t>
            </a:r>
          </a:p>
          <a:p>
            <a:r>
              <a:rPr lang="en-US" b="0">
                <a:solidFill>
                  <a:schemeClr val="bg1">
                    <a:lumMod val="75000"/>
                  </a:schemeClr>
                </a:solidFill>
              </a:rPr>
              <a:t>with the machine via functions in various DLL files.</a:t>
            </a:r>
          </a:p>
          <a:p>
            <a:endParaRPr lang="en-US" b="0">
              <a:solidFill>
                <a:schemeClr val="bg1">
                  <a:lumMod val="75000"/>
                </a:schemeClr>
              </a:solidFill>
            </a:endParaRPr>
          </a:p>
          <a:p>
            <a:r>
              <a:rPr lang="en-US" b="0">
                <a:solidFill>
                  <a:schemeClr val="bg1">
                    <a:lumMod val="75000"/>
                  </a:schemeClr>
                </a:solidFill>
              </a:rPr>
              <a:t>This means that </a:t>
            </a:r>
            <a:r>
              <a:rPr lang="en-US">
                <a:solidFill>
                  <a:schemeClr val="bg1">
                    <a:lumMod val="75000"/>
                  </a:schemeClr>
                </a:solidFill>
              </a:rPr>
              <a:t>ALL </a:t>
            </a:r>
            <a:r>
              <a:rPr lang="en-US" b="0">
                <a:solidFill>
                  <a:schemeClr val="bg1">
                    <a:lumMod val="75000"/>
                  </a:schemeClr>
                </a:solidFill>
              </a:rPr>
              <a:t>information goes through</a:t>
            </a:r>
          </a:p>
          <a:p>
            <a:r>
              <a:rPr lang="en-US" b="0">
                <a:solidFill>
                  <a:schemeClr val="bg1">
                    <a:lumMod val="75000"/>
                  </a:schemeClr>
                </a:solidFill>
              </a:rPr>
              <a:t>the kernel without exception.</a:t>
            </a:r>
          </a:p>
          <a:p>
            <a:endParaRPr lang="en-US" b="0">
              <a:solidFill>
                <a:schemeClr val="bg1">
                  <a:lumMod val="75000"/>
                </a:schemeClr>
              </a:solidFill>
            </a:endParaRPr>
          </a:p>
          <a:p>
            <a:endParaRPr lang="en-US" b="0">
              <a:solidFill>
                <a:schemeClr val="bg1">
                  <a:lumMod val="75000"/>
                </a:schemeClr>
              </a:solidFill>
            </a:endParaRPr>
          </a:p>
          <a:p>
            <a:endParaRPr lang="en-US" b="0">
              <a:solidFill>
                <a:schemeClr val="bg1">
                  <a:lumMod val="75000"/>
                </a:schemeClr>
              </a:solidFill>
            </a:endParaRPr>
          </a:p>
          <a:p>
            <a:endParaRPr lang="en-US" b="0">
              <a:solidFill>
                <a:schemeClr val="bg1">
                  <a:lumMod val="75000"/>
                </a:schemeClr>
              </a:solidFill>
            </a:endParaRPr>
          </a:p>
          <a:p>
            <a:endParaRPr lang="en-US" b="0">
              <a:solidFill>
                <a:schemeClr val="bg1">
                  <a:lumMod val="75000"/>
                </a:schemeClr>
              </a:solidFill>
            </a:endParaRPr>
          </a:p>
        </p:txBody>
      </p:sp>
      <p:pic>
        <p:nvPicPr>
          <p:cNvPr id="25" name="Picture 24">
            <a:extLst>
              <a:ext uri="{FF2B5EF4-FFF2-40B4-BE49-F238E27FC236}">
                <a16:creationId xmlns:a16="http://schemas.microsoft.com/office/drawing/2014/main" id="{D3E41547-C917-87B9-047C-C4B38235DCC2}"/>
              </a:ext>
            </a:extLst>
          </p:cNvPr>
          <p:cNvPicPr>
            <a:picLocks noChangeAspect="1"/>
          </p:cNvPicPr>
          <p:nvPr/>
        </p:nvPicPr>
        <p:blipFill>
          <a:blip r:embed="rId5"/>
          <a:stretch>
            <a:fillRect/>
          </a:stretch>
        </p:blipFill>
        <p:spPr>
          <a:xfrm>
            <a:off x="9106636" y="5735597"/>
            <a:ext cx="2582428" cy="645607"/>
          </a:xfrm>
          <a:prstGeom prst="rect">
            <a:avLst/>
          </a:prstGeom>
        </p:spPr>
      </p:pic>
      <p:sp>
        <p:nvSpPr>
          <p:cNvPr id="22" name="Rectangle 21">
            <a:extLst>
              <a:ext uri="{FF2B5EF4-FFF2-40B4-BE49-F238E27FC236}">
                <a16:creationId xmlns:a16="http://schemas.microsoft.com/office/drawing/2014/main" id="{EA83E59E-3B23-608D-5539-AD048623FC55}"/>
              </a:ext>
            </a:extLst>
          </p:cNvPr>
          <p:cNvSpPr/>
          <p:nvPr/>
        </p:nvSpPr>
        <p:spPr>
          <a:xfrm>
            <a:off x="7449193" y="2051144"/>
            <a:ext cx="4239871" cy="83820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t>Applications</a:t>
            </a:r>
          </a:p>
        </p:txBody>
      </p:sp>
      <p:sp>
        <p:nvSpPr>
          <p:cNvPr id="27" name="Rectangle 26">
            <a:extLst>
              <a:ext uri="{FF2B5EF4-FFF2-40B4-BE49-F238E27FC236}">
                <a16:creationId xmlns:a16="http://schemas.microsoft.com/office/drawing/2014/main" id="{9ABC6F9E-599F-969B-2666-EDE8BF5EED1A}"/>
              </a:ext>
            </a:extLst>
          </p:cNvPr>
          <p:cNvSpPr/>
          <p:nvPr/>
        </p:nvSpPr>
        <p:spPr>
          <a:xfrm>
            <a:off x="7449193" y="2980876"/>
            <a:ext cx="4239871" cy="83820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t>Kernel</a:t>
            </a:r>
          </a:p>
        </p:txBody>
      </p:sp>
      <p:sp>
        <p:nvSpPr>
          <p:cNvPr id="28" name="Rectangle 27">
            <a:extLst>
              <a:ext uri="{FF2B5EF4-FFF2-40B4-BE49-F238E27FC236}">
                <a16:creationId xmlns:a16="http://schemas.microsoft.com/office/drawing/2014/main" id="{DDFD2022-B7EF-240D-0397-E816D7B6B668}"/>
              </a:ext>
            </a:extLst>
          </p:cNvPr>
          <p:cNvSpPr/>
          <p:nvPr/>
        </p:nvSpPr>
        <p:spPr>
          <a:xfrm>
            <a:off x="7449192" y="3921337"/>
            <a:ext cx="1318023" cy="83820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CPU</a:t>
            </a:r>
          </a:p>
        </p:txBody>
      </p:sp>
      <p:sp>
        <p:nvSpPr>
          <p:cNvPr id="29" name="Rectangle 28">
            <a:extLst>
              <a:ext uri="{FF2B5EF4-FFF2-40B4-BE49-F238E27FC236}">
                <a16:creationId xmlns:a16="http://schemas.microsoft.com/office/drawing/2014/main" id="{8C4EB3AD-3EB6-0610-19B9-1F80F30DCD00}"/>
              </a:ext>
            </a:extLst>
          </p:cNvPr>
          <p:cNvSpPr/>
          <p:nvPr/>
        </p:nvSpPr>
        <p:spPr>
          <a:xfrm>
            <a:off x="8910116" y="3921337"/>
            <a:ext cx="1318023" cy="83820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Memory</a:t>
            </a:r>
          </a:p>
        </p:txBody>
      </p:sp>
      <p:sp>
        <p:nvSpPr>
          <p:cNvPr id="30" name="Rectangle 29">
            <a:extLst>
              <a:ext uri="{FF2B5EF4-FFF2-40B4-BE49-F238E27FC236}">
                <a16:creationId xmlns:a16="http://schemas.microsoft.com/office/drawing/2014/main" id="{31FAF342-9432-B9BB-44F6-0436AF910699}"/>
              </a:ext>
            </a:extLst>
          </p:cNvPr>
          <p:cNvSpPr/>
          <p:nvPr/>
        </p:nvSpPr>
        <p:spPr>
          <a:xfrm>
            <a:off x="10371041" y="3921337"/>
            <a:ext cx="1318023" cy="83820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Devices</a:t>
            </a:r>
          </a:p>
        </p:txBody>
      </p:sp>
      <p:cxnSp>
        <p:nvCxnSpPr>
          <p:cNvPr id="32" name="Straight Arrow Connector 31">
            <a:extLst>
              <a:ext uri="{FF2B5EF4-FFF2-40B4-BE49-F238E27FC236}">
                <a16:creationId xmlns:a16="http://schemas.microsoft.com/office/drawing/2014/main" id="{BB233067-5518-71B6-DB26-938701BAD438}"/>
              </a:ext>
            </a:extLst>
          </p:cNvPr>
          <p:cNvCxnSpPr/>
          <p:nvPr/>
        </p:nvCxnSpPr>
        <p:spPr>
          <a:xfrm>
            <a:off x="9569127" y="2760743"/>
            <a:ext cx="0" cy="440266"/>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B954D33-7F3E-E418-3F7F-B5F874419EF8}"/>
              </a:ext>
            </a:extLst>
          </p:cNvPr>
          <p:cNvCxnSpPr/>
          <p:nvPr/>
        </p:nvCxnSpPr>
        <p:spPr>
          <a:xfrm>
            <a:off x="8108203" y="3641277"/>
            <a:ext cx="0" cy="440266"/>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32FB44-6F7E-6F92-FD00-B017B13B3CF6}"/>
              </a:ext>
            </a:extLst>
          </p:cNvPr>
          <p:cNvCxnSpPr/>
          <p:nvPr/>
        </p:nvCxnSpPr>
        <p:spPr>
          <a:xfrm>
            <a:off x="9569127" y="3649744"/>
            <a:ext cx="0" cy="440266"/>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B25FEDF-B377-010D-BA1B-3767FDDF3AE2}"/>
              </a:ext>
            </a:extLst>
          </p:cNvPr>
          <p:cNvCxnSpPr/>
          <p:nvPr/>
        </p:nvCxnSpPr>
        <p:spPr>
          <a:xfrm>
            <a:off x="11065307" y="3649744"/>
            <a:ext cx="0" cy="440266"/>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4F9D1A1-C6F4-8148-90F7-DB12323BD238}"/>
              </a:ext>
            </a:extLst>
          </p:cNvPr>
          <p:cNvSpPr txBox="1"/>
          <p:nvPr/>
        </p:nvSpPr>
        <p:spPr>
          <a:xfrm>
            <a:off x="7364526" y="4891334"/>
            <a:ext cx="4239871" cy="222202"/>
          </a:xfrm>
          <a:prstGeom prst="rect">
            <a:avLst/>
          </a:prstGeom>
          <a:noFill/>
        </p:spPr>
        <p:txBody>
          <a:bodyPr wrap="square">
            <a:spAutoFit/>
          </a:bodyPr>
          <a:lstStyle/>
          <a:p>
            <a:r>
              <a:rPr lang="en-US" sz="800" b="0" i="0">
                <a:solidFill>
                  <a:srgbClr val="BDC1C6"/>
                </a:solidFill>
                <a:effectLst/>
                <a:latin typeface="Roboto" panose="02000000000000000000" pitchFamily="2" charset="0"/>
              </a:rPr>
              <a:t>Diagram inspired from </a:t>
            </a:r>
            <a:r>
              <a:rPr lang="en-US" sz="800" b="0" i="0">
                <a:solidFill>
                  <a:srgbClr val="CC2637"/>
                </a:solidFill>
                <a:effectLst/>
                <a:latin typeface="Roboto" panose="02000000000000000000" pitchFamily="2" charset="0"/>
                <a:hlinkClick r:id="rId6">
                  <a:extLst>
                    <a:ext uri="{A12FA001-AC4F-418D-AE19-62706E023703}">
                      <ahyp:hlinkClr xmlns:ahyp="http://schemas.microsoft.com/office/drawing/2018/hyperlinkcolor" val="tx"/>
                    </a:ext>
                  </a:extLst>
                </a:hlinkClick>
              </a:rPr>
              <a:t>Wikipedia</a:t>
            </a:r>
            <a:r>
              <a:rPr lang="en-US" sz="800" b="0" i="0">
                <a:solidFill>
                  <a:srgbClr val="BDC1C6"/>
                </a:solidFill>
                <a:effectLst/>
                <a:latin typeface="Roboto" panose="02000000000000000000" pitchFamily="2" charset="0"/>
              </a:rPr>
              <a:t>.</a:t>
            </a:r>
            <a:endParaRPr lang="en-US" sz="800">
              <a:solidFill>
                <a:srgbClr val="CC2637"/>
              </a:solidFill>
            </a:endParaRPr>
          </a:p>
        </p:txBody>
      </p:sp>
    </p:spTree>
    <p:extLst>
      <p:ext uri="{BB962C8B-B14F-4D97-AF65-F5344CB8AC3E}">
        <p14:creationId xmlns:p14="http://schemas.microsoft.com/office/powerpoint/2010/main" val="4032464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905CDFF6-8DCB-0C22-271F-65B1F442D61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155DECC-40A5-5F12-A387-2EDABC9C7277}"/>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AD42E14E-C50C-FDB9-895F-4FAC66046E9E}"/>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6C44DCD7-64A3-3D55-3695-E6124D04CE2C}"/>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Anti-Virus Software</a:t>
            </a:r>
          </a:p>
        </p:txBody>
      </p:sp>
      <p:sp>
        <p:nvSpPr>
          <p:cNvPr id="12" name="Subtitle 2">
            <a:extLst>
              <a:ext uri="{FF2B5EF4-FFF2-40B4-BE49-F238E27FC236}">
                <a16:creationId xmlns:a16="http://schemas.microsoft.com/office/drawing/2014/main" id="{F1DAE5BA-F5FD-9EC2-A955-0B2A71F4FB60}"/>
              </a:ext>
            </a:extLst>
          </p:cNvPr>
          <p:cNvSpPr txBox="1">
            <a:spLocks/>
          </p:cNvSpPr>
          <p:nvPr/>
        </p:nvSpPr>
        <p:spPr>
          <a:xfrm>
            <a:off x="893188" y="1647374"/>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Detection (Dynamic)</a:t>
            </a:r>
          </a:p>
        </p:txBody>
      </p:sp>
      <p:pic>
        <p:nvPicPr>
          <p:cNvPr id="15" name="Picture 14">
            <a:extLst>
              <a:ext uri="{FF2B5EF4-FFF2-40B4-BE49-F238E27FC236}">
                <a16:creationId xmlns:a16="http://schemas.microsoft.com/office/drawing/2014/main" id="{23A81EA3-152F-C0AE-1577-D206148DE4D9}"/>
              </a:ext>
            </a:extLst>
          </p:cNvPr>
          <p:cNvPicPr>
            <a:picLocks noChangeAspect="1"/>
          </p:cNvPicPr>
          <p:nvPr/>
        </p:nvPicPr>
        <p:blipFill>
          <a:blip r:embed="rId5"/>
          <a:stretch>
            <a:fillRect/>
          </a:stretch>
        </p:blipFill>
        <p:spPr>
          <a:xfrm>
            <a:off x="759838" y="1775301"/>
            <a:ext cx="78362" cy="156011"/>
          </a:xfrm>
          <a:prstGeom prst="rect">
            <a:avLst/>
          </a:prstGeom>
        </p:spPr>
      </p:pic>
      <p:sp>
        <p:nvSpPr>
          <p:cNvPr id="20" name="TextBox 19">
            <a:extLst>
              <a:ext uri="{FF2B5EF4-FFF2-40B4-BE49-F238E27FC236}">
                <a16:creationId xmlns:a16="http://schemas.microsoft.com/office/drawing/2014/main" id="{A0A651E6-B40A-5B76-B2BB-5F5532A6670C}"/>
              </a:ext>
            </a:extLst>
          </p:cNvPr>
          <p:cNvSpPr txBox="1"/>
          <p:nvPr/>
        </p:nvSpPr>
        <p:spPr>
          <a:xfrm>
            <a:off x="759837" y="2163335"/>
            <a:ext cx="10589871" cy="830997"/>
          </a:xfrm>
          <a:prstGeom prst="rect">
            <a:avLst/>
          </a:prstGeom>
          <a:noFill/>
        </p:spPr>
        <p:txBody>
          <a:bodyPr wrap="square">
            <a:spAutoFit/>
          </a:bodyPr>
          <a:lstStyle/>
          <a:p>
            <a:r>
              <a:rPr lang="en-US" sz="2400">
                <a:solidFill>
                  <a:schemeClr val="tx2">
                    <a:lumMod val="60000"/>
                    <a:lumOff val="40000"/>
                  </a:schemeClr>
                </a:solidFill>
                <a:latin typeface="Adobe Garamond Pro"/>
              </a:rPr>
              <a:t>A </a:t>
            </a:r>
            <a:r>
              <a:rPr lang="en-US" sz="2400" b="1">
                <a:solidFill>
                  <a:schemeClr val="tx2">
                    <a:lumMod val="60000"/>
                    <a:lumOff val="40000"/>
                  </a:schemeClr>
                </a:solidFill>
                <a:latin typeface="Adobe Garamond Pro"/>
              </a:rPr>
              <a:t>dynamic</a:t>
            </a:r>
            <a:r>
              <a:rPr lang="en-US" sz="2400">
                <a:solidFill>
                  <a:schemeClr val="tx2">
                    <a:lumMod val="60000"/>
                    <a:lumOff val="40000"/>
                  </a:schemeClr>
                </a:solidFill>
                <a:latin typeface="Adobe Garamond Pro"/>
              </a:rPr>
              <a:t> approach may involve the </a:t>
            </a:r>
            <a:r>
              <a:rPr lang="en-US" sz="2400" b="1">
                <a:solidFill>
                  <a:schemeClr val="tx2">
                    <a:lumMod val="60000"/>
                    <a:lumOff val="40000"/>
                  </a:schemeClr>
                </a:solidFill>
                <a:latin typeface="Adobe Garamond Pro"/>
              </a:rPr>
              <a:t>Anti-Virus </a:t>
            </a:r>
            <a:r>
              <a:rPr lang="en-US" sz="2400">
                <a:solidFill>
                  <a:schemeClr val="tx2">
                    <a:lumMod val="60000"/>
                    <a:lumOff val="40000"/>
                  </a:schemeClr>
                </a:solidFill>
                <a:latin typeface="Adobe Garamond Pro"/>
              </a:rPr>
              <a:t>scanning active memory on the system, </a:t>
            </a:r>
            <a:r>
              <a:rPr lang="en-US" sz="2400" b="1">
                <a:solidFill>
                  <a:schemeClr val="tx2">
                    <a:lumMod val="60000"/>
                    <a:lumOff val="40000"/>
                  </a:schemeClr>
                </a:solidFill>
                <a:latin typeface="Adobe Garamond Pro"/>
              </a:rPr>
              <a:t>RAM</a:t>
            </a:r>
            <a:r>
              <a:rPr lang="en-US" sz="2400">
                <a:solidFill>
                  <a:schemeClr val="tx2">
                    <a:lumMod val="60000"/>
                    <a:lumOff val="40000"/>
                  </a:schemeClr>
                </a:solidFill>
                <a:latin typeface="Adobe Garamond Pro"/>
              </a:rPr>
              <a:t>. </a:t>
            </a:r>
            <a:endParaRPr lang="en-US" sz="2400" b="1">
              <a:solidFill>
                <a:schemeClr val="tx2">
                  <a:lumMod val="60000"/>
                  <a:lumOff val="40000"/>
                </a:schemeClr>
              </a:solidFill>
              <a:latin typeface="Adobe Garamond Pro"/>
            </a:endParaRPr>
          </a:p>
        </p:txBody>
      </p:sp>
      <p:pic>
        <p:nvPicPr>
          <p:cNvPr id="25" name="Picture 24">
            <a:extLst>
              <a:ext uri="{FF2B5EF4-FFF2-40B4-BE49-F238E27FC236}">
                <a16:creationId xmlns:a16="http://schemas.microsoft.com/office/drawing/2014/main" id="{612BED12-4D3B-B844-C76A-8A379FB99DDC}"/>
              </a:ext>
            </a:extLst>
          </p:cNvPr>
          <p:cNvPicPr>
            <a:picLocks noChangeAspect="1"/>
          </p:cNvPicPr>
          <p:nvPr/>
        </p:nvPicPr>
        <p:blipFill>
          <a:blip r:embed="rId6"/>
          <a:stretch>
            <a:fillRect/>
          </a:stretch>
        </p:blipFill>
        <p:spPr>
          <a:xfrm>
            <a:off x="9106636" y="5735597"/>
            <a:ext cx="2582428" cy="645607"/>
          </a:xfrm>
          <a:prstGeom prst="rect">
            <a:avLst/>
          </a:prstGeom>
        </p:spPr>
      </p:pic>
      <p:pic>
        <p:nvPicPr>
          <p:cNvPr id="6" name="Picture 5">
            <a:extLst>
              <a:ext uri="{FF2B5EF4-FFF2-40B4-BE49-F238E27FC236}">
                <a16:creationId xmlns:a16="http://schemas.microsoft.com/office/drawing/2014/main" id="{6E55C13A-6C3E-CA13-1391-7478C9B85396}"/>
              </a:ext>
            </a:extLst>
          </p:cNvPr>
          <p:cNvPicPr>
            <a:picLocks noChangeAspect="1"/>
          </p:cNvPicPr>
          <p:nvPr/>
        </p:nvPicPr>
        <p:blipFill>
          <a:blip r:embed="rId7"/>
          <a:stretch>
            <a:fillRect/>
          </a:stretch>
        </p:blipFill>
        <p:spPr>
          <a:xfrm>
            <a:off x="893188" y="3164752"/>
            <a:ext cx="5302523" cy="1200212"/>
          </a:xfrm>
          <a:prstGeom prst="rect">
            <a:avLst/>
          </a:prstGeom>
          <a:ln>
            <a:solidFill>
              <a:srgbClr val="CC2637"/>
            </a:solidFill>
          </a:ln>
          <a:effectLst>
            <a:outerShdw blurRad="50800" dist="38100" dir="5400000" algn="t" rotWithShape="0">
              <a:prstClr val="black">
                <a:alpha val="40000"/>
              </a:prstClr>
            </a:outerShdw>
          </a:effectLst>
        </p:spPr>
      </p:pic>
      <p:sp>
        <p:nvSpPr>
          <p:cNvPr id="7" name="Rectangle: Rounded Corners 6">
            <a:extLst>
              <a:ext uri="{FF2B5EF4-FFF2-40B4-BE49-F238E27FC236}">
                <a16:creationId xmlns:a16="http://schemas.microsoft.com/office/drawing/2014/main" id="{236478B8-0A34-0101-4A13-E094595A79DA}"/>
              </a:ext>
            </a:extLst>
          </p:cNvPr>
          <p:cNvSpPr/>
          <p:nvPr/>
        </p:nvSpPr>
        <p:spPr>
          <a:xfrm>
            <a:off x="3073399" y="3258637"/>
            <a:ext cx="1329267" cy="595814"/>
          </a:xfrm>
          <a:prstGeom prst="roundRect">
            <a:avLst/>
          </a:prstGeom>
          <a:no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87028E8-08AD-84CB-9488-5C17B72D06F6}"/>
              </a:ext>
            </a:extLst>
          </p:cNvPr>
          <p:cNvCxnSpPr>
            <a:stCxn id="7" idx="3"/>
          </p:cNvCxnSpPr>
          <p:nvPr/>
        </p:nvCxnSpPr>
        <p:spPr>
          <a:xfrm flipV="1">
            <a:off x="4402666" y="3164752"/>
            <a:ext cx="2067984" cy="391792"/>
          </a:xfrm>
          <a:prstGeom prst="line">
            <a:avLst/>
          </a:prstGeom>
          <a:ln>
            <a:solidFill>
              <a:srgbClr val="CC2637"/>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128C3FD-105D-7184-71AF-7B03A63A5CB1}"/>
              </a:ext>
            </a:extLst>
          </p:cNvPr>
          <p:cNvSpPr txBox="1"/>
          <p:nvPr/>
        </p:nvSpPr>
        <p:spPr>
          <a:xfrm>
            <a:off x="6470650" y="2958620"/>
            <a:ext cx="4258217" cy="1200329"/>
          </a:xfrm>
          <a:prstGeom prst="rect">
            <a:avLst/>
          </a:prstGeom>
          <a:noFill/>
        </p:spPr>
        <p:txBody>
          <a:bodyPr wrap="none" rtlCol="0">
            <a:spAutoFit/>
          </a:bodyPr>
          <a:lstStyle/>
          <a:p>
            <a:r>
              <a:rPr lang="en-US">
                <a:solidFill>
                  <a:srgbClr val="CC2637"/>
                </a:solidFill>
              </a:rPr>
              <a:t>CD 21 B8 ?? ?? ?? ?? 54. </a:t>
            </a:r>
            <a:br>
              <a:rPr lang="en-US">
                <a:solidFill>
                  <a:srgbClr val="CC2637"/>
                </a:solidFill>
              </a:rPr>
            </a:br>
            <a:r>
              <a:rPr lang="en-US">
                <a:solidFill>
                  <a:srgbClr val="CC2637"/>
                </a:solidFill>
              </a:rPr>
              <a:t>Array of Bytes (AOB) or “Pattern”</a:t>
            </a:r>
          </a:p>
          <a:p>
            <a:br>
              <a:rPr lang="en-US">
                <a:solidFill>
                  <a:srgbClr val="CC2637"/>
                </a:solidFill>
              </a:rPr>
            </a:br>
            <a:r>
              <a:rPr lang="en-US">
                <a:solidFill>
                  <a:srgbClr val="CC2637"/>
                </a:solidFill>
              </a:rPr>
              <a:t>(Addresses are replaced with ‘wild-cards’)</a:t>
            </a:r>
          </a:p>
        </p:txBody>
      </p:sp>
      <p:sp>
        <p:nvSpPr>
          <p:cNvPr id="11" name="TextBox 10">
            <a:extLst>
              <a:ext uri="{FF2B5EF4-FFF2-40B4-BE49-F238E27FC236}">
                <a16:creationId xmlns:a16="http://schemas.microsoft.com/office/drawing/2014/main" id="{4033D0C1-89C7-93BC-A9D2-E5406875DBBF}"/>
              </a:ext>
            </a:extLst>
          </p:cNvPr>
          <p:cNvSpPr txBox="1"/>
          <p:nvPr/>
        </p:nvSpPr>
        <p:spPr>
          <a:xfrm>
            <a:off x="799019" y="4511190"/>
            <a:ext cx="10589871" cy="830997"/>
          </a:xfrm>
          <a:prstGeom prst="rect">
            <a:avLst/>
          </a:prstGeom>
          <a:noFill/>
        </p:spPr>
        <p:txBody>
          <a:bodyPr wrap="square">
            <a:spAutoFit/>
          </a:bodyPr>
          <a:lstStyle/>
          <a:p>
            <a:r>
              <a:rPr lang="en-US" sz="2400">
                <a:solidFill>
                  <a:schemeClr val="tx2">
                    <a:lumMod val="60000"/>
                    <a:lumOff val="40000"/>
                  </a:schemeClr>
                </a:solidFill>
                <a:latin typeface="Adobe Garamond Pro"/>
              </a:rPr>
              <a:t>AOB are compared to a database, and suspicious behavior of files is </a:t>
            </a:r>
            <a:r>
              <a:rPr lang="en-US" sz="2400" b="1">
                <a:solidFill>
                  <a:schemeClr val="tx2">
                    <a:lumMod val="60000"/>
                    <a:lumOff val="40000"/>
                  </a:schemeClr>
                </a:solidFill>
                <a:latin typeface="Adobe Garamond Pro"/>
              </a:rPr>
              <a:t>blocked</a:t>
            </a:r>
            <a:r>
              <a:rPr lang="en-US" sz="2400">
                <a:solidFill>
                  <a:schemeClr val="tx2">
                    <a:lumMod val="60000"/>
                    <a:lumOff val="40000"/>
                  </a:schemeClr>
                </a:solidFill>
                <a:latin typeface="Adobe Garamond Pro"/>
              </a:rPr>
              <a:t> from executing on the machine.</a:t>
            </a:r>
            <a:endParaRPr lang="en-US" sz="2400" b="1">
              <a:solidFill>
                <a:schemeClr val="tx2">
                  <a:lumMod val="60000"/>
                  <a:lumOff val="40000"/>
                </a:schemeClr>
              </a:solidFill>
              <a:latin typeface="Adobe Garamond Pro"/>
            </a:endParaRPr>
          </a:p>
        </p:txBody>
      </p:sp>
    </p:spTree>
    <p:extLst>
      <p:ext uri="{BB962C8B-B14F-4D97-AF65-F5344CB8AC3E}">
        <p14:creationId xmlns:p14="http://schemas.microsoft.com/office/powerpoint/2010/main" val="2372602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A6D12551-384E-445F-50FB-438B834AB6B0}"/>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EE6CD7D-B2F0-3F39-3A2C-D17F62F994C3}"/>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5E08618E-9BD4-B02A-1AC2-5C659BD9231C}"/>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93228315-F7D8-3201-71BF-42561B3A9F85}"/>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Anti-Virus Software</a:t>
            </a:r>
          </a:p>
        </p:txBody>
      </p:sp>
      <p:sp>
        <p:nvSpPr>
          <p:cNvPr id="12" name="Subtitle 2">
            <a:extLst>
              <a:ext uri="{FF2B5EF4-FFF2-40B4-BE49-F238E27FC236}">
                <a16:creationId xmlns:a16="http://schemas.microsoft.com/office/drawing/2014/main" id="{8E10BE1B-AECC-D964-1C1F-E5F5E2392AC1}"/>
              </a:ext>
            </a:extLst>
          </p:cNvPr>
          <p:cNvSpPr txBox="1">
            <a:spLocks/>
          </p:cNvSpPr>
          <p:nvPr/>
        </p:nvSpPr>
        <p:spPr>
          <a:xfrm>
            <a:off x="893188" y="1647374"/>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Prevention</a:t>
            </a:r>
          </a:p>
        </p:txBody>
      </p:sp>
      <p:pic>
        <p:nvPicPr>
          <p:cNvPr id="15" name="Picture 14">
            <a:extLst>
              <a:ext uri="{FF2B5EF4-FFF2-40B4-BE49-F238E27FC236}">
                <a16:creationId xmlns:a16="http://schemas.microsoft.com/office/drawing/2014/main" id="{DDD6EB57-25FF-485C-6C2E-86CEFDEC147F}"/>
              </a:ext>
            </a:extLst>
          </p:cNvPr>
          <p:cNvPicPr>
            <a:picLocks noChangeAspect="1"/>
          </p:cNvPicPr>
          <p:nvPr/>
        </p:nvPicPr>
        <p:blipFill>
          <a:blip r:embed="rId5"/>
          <a:stretch>
            <a:fillRect/>
          </a:stretch>
        </p:blipFill>
        <p:spPr>
          <a:xfrm>
            <a:off x="759838" y="1775301"/>
            <a:ext cx="78362" cy="156011"/>
          </a:xfrm>
          <a:prstGeom prst="rect">
            <a:avLst/>
          </a:prstGeom>
        </p:spPr>
      </p:pic>
      <p:sp>
        <p:nvSpPr>
          <p:cNvPr id="20" name="TextBox 19">
            <a:extLst>
              <a:ext uri="{FF2B5EF4-FFF2-40B4-BE49-F238E27FC236}">
                <a16:creationId xmlns:a16="http://schemas.microsoft.com/office/drawing/2014/main" id="{5EA5B12C-9E80-4F6E-28C8-3E6047CF1AFA}"/>
              </a:ext>
            </a:extLst>
          </p:cNvPr>
          <p:cNvSpPr txBox="1"/>
          <p:nvPr/>
        </p:nvSpPr>
        <p:spPr>
          <a:xfrm>
            <a:off x="759837" y="2163335"/>
            <a:ext cx="10589871" cy="830997"/>
          </a:xfrm>
          <a:prstGeom prst="rect">
            <a:avLst/>
          </a:prstGeom>
          <a:noFill/>
        </p:spPr>
        <p:txBody>
          <a:bodyPr wrap="square">
            <a:spAutoFit/>
          </a:bodyPr>
          <a:lstStyle/>
          <a:p>
            <a:r>
              <a:rPr lang="en-US" sz="2400">
                <a:solidFill>
                  <a:schemeClr val="tx2">
                    <a:lumMod val="60000"/>
                    <a:lumOff val="40000"/>
                  </a:schemeClr>
                </a:solidFill>
                <a:latin typeface="Adobe Garamond Pro"/>
              </a:rPr>
              <a:t>Upon downloading a file, a </a:t>
            </a:r>
            <a:r>
              <a:rPr lang="en-US" sz="2400" b="1">
                <a:solidFill>
                  <a:schemeClr val="tx2">
                    <a:lumMod val="60000"/>
                    <a:lumOff val="40000"/>
                  </a:schemeClr>
                </a:solidFill>
                <a:latin typeface="Adobe Garamond Pro"/>
              </a:rPr>
              <a:t>hash</a:t>
            </a:r>
            <a:r>
              <a:rPr lang="en-US" sz="2400">
                <a:solidFill>
                  <a:schemeClr val="tx2">
                    <a:lumMod val="60000"/>
                    <a:lumOff val="40000"/>
                  </a:schemeClr>
                </a:solidFill>
                <a:latin typeface="Adobe Garamond Pro"/>
              </a:rPr>
              <a:t> can be calculated for it through an algorithm that iterates over all the bytes.</a:t>
            </a:r>
            <a:endParaRPr lang="en-US" sz="2400" b="1">
              <a:solidFill>
                <a:schemeClr val="tx2">
                  <a:lumMod val="60000"/>
                  <a:lumOff val="40000"/>
                </a:schemeClr>
              </a:solidFill>
              <a:latin typeface="Adobe Garamond Pro"/>
            </a:endParaRPr>
          </a:p>
        </p:txBody>
      </p:sp>
      <p:pic>
        <p:nvPicPr>
          <p:cNvPr id="25" name="Picture 24">
            <a:extLst>
              <a:ext uri="{FF2B5EF4-FFF2-40B4-BE49-F238E27FC236}">
                <a16:creationId xmlns:a16="http://schemas.microsoft.com/office/drawing/2014/main" id="{4EDD37D5-BBA0-F133-D93A-A61BFA980E3C}"/>
              </a:ext>
            </a:extLst>
          </p:cNvPr>
          <p:cNvPicPr>
            <a:picLocks noChangeAspect="1"/>
          </p:cNvPicPr>
          <p:nvPr/>
        </p:nvPicPr>
        <p:blipFill>
          <a:blip r:embed="rId6"/>
          <a:stretch>
            <a:fillRect/>
          </a:stretch>
        </p:blipFill>
        <p:spPr>
          <a:xfrm>
            <a:off x="9106636" y="5735597"/>
            <a:ext cx="2582428" cy="645607"/>
          </a:xfrm>
          <a:prstGeom prst="rect">
            <a:avLst/>
          </a:prstGeom>
        </p:spPr>
      </p:pic>
      <p:sp>
        <p:nvSpPr>
          <p:cNvPr id="2" name="Rectangle 1">
            <a:extLst>
              <a:ext uri="{FF2B5EF4-FFF2-40B4-BE49-F238E27FC236}">
                <a16:creationId xmlns:a16="http://schemas.microsoft.com/office/drawing/2014/main" id="{687D272C-CE4F-AD77-7696-415011E5DBB2}"/>
              </a:ext>
            </a:extLst>
          </p:cNvPr>
          <p:cNvSpPr/>
          <p:nvPr/>
        </p:nvSpPr>
        <p:spPr>
          <a:xfrm>
            <a:off x="838200" y="3249498"/>
            <a:ext cx="3725333" cy="176067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01001000 01100001 01110000 01110000 01111001 00100000 01000010 01101001 01110010 01110100 01101000 01100100 01100001 01111001 00100000 01001011 01100001 01110011 01100001 01101110 01100101 00100000 01010100 01100101 01110100 01101111 00100001 00100001</a:t>
            </a:r>
          </a:p>
        </p:txBody>
      </p:sp>
      <p:sp>
        <p:nvSpPr>
          <p:cNvPr id="3" name="Subtitle 2">
            <a:extLst>
              <a:ext uri="{FF2B5EF4-FFF2-40B4-BE49-F238E27FC236}">
                <a16:creationId xmlns:a16="http://schemas.microsoft.com/office/drawing/2014/main" id="{5DD2DBDC-4E73-20CD-8EC2-EFA972687FC0}"/>
              </a:ext>
            </a:extLst>
          </p:cNvPr>
          <p:cNvSpPr txBox="1">
            <a:spLocks/>
          </p:cNvSpPr>
          <p:nvPr/>
        </p:nvSpPr>
        <p:spPr>
          <a:xfrm>
            <a:off x="1894393" y="5129727"/>
            <a:ext cx="1612945"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ctr"/>
            <a:r>
              <a:rPr lang="en-US" sz="1600">
                <a:solidFill>
                  <a:schemeClr val="bg1">
                    <a:lumMod val="75000"/>
                  </a:schemeClr>
                </a:solidFill>
              </a:rPr>
              <a:t>Ingest File</a:t>
            </a:r>
          </a:p>
        </p:txBody>
      </p:sp>
      <p:sp>
        <p:nvSpPr>
          <p:cNvPr id="16" name="Rectangle 15">
            <a:extLst>
              <a:ext uri="{FF2B5EF4-FFF2-40B4-BE49-F238E27FC236}">
                <a16:creationId xmlns:a16="http://schemas.microsoft.com/office/drawing/2014/main" id="{2913D848-EC23-D080-C14F-74F4FAD16B6D}"/>
              </a:ext>
            </a:extLst>
          </p:cNvPr>
          <p:cNvSpPr/>
          <p:nvPr/>
        </p:nvSpPr>
        <p:spPr>
          <a:xfrm>
            <a:off x="5499056" y="3477049"/>
            <a:ext cx="1697612" cy="1305567"/>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#Mod#</a:t>
            </a:r>
          </a:p>
        </p:txBody>
      </p:sp>
      <p:sp>
        <p:nvSpPr>
          <p:cNvPr id="19" name="Subtitle 2">
            <a:extLst>
              <a:ext uri="{FF2B5EF4-FFF2-40B4-BE49-F238E27FC236}">
                <a16:creationId xmlns:a16="http://schemas.microsoft.com/office/drawing/2014/main" id="{9755C774-00AF-2129-9457-ED188D25D71D}"/>
              </a:ext>
            </a:extLst>
          </p:cNvPr>
          <p:cNvSpPr txBox="1">
            <a:spLocks/>
          </p:cNvSpPr>
          <p:nvPr/>
        </p:nvSpPr>
        <p:spPr>
          <a:xfrm>
            <a:off x="5541389" y="5031987"/>
            <a:ext cx="1612945" cy="46669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ctr"/>
            <a:r>
              <a:rPr lang="en-US" sz="1600">
                <a:solidFill>
                  <a:schemeClr val="bg1">
                    <a:lumMod val="75000"/>
                  </a:schemeClr>
                </a:solidFill>
              </a:rPr>
              <a:t>Hashing Algorithm</a:t>
            </a:r>
          </a:p>
        </p:txBody>
      </p:sp>
      <p:sp>
        <p:nvSpPr>
          <p:cNvPr id="24" name="Rectangle 23">
            <a:extLst>
              <a:ext uri="{FF2B5EF4-FFF2-40B4-BE49-F238E27FC236}">
                <a16:creationId xmlns:a16="http://schemas.microsoft.com/office/drawing/2014/main" id="{86281235-8CDA-0261-CE64-2DF5564FD884}"/>
              </a:ext>
            </a:extLst>
          </p:cNvPr>
          <p:cNvSpPr/>
          <p:nvPr/>
        </p:nvSpPr>
        <p:spPr>
          <a:xfrm>
            <a:off x="8132190" y="3466979"/>
            <a:ext cx="3217517" cy="1305567"/>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13c1a8857790c95eac58309120f01319</a:t>
            </a:r>
          </a:p>
        </p:txBody>
      </p:sp>
      <p:sp>
        <p:nvSpPr>
          <p:cNvPr id="28" name="Subtitle 2">
            <a:extLst>
              <a:ext uri="{FF2B5EF4-FFF2-40B4-BE49-F238E27FC236}">
                <a16:creationId xmlns:a16="http://schemas.microsoft.com/office/drawing/2014/main" id="{1B688FBA-FF48-1A8E-91ED-A199DFD85A48}"/>
              </a:ext>
            </a:extLst>
          </p:cNvPr>
          <p:cNvSpPr txBox="1">
            <a:spLocks/>
          </p:cNvSpPr>
          <p:nvPr/>
        </p:nvSpPr>
        <p:spPr>
          <a:xfrm>
            <a:off x="8934475" y="5010168"/>
            <a:ext cx="1612945"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ctr"/>
            <a:r>
              <a:rPr lang="en-US" sz="1600">
                <a:solidFill>
                  <a:schemeClr val="bg1">
                    <a:lumMod val="75000"/>
                  </a:schemeClr>
                </a:solidFill>
              </a:rPr>
              <a:t>Hash Value</a:t>
            </a:r>
          </a:p>
        </p:txBody>
      </p:sp>
      <p:pic>
        <p:nvPicPr>
          <p:cNvPr id="6" name="Picture 5">
            <a:extLst>
              <a:ext uri="{FF2B5EF4-FFF2-40B4-BE49-F238E27FC236}">
                <a16:creationId xmlns:a16="http://schemas.microsoft.com/office/drawing/2014/main" id="{636D2915-3D7F-D6F8-DC62-3A3650811877}"/>
              </a:ext>
            </a:extLst>
          </p:cNvPr>
          <p:cNvPicPr>
            <a:picLocks noChangeAspect="1"/>
          </p:cNvPicPr>
          <p:nvPr/>
        </p:nvPicPr>
        <p:blipFill>
          <a:blip r:embed="rId7"/>
          <a:stretch>
            <a:fillRect/>
          </a:stretch>
        </p:blipFill>
        <p:spPr>
          <a:xfrm>
            <a:off x="4727431" y="3896486"/>
            <a:ext cx="607725" cy="466692"/>
          </a:xfrm>
          <a:prstGeom prst="rect">
            <a:avLst/>
          </a:prstGeom>
        </p:spPr>
      </p:pic>
      <p:pic>
        <p:nvPicPr>
          <p:cNvPr id="7" name="Picture 6">
            <a:extLst>
              <a:ext uri="{FF2B5EF4-FFF2-40B4-BE49-F238E27FC236}">
                <a16:creationId xmlns:a16="http://schemas.microsoft.com/office/drawing/2014/main" id="{750E2A57-CE53-3BE1-92C5-504B6602DBAD}"/>
              </a:ext>
            </a:extLst>
          </p:cNvPr>
          <p:cNvPicPr>
            <a:picLocks noChangeAspect="1"/>
          </p:cNvPicPr>
          <p:nvPr/>
        </p:nvPicPr>
        <p:blipFill>
          <a:blip r:embed="rId7"/>
          <a:stretch>
            <a:fillRect/>
          </a:stretch>
        </p:blipFill>
        <p:spPr>
          <a:xfrm>
            <a:off x="7360566" y="3886416"/>
            <a:ext cx="607725" cy="466692"/>
          </a:xfrm>
          <a:prstGeom prst="rect">
            <a:avLst/>
          </a:prstGeom>
        </p:spPr>
      </p:pic>
    </p:spTree>
    <p:extLst>
      <p:ext uri="{BB962C8B-B14F-4D97-AF65-F5344CB8AC3E}">
        <p14:creationId xmlns:p14="http://schemas.microsoft.com/office/powerpoint/2010/main" val="1828925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B7B7C8B4-E9EA-9211-1847-E9CB149FBC2A}"/>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9CA7E957-9D4F-2FEA-143E-6D17712A853C}"/>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FB8E7E36-16A6-FAE3-5789-ADC5D49048D9}"/>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6A96319A-3C4C-CEA8-012B-DFD6E7146F28}"/>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a:solidFill>
                  <a:srgbClr val="CC2637"/>
                </a:solidFill>
                <a:latin typeface="+mn-lt"/>
                <a:cs typeface="Helvetica" panose="020B0604020202020204" pitchFamily="34" charset="0"/>
              </a:rPr>
              <a:t>Enter: </a:t>
            </a:r>
            <a:r>
              <a:rPr lang="en-US" b="0">
                <a:solidFill>
                  <a:srgbClr val="CC2637"/>
                </a:solidFill>
                <a:latin typeface="+mn-lt"/>
                <a:cs typeface="Helvetica" panose="020B0604020202020204" pitchFamily="34" charset="0"/>
              </a:rPr>
              <a:t>DMA Devices</a:t>
            </a:r>
          </a:p>
        </p:txBody>
      </p:sp>
      <p:sp>
        <p:nvSpPr>
          <p:cNvPr id="20" name="TextBox 19">
            <a:extLst>
              <a:ext uri="{FF2B5EF4-FFF2-40B4-BE49-F238E27FC236}">
                <a16:creationId xmlns:a16="http://schemas.microsoft.com/office/drawing/2014/main" id="{A7127B82-D01C-A1A6-EA88-1DE3CCABD292}"/>
              </a:ext>
            </a:extLst>
          </p:cNvPr>
          <p:cNvSpPr txBox="1"/>
          <p:nvPr/>
        </p:nvSpPr>
        <p:spPr>
          <a:xfrm>
            <a:off x="759836" y="1690688"/>
            <a:ext cx="10589871" cy="830997"/>
          </a:xfrm>
          <a:prstGeom prst="rect">
            <a:avLst/>
          </a:prstGeom>
          <a:noFill/>
        </p:spPr>
        <p:txBody>
          <a:bodyPr wrap="square">
            <a:spAutoFit/>
          </a:bodyPr>
          <a:lstStyle/>
          <a:p>
            <a:r>
              <a:rPr lang="en-US" sz="2400">
                <a:solidFill>
                  <a:schemeClr val="tx2">
                    <a:lumMod val="60000"/>
                    <a:lumOff val="40000"/>
                  </a:schemeClr>
                </a:solidFill>
                <a:latin typeface="Adobe Garamond Pro"/>
              </a:rPr>
              <a:t>A </a:t>
            </a:r>
            <a:r>
              <a:rPr lang="en-US" sz="2400" b="1">
                <a:solidFill>
                  <a:schemeClr val="tx2">
                    <a:lumMod val="60000"/>
                    <a:lumOff val="40000"/>
                  </a:schemeClr>
                </a:solidFill>
                <a:latin typeface="Adobe Garamond Pro"/>
              </a:rPr>
              <a:t>DMA</a:t>
            </a:r>
            <a:r>
              <a:rPr lang="en-US" sz="2400">
                <a:solidFill>
                  <a:schemeClr val="tx2">
                    <a:lumMod val="60000"/>
                    <a:lumOff val="40000"/>
                  </a:schemeClr>
                </a:solidFill>
                <a:latin typeface="Adobe Garamond Pro"/>
              </a:rPr>
              <a:t> or </a:t>
            </a:r>
            <a:r>
              <a:rPr lang="en-US" sz="2400" b="1">
                <a:solidFill>
                  <a:schemeClr val="tx2">
                    <a:lumMod val="60000"/>
                    <a:lumOff val="40000"/>
                  </a:schemeClr>
                </a:solidFill>
                <a:latin typeface="Adobe Garamond Pro"/>
              </a:rPr>
              <a:t>Direct Memory Access </a:t>
            </a:r>
            <a:r>
              <a:rPr lang="en-US" sz="2400">
                <a:solidFill>
                  <a:schemeClr val="tx2">
                    <a:lumMod val="60000"/>
                    <a:lumOff val="40000"/>
                  </a:schemeClr>
                </a:solidFill>
                <a:latin typeface="Adobe Garamond Pro"/>
              </a:rPr>
              <a:t>Device is a piece of hardware that </a:t>
            </a:r>
            <a:r>
              <a:rPr lang="en-US" sz="2400" b="1">
                <a:solidFill>
                  <a:schemeClr val="tx2">
                    <a:lumMod val="60000"/>
                    <a:lumOff val="40000"/>
                  </a:schemeClr>
                </a:solidFill>
                <a:latin typeface="Adobe Garamond Pro"/>
              </a:rPr>
              <a:t>bypasses</a:t>
            </a:r>
            <a:r>
              <a:rPr lang="en-US" sz="2400">
                <a:solidFill>
                  <a:schemeClr val="tx2">
                    <a:lumMod val="60000"/>
                    <a:lumOff val="40000"/>
                  </a:schemeClr>
                </a:solidFill>
                <a:latin typeface="Adobe Garamond Pro"/>
              </a:rPr>
              <a:t> the </a:t>
            </a:r>
            <a:r>
              <a:rPr lang="en-US" sz="2400" b="1">
                <a:solidFill>
                  <a:schemeClr val="tx2">
                    <a:lumMod val="60000"/>
                    <a:lumOff val="40000"/>
                  </a:schemeClr>
                </a:solidFill>
                <a:latin typeface="Adobe Garamond Pro"/>
              </a:rPr>
              <a:t>kernel</a:t>
            </a:r>
            <a:r>
              <a:rPr lang="en-US" sz="2400">
                <a:solidFill>
                  <a:schemeClr val="tx2">
                    <a:lumMod val="60000"/>
                    <a:lumOff val="40000"/>
                  </a:schemeClr>
                </a:solidFill>
                <a:latin typeface="Adobe Garamond Pro"/>
              </a:rPr>
              <a:t> and </a:t>
            </a:r>
            <a:r>
              <a:rPr lang="en-US" sz="2400" b="1">
                <a:solidFill>
                  <a:schemeClr val="tx2">
                    <a:lumMod val="60000"/>
                    <a:lumOff val="40000"/>
                  </a:schemeClr>
                </a:solidFill>
                <a:latin typeface="Adobe Garamond Pro"/>
              </a:rPr>
              <a:t>directly</a:t>
            </a:r>
            <a:r>
              <a:rPr lang="en-US" sz="2400">
                <a:solidFill>
                  <a:schemeClr val="tx2">
                    <a:lumMod val="60000"/>
                    <a:lumOff val="40000"/>
                  </a:schemeClr>
                </a:solidFill>
                <a:latin typeface="Adobe Garamond Pro"/>
              </a:rPr>
              <a:t> interfaces with </a:t>
            </a:r>
            <a:r>
              <a:rPr lang="en-US" sz="2400" b="1">
                <a:solidFill>
                  <a:schemeClr val="tx2">
                    <a:lumMod val="60000"/>
                    <a:lumOff val="40000"/>
                  </a:schemeClr>
                </a:solidFill>
                <a:latin typeface="Adobe Garamond Pro"/>
              </a:rPr>
              <a:t>DRAM.</a:t>
            </a:r>
          </a:p>
        </p:txBody>
      </p:sp>
      <p:pic>
        <p:nvPicPr>
          <p:cNvPr id="25" name="Picture 24">
            <a:extLst>
              <a:ext uri="{FF2B5EF4-FFF2-40B4-BE49-F238E27FC236}">
                <a16:creationId xmlns:a16="http://schemas.microsoft.com/office/drawing/2014/main" id="{E4185704-199E-74A0-F60D-703DC827F9ED}"/>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6" name="Picture 5">
            <a:extLst>
              <a:ext uri="{FF2B5EF4-FFF2-40B4-BE49-F238E27FC236}">
                <a16:creationId xmlns:a16="http://schemas.microsoft.com/office/drawing/2014/main" id="{3B0A94C3-3604-A1FF-4674-7BC340993A1E}"/>
              </a:ext>
            </a:extLst>
          </p:cNvPr>
          <p:cNvPicPr>
            <a:picLocks noChangeAspect="1"/>
          </p:cNvPicPr>
          <p:nvPr/>
        </p:nvPicPr>
        <p:blipFill>
          <a:blip r:embed="rId6"/>
          <a:stretch>
            <a:fillRect/>
          </a:stretch>
        </p:blipFill>
        <p:spPr>
          <a:xfrm>
            <a:off x="2824643" y="2875808"/>
            <a:ext cx="404902" cy="404902"/>
          </a:xfrm>
          <a:prstGeom prst="rect">
            <a:avLst/>
          </a:prstGeom>
        </p:spPr>
      </p:pic>
      <p:pic>
        <p:nvPicPr>
          <p:cNvPr id="7" name="Picture 6">
            <a:extLst>
              <a:ext uri="{FF2B5EF4-FFF2-40B4-BE49-F238E27FC236}">
                <a16:creationId xmlns:a16="http://schemas.microsoft.com/office/drawing/2014/main" id="{6715A40F-33F6-B8E6-9647-71ABF1BB831D}"/>
              </a:ext>
            </a:extLst>
          </p:cNvPr>
          <p:cNvPicPr>
            <a:picLocks noChangeAspect="1"/>
          </p:cNvPicPr>
          <p:nvPr/>
        </p:nvPicPr>
        <p:blipFill>
          <a:blip r:embed="rId6"/>
          <a:stretch>
            <a:fillRect/>
          </a:stretch>
        </p:blipFill>
        <p:spPr>
          <a:xfrm>
            <a:off x="3388564" y="2867344"/>
            <a:ext cx="404902" cy="404902"/>
          </a:xfrm>
          <a:prstGeom prst="rect">
            <a:avLst/>
          </a:prstGeom>
        </p:spPr>
      </p:pic>
      <p:pic>
        <p:nvPicPr>
          <p:cNvPr id="9" name="Picture 8">
            <a:extLst>
              <a:ext uri="{FF2B5EF4-FFF2-40B4-BE49-F238E27FC236}">
                <a16:creationId xmlns:a16="http://schemas.microsoft.com/office/drawing/2014/main" id="{701311D8-AE62-4CFD-74D6-12FFE4F3BA65}"/>
              </a:ext>
            </a:extLst>
          </p:cNvPr>
          <p:cNvPicPr>
            <a:picLocks noChangeAspect="1"/>
          </p:cNvPicPr>
          <p:nvPr/>
        </p:nvPicPr>
        <p:blipFill>
          <a:blip r:embed="rId6"/>
          <a:stretch>
            <a:fillRect/>
          </a:stretch>
        </p:blipFill>
        <p:spPr>
          <a:xfrm rot="10800000">
            <a:off x="3952485" y="2875808"/>
            <a:ext cx="404902" cy="404902"/>
          </a:xfrm>
          <a:prstGeom prst="rect">
            <a:avLst/>
          </a:prstGeom>
        </p:spPr>
      </p:pic>
      <p:pic>
        <p:nvPicPr>
          <p:cNvPr id="10" name="Picture 9">
            <a:extLst>
              <a:ext uri="{FF2B5EF4-FFF2-40B4-BE49-F238E27FC236}">
                <a16:creationId xmlns:a16="http://schemas.microsoft.com/office/drawing/2014/main" id="{753277CB-4C09-9945-D69F-545382DD6DB0}"/>
              </a:ext>
            </a:extLst>
          </p:cNvPr>
          <p:cNvPicPr>
            <a:picLocks noChangeAspect="1"/>
          </p:cNvPicPr>
          <p:nvPr/>
        </p:nvPicPr>
        <p:blipFill>
          <a:blip r:embed="rId6"/>
          <a:stretch>
            <a:fillRect/>
          </a:stretch>
        </p:blipFill>
        <p:spPr>
          <a:xfrm rot="10800000">
            <a:off x="4516405" y="2884276"/>
            <a:ext cx="404902" cy="404902"/>
          </a:xfrm>
          <a:prstGeom prst="rect">
            <a:avLst/>
          </a:prstGeom>
        </p:spPr>
      </p:pic>
      <p:pic>
        <p:nvPicPr>
          <p:cNvPr id="11" name="Picture 10">
            <a:extLst>
              <a:ext uri="{FF2B5EF4-FFF2-40B4-BE49-F238E27FC236}">
                <a16:creationId xmlns:a16="http://schemas.microsoft.com/office/drawing/2014/main" id="{34A26800-8F01-7183-3F47-1A8101593A1C}"/>
              </a:ext>
            </a:extLst>
          </p:cNvPr>
          <p:cNvPicPr>
            <a:picLocks noChangeAspect="1"/>
          </p:cNvPicPr>
          <p:nvPr/>
        </p:nvPicPr>
        <p:blipFill>
          <a:blip r:embed="rId6"/>
          <a:stretch>
            <a:fillRect/>
          </a:stretch>
        </p:blipFill>
        <p:spPr>
          <a:xfrm rot="16200000">
            <a:off x="5080324" y="2875808"/>
            <a:ext cx="404902" cy="404902"/>
          </a:xfrm>
          <a:prstGeom prst="rect">
            <a:avLst/>
          </a:prstGeom>
        </p:spPr>
      </p:pic>
      <p:pic>
        <p:nvPicPr>
          <p:cNvPr id="13" name="Picture 12">
            <a:extLst>
              <a:ext uri="{FF2B5EF4-FFF2-40B4-BE49-F238E27FC236}">
                <a16:creationId xmlns:a16="http://schemas.microsoft.com/office/drawing/2014/main" id="{D38A9061-C360-9F2E-D29D-322779DC8DA2}"/>
              </a:ext>
            </a:extLst>
          </p:cNvPr>
          <p:cNvPicPr>
            <a:picLocks noChangeAspect="1"/>
          </p:cNvPicPr>
          <p:nvPr/>
        </p:nvPicPr>
        <p:blipFill>
          <a:blip r:embed="rId6"/>
          <a:stretch>
            <a:fillRect/>
          </a:stretch>
        </p:blipFill>
        <p:spPr>
          <a:xfrm rot="5400000">
            <a:off x="5642235" y="2875808"/>
            <a:ext cx="404902" cy="404902"/>
          </a:xfrm>
          <a:prstGeom prst="rect">
            <a:avLst/>
          </a:prstGeom>
        </p:spPr>
      </p:pic>
      <p:pic>
        <p:nvPicPr>
          <p:cNvPr id="14" name="Picture 13">
            <a:extLst>
              <a:ext uri="{FF2B5EF4-FFF2-40B4-BE49-F238E27FC236}">
                <a16:creationId xmlns:a16="http://schemas.microsoft.com/office/drawing/2014/main" id="{D8C1B71F-D0C3-79D1-33A6-6856A625EE96}"/>
              </a:ext>
            </a:extLst>
          </p:cNvPr>
          <p:cNvPicPr>
            <a:picLocks noChangeAspect="1"/>
          </p:cNvPicPr>
          <p:nvPr/>
        </p:nvPicPr>
        <p:blipFill>
          <a:blip r:embed="rId6"/>
          <a:stretch>
            <a:fillRect/>
          </a:stretch>
        </p:blipFill>
        <p:spPr>
          <a:xfrm rot="16200000">
            <a:off x="6204146" y="2874001"/>
            <a:ext cx="404902" cy="404902"/>
          </a:xfrm>
          <a:prstGeom prst="rect">
            <a:avLst/>
          </a:prstGeom>
        </p:spPr>
      </p:pic>
      <p:pic>
        <p:nvPicPr>
          <p:cNvPr id="17" name="Picture 16">
            <a:extLst>
              <a:ext uri="{FF2B5EF4-FFF2-40B4-BE49-F238E27FC236}">
                <a16:creationId xmlns:a16="http://schemas.microsoft.com/office/drawing/2014/main" id="{3B1FD74E-F74C-E183-7866-16A9274B70A3}"/>
              </a:ext>
            </a:extLst>
          </p:cNvPr>
          <p:cNvPicPr>
            <a:picLocks noChangeAspect="1"/>
          </p:cNvPicPr>
          <p:nvPr/>
        </p:nvPicPr>
        <p:blipFill>
          <a:blip r:embed="rId6"/>
          <a:stretch>
            <a:fillRect/>
          </a:stretch>
        </p:blipFill>
        <p:spPr>
          <a:xfrm rot="5400000">
            <a:off x="6769352" y="2874001"/>
            <a:ext cx="404902" cy="404902"/>
          </a:xfrm>
          <a:prstGeom prst="rect">
            <a:avLst/>
          </a:prstGeom>
        </p:spPr>
      </p:pic>
      <p:pic>
        <p:nvPicPr>
          <p:cNvPr id="23" name="Picture 22">
            <a:extLst>
              <a:ext uri="{FF2B5EF4-FFF2-40B4-BE49-F238E27FC236}">
                <a16:creationId xmlns:a16="http://schemas.microsoft.com/office/drawing/2014/main" id="{3B235CEA-ADFF-8C47-E3CA-3B117B65C585}"/>
              </a:ext>
            </a:extLst>
          </p:cNvPr>
          <p:cNvPicPr>
            <a:picLocks noChangeAspect="1"/>
          </p:cNvPicPr>
          <p:nvPr/>
        </p:nvPicPr>
        <p:blipFill>
          <a:blip r:embed="rId7"/>
          <a:stretch>
            <a:fillRect/>
          </a:stretch>
        </p:blipFill>
        <p:spPr>
          <a:xfrm>
            <a:off x="7334558" y="2884276"/>
            <a:ext cx="404902" cy="404902"/>
          </a:xfrm>
          <a:prstGeom prst="rect">
            <a:avLst/>
          </a:prstGeom>
        </p:spPr>
      </p:pic>
      <p:pic>
        <p:nvPicPr>
          <p:cNvPr id="30" name="Picture 29">
            <a:extLst>
              <a:ext uri="{FF2B5EF4-FFF2-40B4-BE49-F238E27FC236}">
                <a16:creationId xmlns:a16="http://schemas.microsoft.com/office/drawing/2014/main" id="{6D3F0577-A0F7-E2B6-9313-4DF29CB97CDD}"/>
              </a:ext>
            </a:extLst>
          </p:cNvPr>
          <p:cNvPicPr>
            <a:picLocks noChangeAspect="1"/>
          </p:cNvPicPr>
          <p:nvPr/>
        </p:nvPicPr>
        <p:blipFill>
          <a:blip r:embed="rId8"/>
          <a:stretch>
            <a:fillRect/>
          </a:stretch>
        </p:blipFill>
        <p:spPr>
          <a:xfrm>
            <a:off x="7896469" y="2884276"/>
            <a:ext cx="404902" cy="404902"/>
          </a:xfrm>
          <a:prstGeom prst="rect">
            <a:avLst/>
          </a:prstGeom>
        </p:spPr>
      </p:pic>
      <p:pic>
        <p:nvPicPr>
          <p:cNvPr id="34" name="Picture 33">
            <a:extLst>
              <a:ext uri="{FF2B5EF4-FFF2-40B4-BE49-F238E27FC236}">
                <a16:creationId xmlns:a16="http://schemas.microsoft.com/office/drawing/2014/main" id="{5AB16489-FBC4-C2DD-B58C-5E79048EC38C}"/>
              </a:ext>
            </a:extLst>
          </p:cNvPr>
          <p:cNvPicPr>
            <a:picLocks noChangeAspect="1"/>
          </p:cNvPicPr>
          <p:nvPr/>
        </p:nvPicPr>
        <p:blipFill>
          <a:blip r:embed="rId9"/>
          <a:stretch>
            <a:fillRect/>
          </a:stretch>
        </p:blipFill>
        <p:spPr>
          <a:xfrm>
            <a:off x="8455807" y="3001002"/>
            <a:ext cx="647700" cy="171450"/>
          </a:xfrm>
          <a:prstGeom prst="rect">
            <a:avLst/>
          </a:prstGeom>
        </p:spPr>
      </p:pic>
      <p:sp>
        <p:nvSpPr>
          <p:cNvPr id="36" name="Subtitle 2">
            <a:extLst>
              <a:ext uri="{FF2B5EF4-FFF2-40B4-BE49-F238E27FC236}">
                <a16:creationId xmlns:a16="http://schemas.microsoft.com/office/drawing/2014/main" id="{52EA5293-193A-80AB-3910-CD73F7B37137}"/>
              </a:ext>
            </a:extLst>
          </p:cNvPr>
          <p:cNvSpPr txBox="1">
            <a:spLocks/>
          </p:cNvSpPr>
          <p:nvPr/>
        </p:nvSpPr>
        <p:spPr>
          <a:xfrm>
            <a:off x="886883" y="3756377"/>
            <a:ext cx="8098414" cy="7187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Completely ignores current standards for </a:t>
            </a:r>
            <a:r>
              <a:rPr lang="en-US">
                <a:solidFill>
                  <a:schemeClr val="bg1">
                    <a:lumMod val="75000"/>
                  </a:schemeClr>
                </a:solidFill>
              </a:rPr>
              <a:t>AV Software</a:t>
            </a:r>
            <a:endParaRPr lang="en-US" b="0">
              <a:solidFill>
                <a:schemeClr val="bg1">
                  <a:lumMod val="75000"/>
                </a:schemeClr>
              </a:solidFill>
            </a:endParaRPr>
          </a:p>
        </p:txBody>
      </p:sp>
      <p:pic>
        <p:nvPicPr>
          <p:cNvPr id="37" name="Picture 36">
            <a:extLst>
              <a:ext uri="{FF2B5EF4-FFF2-40B4-BE49-F238E27FC236}">
                <a16:creationId xmlns:a16="http://schemas.microsoft.com/office/drawing/2014/main" id="{57ED3788-7B7B-D6C4-0D30-C8AC6B0E92C5}"/>
              </a:ext>
            </a:extLst>
          </p:cNvPr>
          <p:cNvPicPr>
            <a:picLocks noChangeAspect="1"/>
          </p:cNvPicPr>
          <p:nvPr/>
        </p:nvPicPr>
        <p:blipFill>
          <a:blip r:embed="rId10"/>
          <a:stretch>
            <a:fillRect/>
          </a:stretch>
        </p:blipFill>
        <p:spPr>
          <a:xfrm>
            <a:off x="753533" y="3884304"/>
            <a:ext cx="78362" cy="156011"/>
          </a:xfrm>
          <a:prstGeom prst="rect">
            <a:avLst/>
          </a:prstGeom>
        </p:spPr>
      </p:pic>
      <p:sp>
        <p:nvSpPr>
          <p:cNvPr id="38" name="Subtitle 2">
            <a:extLst>
              <a:ext uri="{FF2B5EF4-FFF2-40B4-BE49-F238E27FC236}">
                <a16:creationId xmlns:a16="http://schemas.microsoft.com/office/drawing/2014/main" id="{63444458-A096-0481-D9D5-A0CDE98A06D2}"/>
              </a:ext>
            </a:extLst>
          </p:cNvPr>
          <p:cNvSpPr txBox="1">
            <a:spLocks/>
          </p:cNvSpPr>
          <p:nvPr/>
        </p:nvSpPr>
        <p:spPr>
          <a:xfrm>
            <a:off x="893186" y="4347214"/>
            <a:ext cx="9548378" cy="7187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Capable of </a:t>
            </a:r>
            <a:r>
              <a:rPr lang="en-US">
                <a:solidFill>
                  <a:schemeClr val="bg1">
                    <a:lumMod val="75000"/>
                  </a:schemeClr>
                </a:solidFill>
              </a:rPr>
              <a:t>Reading</a:t>
            </a:r>
            <a:r>
              <a:rPr lang="en-US" b="0">
                <a:solidFill>
                  <a:schemeClr val="bg1">
                    <a:lumMod val="75000"/>
                  </a:schemeClr>
                </a:solidFill>
              </a:rPr>
              <a:t>/</a:t>
            </a:r>
            <a:r>
              <a:rPr lang="en-US">
                <a:solidFill>
                  <a:schemeClr val="bg1">
                    <a:lumMod val="75000"/>
                  </a:schemeClr>
                </a:solidFill>
              </a:rPr>
              <a:t>Writing</a:t>
            </a:r>
            <a:r>
              <a:rPr lang="en-US" b="0">
                <a:solidFill>
                  <a:schemeClr val="bg1">
                    <a:lumMod val="75000"/>
                  </a:schemeClr>
                </a:solidFill>
              </a:rPr>
              <a:t> Memory through a </a:t>
            </a:r>
            <a:r>
              <a:rPr lang="en-US">
                <a:solidFill>
                  <a:schemeClr val="bg1">
                    <a:lumMod val="75000"/>
                  </a:schemeClr>
                </a:solidFill>
              </a:rPr>
              <a:t>separate DMA channel</a:t>
            </a:r>
          </a:p>
        </p:txBody>
      </p:sp>
      <p:pic>
        <p:nvPicPr>
          <p:cNvPr id="39" name="Picture 38">
            <a:extLst>
              <a:ext uri="{FF2B5EF4-FFF2-40B4-BE49-F238E27FC236}">
                <a16:creationId xmlns:a16="http://schemas.microsoft.com/office/drawing/2014/main" id="{B63B4307-A211-32AA-07DE-5F8DA26F3CC3}"/>
              </a:ext>
            </a:extLst>
          </p:cNvPr>
          <p:cNvPicPr>
            <a:picLocks noChangeAspect="1"/>
          </p:cNvPicPr>
          <p:nvPr/>
        </p:nvPicPr>
        <p:blipFill>
          <a:blip r:embed="rId10"/>
          <a:stretch>
            <a:fillRect/>
          </a:stretch>
        </p:blipFill>
        <p:spPr>
          <a:xfrm>
            <a:off x="759836" y="4475141"/>
            <a:ext cx="78362" cy="156011"/>
          </a:xfrm>
          <a:prstGeom prst="rect">
            <a:avLst/>
          </a:prstGeom>
        </p:spPr>
      </p:pic>
    </p:spTree>
    <p:extLst>
      <p:ext uri="{BB962C8B-B14F-4D97-AF65-F5344CB8AC3E}">
        <p14:creationId xmlns:p14="http://schemas.microsoft.com/office/powerpoint/2010/main" val="4113357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861FD2B2-18D1-CE78-49BB-8F8AE008929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B48A888-F73D-54EE-8EB2-B504367EBCF9}"/>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39BC0EB7-D886-4A59-F037-0019ABAF5864}"/>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A17B58D1-C91C-BC85-0655-5A9CCA418DBE}"/>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Helvetica" panose="020B0604020202020204" pitchFamily="34" charset="0"/>
                <a:cs typeface="Helvetica" panose="020B0604020202020204" pitchFamily="34" charset="0"/>
              </a:rPr>
              <a:t>Outline</a:t>
            </a:r>
          </a:p>
        </p:txBody>
      </p:sp>
      <p:pic>
        <p:nvPicPr>
          <p:cNvPr id="12" name="Picture 11">
            <a:extLst>
              <a:ext uri="{FF2B5EF4-FFF2-40B4-BE49-F238E27FC236}">
                <a16:creationId xmlns:a16="http://schemas.microsoft.com/office/drawing/2014/main" id="{D065AE6B-62E8-CCA8-7613-B29FA660CD19}"/>
              </a:ext>
            </a:extLst>
          </p:cNvPr>
          <p:cNvPicPr>
            <a:picLocks noChangeAspect="1"/>
          </p:cNvPicPr>
          <p:nvPr/>
        </p:nvPicPr>
        <p:blipFill>
          <a:blip r:embed="rId5"/>
          <a:stretch>
            <a:fillRect/>
          </a:stretch>
        </p:blipFill>
        <p:spPr>
          <a:xfrm>
            <a:off x="908288" y="2445923"/>
            <a:ext cx="204601" cy="204601"/>
          </a:xfrm>
          <a:prstGeom prst="rect">
            <a:avLst/>
          </a:prstGeom>
        </p:spPr>
      </p:pic>
      <p:sp>
        <p:nvSpPr>
          <p:cNvPr id="13" name="Content Placeholder 2">
            <a:extLst>
              <a:ext uri="{FF2B5EF4-FFF2-40B4-BE49-F238E27FC236}">
                <a16:creationId xmlns:a16="http://schemas.microsoft.com/office/drawing/2014/main" id="{9D917CF9-A894-FE50-0A29-C1A1E9EEC1CC}"/>
              </a:ext>
            </a:extLst>
          </p:cNvPr>
          <p:cNvSpPr txBox="1">
            <a:spLocks/>
          </p:cNvSpPr>
          <p:nvPr/>
        </p:nvSpPr>
        <p:spPr>
          <a:xfrm>
            <a:off x="1099193" y="1878246"/>
            <a:ext cx="10589871"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2">
                    <a:lumMod val="25000"/>
                  </a:schemeClr>
                </a:solidFill>
                <a:latin typeface="+mn-lt"/>
              </a:rPr>
              <a:t>Introduction</a:t>
            </a:r>
          </a:p>
          <a:p>
            <a:r>
              <a:rPr lang="en-US">
                <a:solidFill>
                  <a:srgbClr val="CC2637"/>
                </a:solidFill>
                <a:latin typeface="+mn-lt"/>
              </a:rPr>
              <a:t>Motivation</a:t>
            </a:r>
          </a:p>
          <a:p>
            <a:r>
              <a:rPr lang="en-US">
                <a:solidFill>
                  <a:schemeClr val="bg2">
                    <a:lumMod val="25000"/>
                  </a:schemeClr>
                </a:solidFill>
                <a:latin typeface="+mn-lt"/>
              </a:rPr>
              <a:t>Related Work</a:t>
            </a:r>
          </a:p>
          <a:p>
            <a:r>
              <a:rPr lang="en-US">
                <a:solidFill>
                  <a:schemeClr val="bg2">
                    <a:lumMod val="25000"/>
                  </a:schemeClr>
                </a:solidFill>
                <a:latin typeface="+mn-lt"/>
              </a:rPr>
              <a:t>Methodology</a:t>
            </a:r>
          </a:p>
          <a:p>
            <a:r>
              <a:rPr lang="en-US">
                <a:solidFill>
                  <a:schemeClr val="bg2">
                    <a:lumMod val="25000"/>
                  </a:schemeClr>
                </a:solidFill>
                <a:latin typeface="+mn-lt"/>
              </a:rPr>
              <a:t>Result and Discussion</a:t>
            </a:r>
          </a:p>
          <a:p>
            <a:r>
              <a:rPr lang="en-US">
                <a:solidFill>
                  <a:schemeClr val="bg2">
                    <a:lumMod val="25000"/>
                  </a:schemeClr>
                </a:solidFill>
                <a:latin typeface="+mn-lt"/>
              </a:rPr>
              <a:t>Conclusion</a:t>
            </a:r>
          </a:p>
          <a:p>
            <a:r>
              <a:rPr lang="en-US">
                <a:solidFill>
                  <a:schemeClr val="bg2">
                    <a:lumMod val="25000"/>
                  </a:schemeClr>
                </a:solidFill>
                <a:latin typeface="+mn-lt"/>
              </a:rPr>
              <a:t>References</a:t>
            </a:r>
          </a:p>
        </p:txBody>
      </p:sp>
      <p:pic>
        <p:nvPicPr>
          <p:cNvPr id="17" name="Picture 16">
            <a:extLst>
              <a:ext uri="{FF2B5EF4-FFF2-40B4-BE49-F238E27FC236}">
                <a16:creationId xmlns:a16="http://schemas.microsoft.com/office/drawing/2014/main" id="{4015CE5E-ABDE-CD25-22D6-859ABC8D12A3}"/>
              </a:ext>
            </a:extLst>
          </p:cNvPr>
          <p:cNvPicPr>
            <a:picLocks noChangeAspect="1"/>
          </p:cNvPicPr>
          <p:nvPr/>
        </p:nvPicPr>
        <p:blipFill>
          <a:blip r:embed="rId5"/>
          <a:stretch>
            <a:fillRect/>
          </a:stretch>
        </p:blipFill>
        <p:spPr>
          <a:xfrm>
            <a:off x="908288" y="2876323"/>
            <a:ext cx="204601" cy="204601"/>
          </a:xfrm>
          <a:prstGeom prst="rect">
            <a:avLst/>
          </a:prstGeom>
        </p:spPr>
      </p:pic>
      <p:pic>
        <p:nvPicPr>
          <p:cNvPr id="19" name="Picture 18">
            <a:extLst>
              <a:ext uri="{FF2B5EF4-FFF2-40B4-BE49-F238E27FC236}">
                <a16:creationId xmlns:a16="http://schemas.microsoft.com/office/drawing/2014/main" id="{E0AA0D8B-C91A-9F6E-73E4-83A34621960A}"/>
              </a:ext>
            </a:extLst>
          </p:cNvPr>
          <p:cNvPicPr>
            <a:picLocks noChangeAspect="1"/>
          </p:cNvPicPr>
          <p:nvPr/>
        </p:nvPicPr>
        <p:blipFill>
          <a:blip r:embed="rId5"/>
          <a:stretch>
            <a:fillRect/>
          </a:stretch>
        </p:blipFill>
        <p:spPr>
          <a:xfrm>
            <a:off x="908288" y="3356241"/>
            <a:ext cx="204601" cy="204601"/>
          </a:xfrm>
          <a:prstGeom prst="rect">
            <a:avLst/>
          </a:prstGeom>
        </p:spPr>
      </p:pic>
      <p:pic>
        <p:nvPicPr>
          <p:cNvPr id="20" name="Picture 19">
            <a:extLst>
              <a:ext uri="{FF2B5EF4-FFF2-40B4-BE49-F238E27FC236}">
                <a16:creationId xmlns:a16="http://schemas.microsoft.com/office/drawing/2014/main" id="{5DD42E9C-436C-AE89-0EF7-466D3CBA2C39}"/>
              </a:ext>
            </a:extLst>
          </p:cNvPr>
          <p:cNvPicPr>
            <a:picLocks noChangeAspect="1"/>
          </p:cNvPicPr>
          <p:nvPr/>
        </p:nvPicPr>
        <p:blipFill>
          <a:blip r:embed="rId5"/>
          <a:stretch>
            <a:fillRect/>
          </a:stretch>
        </p:blipFill>
        <p:spPr>
          <a:xfrm>
            <a:off x="908288" y="3777077"/>
            <a:ext cx="204601" cy="204601"/>
          </a:xfrm>
          <a:prstGeom prst="rect">
            <a:avLst/>
          </a:prstGeom>
        </p:spPr>
      </p:pic>
      <p:pic>
        <p:nvPicPr>
          <p:cNvPr id="21" name="Picture 20">
            <a:extLst>
              <a:ext uri="{FF2B5EF4-FFF2-40B4-BE49-F238E27FC236}">
                <a16:creationId xmlns:a16="http://schemas.microsoft.com/office/drawing/2014/main" id="{134C8200-AB57-56F4-3750-E4D5AEA16F1C}"/>
              </a:ext>
            </a:extLst>
          </p:cNvPr>
          <p:cNvPicPr>
            <a:picLocks noChangeAspect="1"/>
          </p:cNvPicPr>
          <p:nvPr/>
        </p:nvPicPr>
        <p:blipFill>
          <a:blip r:embed="rId5"/>
          <a:stretch>
            <a:fillRect/>
          </a:stretch>
        </p:blipFill>
        <p:spPr>
          <a:xfrm>
            <a:off x="908288" y="4255960"/>
            <a:ext cx="204601" cy="204601"/>
          </a:xfrm>
          <a:prstGeom prst="rect">
            <a:avLst/>
          </a:prstGeom>
        </p:spPr>
      </p:pic>
      <p:pic>
        <p:nvPicPr>
          <p:cNvPr id="22" name="Picture 21">
            <a:extLst>
              <a:ext uri="{FF2B5EF4-FFF2-40B4-BE49-F238E27FC236}">
                <a16:creationId xmlns:a16="http://schemas.microsoft.com/office/drawing/2014/main" id="{3D0F4A42-A085-988B-5E8F-E9D70EB97933}"/>
              </a:ext>
            </a:extLst>
          </p:cNvPr>
          <p:cNvPicPr>
            <a:picLocks noChangeAspect="1"/>
          </p:cNvPicPr>
          <p:nvPr/>
        </p:nvPicPr>
        <p:blipFill>
          <a:blip r:embed="rId5"/>
          <a:stretch>
            <a:fillRect/>
          </a:stretch>
        </p:blipFill>
        <p:spPr>
          <a:xfrm>
            <a:off x="908288" y="4741177"/>
            <a:ext cx="204601" cy="204601"/>
          </a:xfrm>
          <a:prstGeom prst="rect">
            <a:avLst/>
          </a:prstGeom>
        </p:spPr>
      </p:pic>
      <p:sp>
        <p:nvSpPr>
          <p:cNvPr id="29" name="Rectangle 28">
            <a:extLst>
              <a:ext uri="{FF2B5EF4-FFF2-40B4-BE49-F238E27FC236}">
                <a16:creationId xmlns:a16="http://schemas.microsoft.com/office/drawing/2014/main" id="{D6158B82-A929-E007-86CA-4129BCEA3C17}"/>
              </a:ext>
            </a:extLst>
          </p:cNvPr>
          <p:cNvSpPr/>
          <p:nvPr/>
        </p:nvSpPr>
        <p:spPr>
          <a:xfrm>
            <a:off x="3908968" y="1159846"/>
            <a:ext cx="7780096" cy="14919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16C73B76-9F64-9CEB-C73B-14A51F1D5845}"/>
              </a:ext>
            </a:extLst>
          </p:cNvPr>
          <p:cNvPicPr>
            <a:picLocks noChangeAspect="1"/>
          </p:cNvPicPr>
          <p:nvPr/>
        </p:nvPicPr>
        <p:blipFill>
          <a:blip r:embed="rId6"/>
          <a:stretch>
            <a:fillRect/>
          </a:stretch>
        </p:blipFill>
        <p:spPr>
          <a:xfrm>
            <a:off x="9106636" y="5735597"/>
            <a:ext cx="2582428" cy="645607"/>
          </a:xfrm>
          <a:prstGeom prst="rect">
            <a:avLst/>
          </a:prstGeom>
        </p:spPr>
      </p:pic>
      <p:pic>
        <p:nvPicPr>
          <p:cNvPr id="2" name="Picture 1">
            <a:extLst>
              <a:ext uri="{FF2B5EF4-FFF2-40B4-BE49-F238E27FC236}">
                <a16:creationId xmlns:a16="http://schemas.microsoft.com/office/drawing/2014/main" id="{44274913-A188-E2AC-306D-1A3E0A0EDE0D}"/>
              </a:ext>
            </a:extLst>
          </p:cNvPr>
          <p:cNvPicPr>
            <a:picLocks noChangeAspect="1"/>
          </p:cNvPicPr>
          <p:nvPr/>
        </p:nvPicPr>
        <p:blipFill>
          <a:blip r:embed="rId7"/>
          <a:stretch>
            <a:fillRect/>
          </a:stretch>
        </p:blipFill>
        <p:spPr>
          <a:xfrm>
            <a:off x="908288" y="2445922"/>
            <a:ext cx="204602" cy="204602"/>
          </a:xfrm>
          <a:prstGeom prst="rect">
            <a:avLst/>
          </a:prstGeom>
        </p:spPr>
      </p:pic>
      <p:pic>
        <p:nvPicPr>
          <p:cNvPr id="3" name="Picture 2">
            <a:extLst>
              <a:ext uri="{FF2B5EF4-FFF2-40B4-BE49-F238E27FC236}">
                <a16:creationId xmlns:a16="http://schemas.microsoft.com/office/drawing/2014/main" id="{D51E6BED-D711-96BC-E226-85A2F9FF3BAF}"/>
              </a:ext>
            </a:extLst>
          </p:cNvPr>
          <p:cNvPicPr>
            <a:picLocks noChangeAspect="1"/>
          </p:cNvPicPr>
          <p:nvPr/>
        </p:nvPicPr>
        <p:blipFill>
          <a:blip r:embed="rId5"/>
          <a:stretch>
            <a:fillRect/>
          </a:stretch>
        </p:blipFill>
        <p:spPr>
          <a:xfrm>
            <a:off x="908288" y="1998712"/>
            <a:ext cx="204601" cy="204601"/>
          </a:xfrm>
          <a:prstGeom prst="rect">
            <a:avLst/>
          </a:prstGeom>
        </p:spPr>
      </p:pic>
    </p:spTree>
    <p:extLst>
      <p:ext uri="{BB962C8B-B14F-4D97-AF65-F5344CB8AC3E}">
        <p14:creationId xmlns:p14="http://schemas.microsoft.com/office/powerpoint/2010/main" val="1470147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85F65AAA-C01F-AC1E-C699-AB992AF180A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09B28F8A-FEF4-2B27-EC34-149B9718F3F8}"/>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D72FC22D-7AB2-0E01-C167-C3F2D4FFE7FA}"/>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305E6AEC-C726-FC79-472D-41A0492E8DD7}"/>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Motivation</a:t>
            </a:r>
          </a:p>
        </p:txBody>
      </p:sp>
      <p:sp>
        <p:nvSpPr>
          <p:cNvPr id="20" name="TextBox 19">
            <a:extLst>
              <a:ext uri="{FF2B5EF4-FFF2-40B4-BE49-F238E27FC236}">
                <a16:creationId xmlns:a16="http://schemas.microsoft.com/office/drawing/2014/main" id="{680360E3-84B7-0A1F-F339-CB6C5F9E4672}"/>
              </a:ext>
            </a:extLst>
          </p:cNvPr>
          <p:cNvSpPr txBox="1"/>
          <p:nvPr/>
        </p:nvSpPr>
        <p:spPr>
          <a:xfrm>
            <a:off x="759836" y="1690688"/>
            <a:ext cx="10589871" cy="1569660"/>
          </a:xfrm>
          <a:prstGeom prst="rect">
            <a:avLst/>
          </a:prstGeom>
          <a:noFill/>
        </p:spPr>
        <p:txBody>
          <a:bodyPr wrap="square">
            <a:spAutoFit/>
          </a:bodyPr>
          <a:lstStyle/>
          <a:p>
            <a:r>
              <a:rPr lang="en-US" sz="2400" b="1">
                <a:solidFill>
                  <a:schemeClr val="tx2">
                    <a:lumMod val="60000"/>
                    <a:lumOff val="40000"/>
                  </a:schemeClr>
                </a:solidFill>
                <a:latin typeface="Adobe Garamond Pro"/>
              </a:rPr>
              <a:t>Goal:</a:t>
            </a:r>
            <a:r>
              <a:rPr lang="en-US" sz="2400">
                <a:solidFill>
                  <a:schemeClr val="tx2">
                    <a:lumMod val="60000"/>
                    <a:lumOff val="40000"/>
                  </a:schemeClr>
                </a:solidFill>
                <a:latin typeface="Adobe Garamond Pro"/>
              </a:rPr>
              <a:t> Use DMA to mimic a computer virus, gaining information on the machine without leaving any traces of the device.</a:t>
            </a:r>
            <a:br>
              <a:rPr lang="en-US" sz="2400">
                <a:solidFill>
                  <a:schemeClr val="tx2">
                    <a:lumMod val="60000"/>
                    <a:lumOff val="40000"/>
                  </a:schemeClr>
                </a:solidFill>
                <a:latin typeface="Adobe Garamond Pro"/>
              </a:rPr>
            </a:br>
            <a:br>
              <a:rPr lang="en-US" sz="2400">
                <a:solidFill>
                  <a:schemeClr val="tx2">
                    <a:lumMod val="60000"/>
                    <a:lumOff val="40000"/>
                  </a:schemeClr>
                </a:solidFill>
                <a:latin typeface="Adobe Garamond Pro"/>
              </a:rPr>
            </a:br>
            <a:r>
              <a:rPr lang="en-US" sz="2400" b="1">
                <a:solidFill>
                  <a:schemeClr val="tx2">
                    <a:lumMod val="60000"/>
                    <a:lumOff val="40000"/>
                  </a:schemeClr>
                </a:solidFill>
                <a:latin typeface="Adobe Garamond Pro"/>
              </a:rPr>
              <a:t>Is DMA a Threat Today</a:t>
            </a:r>
            <a:r>
              <a:rPr lang="en-US" sz="2400">
                <a:solidFill>
                  <a:schemeClr val="tx2">
                    <a:lumMod val="60000"/>
                    <a:lumOff val="40000"/>
                  </a:schemeClr>
                </a:solidFill>
                <a:latin typeface="Adobe Garamond Pro"/>
              </a:rPr>
              <a:t>?</a:t>
            </a:r>
            <a:endParaRPr lang="en-US" sz="2400" b="1">
              <a:solidFill>
                <a:schemeClr val="tx2">
                  <a:lumMod val="60000"/>
                  <a:lumOff val="40000"/>
                </a:schemeClr>
              </a:solidFill>
              <a:latin typeface="Adobe Garamond Pro"/>
            </a:endParaRPr>
          </a:p>
        </p:txBody>
      </p:sp>
      <p:pic>
        <p:nvPicPr>
          <p:cNvPr id="25" name="Picture 24">
            <a:extLst>
              <a:ext uri="{FF2B5EF4-FFF2-40B4-BE49-F238E27FC236}">
                <a16:creationId xmlns:a16="http://schemas.microsoft.com/office/drawing/2014/main" id="{E0F127CD-51C5-72B6-303A-30D35F315CBE}"/>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37" name="Picture 36">
            <a:extLst>
              <a:ext uri="{FF2B5EF4-FFF2-40B4-BE49-F238E27FC236}">
                <a16:creationId xmlns:a16="http://schemas.microsoft.com/office/drawing/2014/main" id="{D588C609-2039-CC1B-7F5F-9177653E6BCE}"/>
              </a:ext>
            </a:extLst>
          </p:cNvPr>
          <p:cNvPicPr>
            <a:picLocks noChangeAspect="1"/>
          </p:cNvPicPr>
          <p:nvPr/>
        </p:nvPicPr>
        <p:blipFill>
          <a:blip r:embed="rId6"/>
          <a:stretch>
            <a:fillRect/>
          </a:stretch>
        </p:blipFill>
        <p:spPr>
          <a:xfrm>
            <a:off x="708251" y="1843514"/>
            <a:ext cx="78362" cy="156011"/>
          </a:xfrm>
          <a:prstGeom prst="rect">
            <a:avLst/>
          </a:prstGeom>
        </p:spPr>
      </p:pic>
    </p:spTree>
    <p:extLst>
      <p:ext uri="{BB962C8B-B14F-4D97-AF65-F5344CB8AC3E}">
        <p14:creationId xmlns:p14="http://schemas.microsoft.com/office/powerpoint/2010/main" val="670435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808020AA-6BE0-4FD9-ABF0-5CEC39DF5400}"/>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90CF95D2-6FFE-466E-CD8E-0B432D9EC8A4}"/>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5E2FB309-D6C1-151D-D25F-DAFF361AC2AD}"/>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457D5D84-CAE0-9C5B-89F5-7D2C84D49580}"/>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Helvetica" panose="020B0604020202020204" pitchFamily="34" charset="0"/>
                <a:cs typeface="Helvetica" panose="020B0604020202020204" pitchFamily="34" charset="0"/>
              </a:rPr>
              <a:t>Outline</a:t>
            </a:r>
          </a:p>
        </p:txBody>
      </p:sp>
      <p:pic>
        <p:nvPicPr>
          <p:cNvPr id="12" name="Picture 11">
            <a:extLst>
              <a:ext uri="{FF2B5EF4-FFF2-40B4-BE49-F238E27FC236}">
                <a16:creationId xmlns:a16="http://schemas.microsoft.com/office/drawing/2014/main" id="{DF141940-AD30-79E8-B317-336DBA0557E4}"/>
              </a:ext>
            </a:extLst>
          </p:cNvPr>
          <p:cNvPicPr>
            <a:picLocks noChangeAspect="1"/>
          </p:cNvPicPr>
          <p:nvPr/>
        </p:nvPicPr>
        <p:blipFill>
          <a:blip r:embed="rId5"/>
          <a:stretch>
            <a:fillRect/>
          </a:stretch>
        </p:blipFill>
        <p:spPr>
          <a:xfrm>
            <a:off x="908288" y="2445923"/>
            <a:ext cx="204601" cy="204601"/>
          </a:xfrm>
          <a:prstGeom prst="rect">
            <a:avLst/>
          </a:prstGeom>
        </p:spPr>
      </p:pic>
      <p:sp>
        <p:nvSpPr>
          <p:cNvPr id="13" name="Content Placeholder 2">
            <a:extLst>
              <a:ext uri="{FF2B5EF4-FFF2-40B4-BE49-F238E27FC236}">
                <a16:creationId xmlns:a16="http://schemas.microsoft.com/office/drawing/2014/main" id="{981EFB25-FDCB-55F3-BBAC-4C1D6D2729FB}"/>
              </a:ext>
            </a:extLst>
          </p:cNvPr>
          <p:cNvSpPr txBox="1">
            <a:spLocks/>
          </p:cNvSpPr>
          <p:nvPr/>
        </p:nvSpPr>
        <p:spPr>
          <a:xfrm>
            <a:off x="1099193" y="1878246"/>
            <a:ext cx="10589871"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2">
                    <a:lumMod val="25000"/>
                  </a:schemeClr>
                </a:solidFill>
                <a:latin typeface="+mn-lt"/>
              </a:rPr>
              <a:t>Introduction</a:t>
            </a:r>
          </a:p>
          <a:p>
            <a:r>
              <a:rPr lang="en-US">
                <a:solidFill>
                  <a:schemeClr val="bg2">
                    <a:lumMod val="25000"/>
                  </a:schemeClr>
                </a:solidFill>
                <a:latin typeface="+mn-lt"/>
              </a:rPr>
              <a:t>Motivation</a:t>
            </a:r>
          </a:p>
          <a:p>
            <a:r>
              <a:rPr lang="en-US">
                <a:solidFill>
                  <a:srgbClr val="CC2637"/>
                </a:solidFill>
                <a:latin typeface="+mn-lt"/>
              </a:rPr>
              <a:t>Related Work</a:t>
            </a:r>
          </a:p>
          <a:p>
            <a:r>
              <a:rPr lang="en-US">
                <a:solidFill>
                  <a:schemeClr val="bg2">
                    <a:lumMod val="25000"/>
                  </a:schemeClr>
                </a:solidFill>
                <a:latin typeface="+mn-lt"/>
              </a:rPr>
              <a:t>Methodology</a:t>
            </a:r>
          </a:p>
          <a:p>
            <a:r>
              <a:rPr lang="en-US">
                <a:solidFill>
                  <a:schemeClr val="bg2">
                    <a:lumMod val="25000"/>
                  </a:schemeClr>
                </a:solidFill>
                <a:latin typeface="+mn-lt"/>
              </a:rPr>
              <a:t>Result and Discussion</a:t>
            </a:r>
          </a:p>
          <a:p>
            <a:r>
              <a:rPr lang="en-US">
                <a:solidFill>
                  <a:schemeClr val="bg2">
                    <a:lumMod val="25000"/>
                  </a:schemeClr>
                </a:solidFill>
                <a:latin typeface="+mn-lt"/>
              </a:rPr>
              <a:t>Conclusion</a:t>
            </a:r>
          </a:p>
          <a:p>
            <a:r>
              <a:rPr lang="en-US">
                <a:solidFill>
                  <a:schemeClr val="bg2">
                    <a:lumMod val="25000"/>
                  </a:schemeClr>
                </a:solidFill>
                <a:latin typeface="+mn-lt"/>
              </a:rPr>
              <a:t>References</a:t>
            </a:r>
          </a:p>
        </p:txBody>
      </p:sp>
      <p:pic>
        <p:nvPicPr>
          <p:cNvPr id="17" name="Picture 16">
            <a:extLst>
              <a:ext uri="{FF2B5EF4-FFF2-40B4-BE49-F238E27FC236}">
                <a16:creationId xmlns:a16="http://schemas.microsoft.com/office/drawing/2014/main" id="{6AEAC35B-BB85-C658-AA59-B9218E38E888}"/>
              </a:ext>
            </a:extLst>
          </p:cNvPr>
          <p:cNvPicPr>
            <a:picLocks noChangeAspect="1"/>
          </p:cNvPicPr>
          <p:nvPr/>
        </p:nvPicPr>
        <p:blipFill>
          <a:blip r:embed="rId5"/>
          <a:stretch>
            <a:fillRect/>
          </a:stretch>
        </p:blipFill>
        <p:spPr>
          <a:xfrm>
            <a:off x="908288" y="2876323"/>
            <a:ext cx="204601" cy="204601"/>
          </a:xfrm>
          <a:prstGeom prst="rect">
            <a:avLst/>
          </a:prstGeom>
        </p:spPr>
      </p:pic>
      <p:pic>
        <p:nvPicPr>
          <p:cNvPr id="19" name="Picture 18">
            <a:extLst>
              <a:ext uri="{FF2B5EF4-FFF2-40B4-BE49-F238E27FC236}">
                <a16:creationId xmlns:a16="http://schemas.microsoft.com/office/drawing/2014/main" id="{6228BAA7-5F93-B12A-0328-20F9069FFB32}"/>
              </a:ext>
            </a:extLst>
          </p:cNvPr>
          <p:cNvPicPr>
            <a:picLocks noChangeAspect="1"/>
          </p:cNvPicPr>
          <p:nvPr/>
        </p:nvPicPr>
        <p:blipFill>
          <a:blip r:embed="rId5"/>
          <a:stretch>
            <a:fillRect/>
          </a:stretch>
        </p:blipFill>
        <p:spPr>
          <a:xfrm>
            <a:off x="908288" y="3356241"/>
            <a:ext cx="204601" cy="204601"/>
          </a:xfrm>
          <a:prstGeom prst="rect">
            <a:avLst/>
          </a:prstGeom>
        </p:spPr>
      </p:pic>
      <p:pic>
        <p:nvPicPr>
          <p:cNvPr id="20" name="Picture 19">
            <a:extLst>
              <a:ext uri="{FF2B5EF4-FFF2-40B4-BE49-F238E27FC236}">
                <a16:creationId xmlns:a16="http://schemas.microsoft.com/office/drawing/2014/main" id="{A842A2A1-4D77-0BDC-659B-BAA70D62502F}"/>
              </a:ext>
            </a:extLst>
          </p:cNvPr>
          <p:cNvPicPr>
            <a:picLocks noChangeAspect="1"/>
          </p:cNvPicPr>
          <p:nvPr/>
        </p:nvPicPr>
        <p:blipFill>
          <a:blip r:embed="rId5"/>
          <a:stretch>
            <a:fillRect/>
          </a:stretch>
        </p:blipFill>
        <p:spPr>
          <a:xfrm>
            <a:off x="908288" y="3777077"/>
            <a:ext cx="204601" cy="204601"/>
          </a:xfrm>
          <a:prstGeom prst="rect">
            <a:avLst/>
          </a:prstGeom>
        </p:spPr>
      </p:pic>
      <p:pic>
        <p:nvPicPr>
          <p:cNvPr id="21" name="Picture 20">
            <a:extLst>
              <a:ext uri="{FF2B5EF4-FFF2-40B4-BE49-F238E27FC236}">
                <a16:creationId xmlns:a16="http://schemas.microsoft.com/office/drawing/2014/main" id="{9EEB1241-2AC6-5453-D7DC-5B3B842A791B}"/>
              </a:ext>
            </a:extLst>
          </p:cNvPr>
          <p:cNvPicPr>
            <a:picLocks noChangeAspect="1"/>
          </p:cNvPicPr>
          <p:nvPr/>
        </p:nvPicPr>
        <p:blipFill>
          <a:blip r:embed="rId5"/>
          <a:stretch>
            <a:fillRect/>
          </a:stretch>
        </p:blipFill>
        <p:spPr>
          <a:xfrm>
            <a:off x="908288" y="4255960"/>
            <a:ext cx="204601" cy="204601"/>
          </a:xfrm>
          <a:prstGeom prst="rect">
            <a:avLst/>
          </a:prstGeom>
        </p:spPr>
      </p:pic>
      <p:pic>
        <p:nvPicPr>
          <p:cNvPr id="22" name="Picture 21">
            <a:extLst>
              <a:ext uri="{FF2B5EF4-FFF2-40B4-BE49-F238E27FC236}">
                <a16:creationId xmlns:a16="http://schemas.microsoft.com/office/drawing/2014/main" id="{83CA71BD-B9C9-A016-8C40-E11177FF5210}"/>
              </a:ext>
            </a:extLst>
          </p:cNvPr>
          <p:cNvPicPr>
            <a:picLocks noChangeAspect="1"/>
          </p:cNvPicPr>
          <p:nvPr/>
        </p:nvPicPr>
        <p:blipFill>
          <a:blip r:embed="rId5"/>
          <a:stretch>
            <a:fillRect/>
          </a:stretch>
        </p:blipFill>
        <p:spPr>
          <a:xfrm>
            <a:off x="908288" y="4741177"/>
            <a:ext cx="204601" cy="204601"/>
          </a:xfrm>
          <a:prstGeom prst="rect">
            <a:avLst/>
          </a:prstGeom>
        </p:spPr>
      </p:pic>
      <p:sp>
        <p:nvSpPr>
          <p:cNvPr id="29" name="Rectangle 28">
            <a:extLst>
              <a:ext uri="{FF2B5EF4-FFF2-40B4-BE49-F238E27FC236}">
                <a16:creationId xmlns:a16="http://schemas.microsoft.com/office/drawing/2014/main" id="{92A9B34E-AF95-036E-BF70-A658191D8253}"/>
              </a:ext>
            </a:extLst>
          </p:cNvPr>
          <p:cNvSpPr/>
          <p:nvPr/>
        </p:nvSpPr>
        <p:spPr>
          <a:xfrm>
            <a:off x="3908968" y="1159846"/>
            <a:ext cx="7780096" cy="14919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D3330CC7-EB2B-3438-9353-A2F6AC0AEA36}"/>
              </a:ext>
            </a:extLst>
          </p:cNvPr>
          <p:cNvPicPr>
            <a:picLocks noChangeAspect="1"/>
          </p:cNvPicPr>
          <p:nvPr/>
        </p:nvPicPr>
        <p:blipFill>
          <a:blip r:embed="rId6"/>
          <a:stretch>
            <a:fillRect/>
          </a:stretch>
        </p:blipFill>
        <p:spPr>
          <a:xfrm>
            <a:off x="9106636" y="5735597"/>
            <a:ext cx="2582428" cy="645607"/>
          </a:xfrm>
          <a:prstGeom prst="rect">
            <a:avLst/>
          </a:prstGeom>
        </p:spPr>
      </p:pic>
      <p:pic>
        <p:nvPicPr>
          <p:cNvPr id="2" name="Picture 1">
            <a:extLst>
              <a:ext uri="{FF2B5EF4-FFF2-40B4-BE49-F238E27FC236}">
                <a16:creationId xmlns:a16="http://schemas.microsoft.com/office/drawing/2014/main" id="{03F2BA5C-6E11-B341-447E-C95BDF4C8F10}"/>
              </a:ext>
            </a:extLst>
          </p:cNvPr>
          <p:cNvPicPr>
            <a:picLocks noChangeAspect="1"/>
          </p:cNvPicPr>
          <p:nvPr/>
        </p:nvPicPr>
        <p:blipFill>
          <a:blip r:embed="rId7"/>
          <a:stretch>
            <a:fillRect/>
          </a:stretch>
        </p:blipFill>
        <p:spPr>
          <a:xfrm>
            <a:off x="908288" y="2878428"/>
            <a:ext cx="204602" cy="204602"/>
          </a:xfrm>
          <a:prstGeom prst="rect">
            <a:avLst/>
          </a:prstGeom>
        </p:spPr>
      </p:pic>
      <p:pic>
        <p:nvPicPr>
          <p:cNvPr id="3" name="Picture 2">
            <a:extLst>
              <a:ext uri="{FF2B5EF4-FFF2-40B4-BE49-F238E27FC236}">
                <a16:creationId xmlns:a16="http://schemas.microsoft.com/office/drawing/2014/main" id="{62B1E8AE-AECC-8606-5D4B-645DB61E2B89}"/>
              </a:ext>
            </a:extLst>
          </p:cNvPr>
          <p:cNvPicPr>
            <a:picLocks noChangeAspect="1"/>
          </p:cNvPicPr>
          <p:nvPr/>
        </p:nvPicPr>
        <p:blipFill>
          <a:blip r:embed="rId5"/>
          <a:stretch>
            <a:fillRect/>
          </a:stretch>
        </p:blipFill>
        <p:spPr>
          <a:xfrm>
            <a:off x="908288" y="1998712"/>
            <a:ext cx="204601" cy="204601"/>
          </a:xfrm>
          <a:prstGeom prst="rect">
            <a:avLst/>
          </a:prstGeom>
        </p:spPr>
      </p:pic>
    </p:spTree>
    <p:extLst>
      <p:ext uri="{BB962C8B-B14F-4D97-AF65-F5344CB8AC3E}">
        <p14:creationId xmlns:p14="http://schemas.microsoft.com/office/powerpoint/2010/main" val="3834273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2DA9B2A-6739-FB07-A37D-DCB6BA731D8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C0B8D08-FA47-5339-E8D2-A6BD7E8B1C90}"/>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Related Work</a:t>
            </a:r>
          </a:p>
        </p:txBody>
      </p:sp>
      <p:graphicFrame>
        <p:nvGraphicFramePr>
          <p:cNvPr id="2" name="Table 1">
            <a:extLst>
              <a:ext uri="{FF2B5EF4-FFF2-40B4-BE49-F238E27FC236}">
                <a16:creationId xmlns:a16="http://schemas.microsoft.com/office/drawing/2014/main" id="{D9021419-BB51-57C2-827B-14B7410C5901}"/>
              </a:ext>
            </a:extLst>
          </p:cNvPr>
          <p:cNvGraphicFramePr>
            <a:graphicFrameLocks noGrp="1"/>
          </p:cNvGraphicFramePr>
          <p:nvPr>
            <p:extLst>
              <p:ext uri="{D42A27DB-BD31-4B8C-83A1-F6EECF244321}">
                <p14:modId xmlns:p14="http://schemas.microsoft.com/office/powerpoint/2010/main" val="1005154013"/>
              </p:ext>
            </p:extLst>
          </p:nvPr>
        </p:nvGraphicFramePr>
        <p:xfrm>
          <a:off x="1674958" y="1834342"/>
          <a:ext cx="8842083" cy="3657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88894668"/>
                    </a:ext>
                  </a:extLst>
                </a:gridCol>
                <a:gridCol w="1516188">
                  <a:extLst>
                    <a:ext uri="{9D8B030D-6E8A-4147-A177-3AD203B41FA5}">
                      <a16:colId xmlns:a16="http://schemas.microsoft.com/office/drawing/2014/main" val="2166688458"/>
                    </a:ext>
                  </a:extLst>
                </a:gridCol>
                <a:gridCol w="2618072">
                  <a:extLst>
                    <a:ext uri="{9D8B030D-6E8A-4147-A177-3AD203B41FA5}">
                      <a16:colId xmlns:a16="http://schemas.microsoft.com/office/drawing/2014/main" val="1620205175"/>
                    </a:ext>
                  </a:extLst>
                </a:gridCol>
                <a:gridCol w="2675823">
                  <a:extLst>
                    <a:ext uri="{9D8B030D-6E8A-4147-A177-3AD203B41FA5}">
                      <a16:colId xmlns:a16="http://schemas.microsoft.com/office/drawing/2014/main" val="1669427559"/>
                    </a:ext>
                  </a:extLst>
                </a:gridCol>
              </a:tblGrid>
              <a:tr h="370840">
                <a:tc>
                  <a:txBody>
                    <a:bodyPr/>
                    <a:lstStyle/>
                    <a:p>
                      <a:r>
                        <a:rPr lang="en-US" sz="1800" b="1" i="0" kern="1200">
                          <a:solidFill>
                            <a:schemeClr val="bg2">
                              <a:lumMod val="10000"/>
                            </a:schemeClr>
                          </a:solidFill>
                          <a:effectLst/>
                          <a:latin typeface="+mn-lt"/>
                          <a:ea typeface="+mn-ea"/>
                          <a:cs typeface="+mn-cs"/>
                        </a:rPr>
                        <a:t>Authors(Year)</a:t>
                      </a:r>
                      <a:endParaRPr lang="en-US" sz="1800" b="1" kern="1200">
                        <a:solidFill>
                          <a:schemeClr val="bg2">
                            <a:lumMod val="10000"/>
                          </a:schemeClr>
                        </a:solidFill>
                        <a:latin typeface="+mn-lt"/>
                        <a:ea typeface="+mn-ea"/>
                        <a:cs typeface="+mn-cs"/>
                      </a:endParaRP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1" i="0" kern="1200">
                          <a:solidFill>
                            <a:schemeClr val="bg2">
                              <a:lumMod val="10000"/>
                            </a:schemeClr>
                          </a:solidFill>
                          <a:effectLst/>
                          <a:latin typeface="+mn-lt"/>
                          <a:ea typeface="+mn-ea"/>
                          <a:cs typeface="+mn-cs"/>
                        </a:rPr>
                        <a:t>Focus of Study</a:t>
                      </a:r>
                      <a:endParaRPr lang="en-US">
                        <a:solidFill>
                          <a:schemeClr val="bg2">
                            <a:lumMod val="10000"/>
                          </a:schemeClr>
                        </a:solidFill>
                      </a:endParaRP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1" i="0" kern="1200">
                          <a:solidFill>
                            <a:schemeClr val="bg2">
                              <a:lumMod val="10000"/>
                            </a:schemeClr>
                          </a:solidFill>
                          <a:effectLst/>
                          <a:latin typeface="+mn-lt"/>
                          <a:ea typeface="+mn-ea"/>
                          <a:cs typeface="+mn-cs"/>
                        </a:rPr>
                        <a:t>Key Findings​</a:t>
                      </a:r>
                      <a:endParaRPr lang="en-US">
                        <a:solidFill>
                          <a:schemeClr val="bg2">
                            <a:lumMod val="10000"/>
                          </a:schemeClr>
                        </a:solidFill>
                      </a:endParaRP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1" i="0" kern="1200">
                          <a:solidFill>
                            <a:schemeClr val="bg2">
                              <a:lumMod val="10000"/>
                            </a:schemeClr>
                          </a:solidFill>
                          <a:effectLst/>
                          <a:latin typeface="+mn-lt"/>
                          <a:ea typeface="+mn-ea"/>
                          <a:cs typeface="+mn-cs"/>
                        </a:rPr>
                        <a:t>Limitations</a:t>
                      </a:r>
                      <a:endParaRPr lang="en-US">
                        <a:solidFill>
                          <a:schemeClr val="bg2">
                            <a:lumMod val="10000"/>
                          </a:schemeClr>
                        </a:solidFill>
                      </a:endParaRP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6114378"/>
                  </a:ext>
                </a:extLst>
              </a:tr>
              <a:tr h="370840">
                <a:tc>
                  <a:txBody>
                    <a:bodyPr/>
                    <a:lstStyle/>
                    <a:p>
                      <a:r>
                        <a:rPr lang="sv-SE">
                          <a:solidFill>
                            <a:schemeClr val="bg1"/>
                          </a:solidFill>
                        </a:rPr>
                        <a:t>Patrick Stewin, Iurii Bystrov (2012)</a:t>
                      </a:r>
                      <a:endParaRPr lang="en-US">
                        <a:solidFill>
                          <a:schemeClr val="bg1"/>
                        </a:solidFill>
                      </a:endParaRP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Cybersecurity</a:t>
                      </a: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Explained and tested the feasibility of DMA-based Malware attacks.</a:t>
                      </a: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Recent DMA landscape was not discussed. VT-D?</a:t>
                      </a: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23252E"/>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extLst>
                  <a:ext uri="{0D108BD9-81ED-4DB2-BD59-A6C34878D82A}">
                    <a16:rowId xmlns:a16="http://schemas.microsoft.com/office/drawing/2014/main" val="3077163239"/>
                  </a:ext>
                </a:extLst>
              </a:tr>
              <a:tr h="370840">
                <a:tc>
                  <a:txBody>
                    <a:bodyPr/>
                    <a:lstStyle/>
                    <a:p>
                      <a:r>
                        <a:rPr lang="nl-NL">
                          <a:solidFill>
                            <a:schemeClr val="bg1"/>
                          </a:solidFill>
                        </a:rPr>
                        <a:t>Anna Trikalinou, Dan Lake (2017)</a:t>
                      </a:r>
                      <a:endParaRPr lang="en-US">
                        <a:solidFill>
                          <a:schemeClr val="bg1"/>
                        </a:solidFill>
                      </a:endParaRP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Cybersecurity</a:t>
                      </a:r>
                      <a:br>
                        <a:rPr lang="en-US">
                          <a:solidFill>
                            <a:schemeClr val="bg1"/>
                          </a:solidFill>
                        </a:rPr>
                      </a:br>
                      <a:br>
                        <a:rPr lang="en-US">
                          <a:solidFill>
                            <a:schemeClr val="bg1"/>
                          </a:solidFill>
                        </a:rPr>
                      </a:br>
                      <a:br>
                        <a:rPr lang="en-US">
                          <a:solidFill>
                            <a:schemeClr val="bg1"/>
                          </a:solidFill>
                        </a:rPr>
                      </a:br>
                      <a:endParaRPr lang="en-US">
                        <a:solidFill>
                          <a:srgbClr val="121212"/>
                        </a:solidFill>
                      </a:endParaRPr>
                    </a:p>
                  </a:txBody>
                  <a:tcPr>
                    <a:lnL w="12700" cap="flat" cmpd="sng" algn="ctr">
                      <a:solidFill>
                        <a:srgbClr val="23252E"/>
                      </a:solidFill>
                      <a:prstDash val="solid"/>
                      <a:round/>
                      <a:headEnd type="none" w="med" len="med"/>
                      <a:tailEnd type="none" w="med" len="med"/>
                    </a:lnL>
                    <a:lnR w="12700" cap="flat" cmpd="sng" algn="ctr">
                      <a:solidFill>
                        <a:srgbClr val="121212"/>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Hardware design and protocol limitations.</a:t>
                      </a:r>
                    </a:p>
                  </a:txBody>
                  <a:tcPr>
                    <a:lnL w="12700" cap="flat" cmpd="sng" algn="ctr">
                      <a:solidFill>
                        <a:srgbClr val="121212"/>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Acknowledged DMA attacks; how does it compare to malware?</a:t>
                      </a: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121212"/>
                      </a:solidFill>
                      <a:prstDash val="solid"/>
                      <a:round/>
                      <a:headEnd type="none" w="med" len="med"/>
                      <a:tailEnd type="none" w="med" len="med"/>
                    </a:lnB>
                    <a:lnTlToBr w="12700" cmpd="sng">
                      <a:noFill/>
                      <a:prstDash val="solid"/>
                    </a:lnTlToBr>
                    <a:lnBlToTr w="12700" cmpd="sng">
                      <a:noFill/>
                      <a:prstDash val="solid"/>
                    </a:lnBlToTr>
                    <a:solidFill>
                      <a:srgbClr val="CC2637"/>
                    </a:solidFill>
                  </a:tcPr>
                </a:tc>
                <a:extLst>
                  <a:ext uri="{0D108BD9-81ED-4DB2-BD59-A6C34878D82A}">
                    <a16:rowId xmlns:a16="http://schemas.microsoft.com/office/drawing/2014/main" val="1456542440"/>
                  </a:ext>
                </a:extLst>
              </a:tr>
              <a:tr h="370840">
                <a:tc>
                  <a:txBody>
                    <a:bodyPr/>
                    <a:lstStyle/>
                    <a:p>
                      <a:r>
                        <a:rPr lang="en-US">
                          <a:solidFill>
                            <a:schemeClr val="bg1"/>
                          </a:solidFill>
                        </a:rPr>
                        <a:t>Lu, Chao, et al (2022)</a:t>
                      </a: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Cybersecurity</a:t>
                      </a:r>
                      <a:br>
                        <a:rPr lang="en-US">
                          <a:solidFill>
                            <a:schemeClr val="bg1"/>
                          </a:solidFill>
                        </a:rPr>
                      </a:br>
                      <a:br>
                        <a:rPr lang="en-US">
                          <a:solidFill>
                            <a:schemeClr val="bg1"/>
                          </a:solidFill>
                        </a:rPr>
                      </a:br>
                      <a:endParaRPr lang="en-US">
                        <a:solidFill>
                          <a:srgbClr val="121212"/>
                        </a:solidFill>
                      </a:endParaRP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Proposes design method of DMA Controller</a:t>
                      </a: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rgbClr val="CC2637"/>
                    </a:solidFill>
                  </a:tcPr>
                </a:tc>
                <a:tc>
                  <a:txBody>
                    <a:bodyPr/>
                    <a:lstStyle/>
                    <a:p>
                      <a:r>
                        <a:rPr lang="en-US">
                          <a:solidFill>
                            <a:schemeClr val="bg1"/>
                          </a:solidFill>
                        </a:rPr>
                        <a:t>What applications does this board have?</a:t>
                      </a:r>
                    </a:p>
                  </a:txBody>
                  <a:tcPr>
                    <a:lnL w="12700" cap="flat" cmpd="sng" algn="ctr">
                      <a:solidFill>
                        <a:srgbClr val="23252E"/>
                      </a:solidFill>
                      <a:prstDash val="solid"/>
                      <a:round/>
                      <a:headEnd type="none" w="med" len="med"/>
                      <a:tailEnd type="none" w="med" len="med"/>
                    </a:lnL>
                    <a:lnR w="12700" cap="flat" cmpd="sng" algn="ctr">
                      <a:solidFill>
                        <a:srgbClr val="23252E"/>
                      </a:solidFill>
                      <a:prstDash val="solid"/>
                      <a:round/>
                      <a:headEnd type="none" w="med" len="med"/>
                      <a:tailEnd type="none" w="med" len="med"/>
                    </a:lnR>
                    <a:lnT w="12700" cap="flat" cmpd="sng" algn="ctr">
                      <a:solidFill>
                        <a:srgbClr val="121212"/>
                      </a:solidFill>
                      <a:prstDash val="solid"/>
                      <a:round/>
                      <a:headEnd type="none" w="med" len="med"/>
                      <a:tailEnd type="none" w="med" len="med"/>
                    </a:lnT>
                    <a:lnB w="12700" cap="flat" cmpd="sng" algn="ctr">
                      <a:solidFill>
                        <a:srgbClr val="23252E"/>
                      </a:solidFill>
                      <a:prstDash val="solid"/>
                      <a:round/>
                      <a:headEnd type="none" w="med" len="med"/>
                      <a:tailEnd type="none" w="med" len="med"/>
                    </a:lnB>
                    <a:lnTlToBr w="12700" cmpd="sng">
                      <a:noFill/>
                      <a:prstDash val="solid"/>
                    </a:lnTlToBr>
                    <a:lnBlToTr w="12700" cmpd="sng">
                      <a:noFill/>
                      <a:prstDash val="solid"/>
                    </a:lnBlToTr>
                    <a:solidFill>
                      <a:srgbClr val="CC2637"/>
                    </a:solidFill>
                  </a:tcPr>
                </a:tc>
                <a:extLst>
                  <a:ext uri="{0D108BD9-81ED-4DB2-BD59-A6C34878D82A}">
                    <a16:rowId xmlns:a16="http://schemas.microsoft.com/office/drawing/2014/main" val="1876608300"/>
                  </a:ext>
                </a:extLst>
              </a:tr>
            </a:tbl>
          </a:graphicData>
        </a:graphic>
      </p:graphicFrame>
      <p:pic>
        <p:nvPicPr>
          <p:cNvPr id="3" name="Picture 2">
            <a:extLst>
              <a:ext uri="{FF2B5EF4-FFF2-40B4-BE49-F238E27FC236}">
                <a16:creationId xmlns:a16="http://schemas.microsoft.com/office/drawing/2014/main" id="{1EFDA910-DBA8-BCE7-3767-F963A3EA77BF}"/>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4" name="Picture 3">
            <a:extLst>
              <a:ext uri="{FF2B5EF4-FFF2-40B4-BE49-F238E27FC236}">
                <a16:creationId xmlns:a16="http://schemas.microsoft.com/office/drawing/2014/main" id="{A5506036-336B-A15F-AB97-6F7D0A99E2CE}"/>
              </a:ext>
            </a:extLst>
          </p:cNvPr>
          <p:cNvPicPr>
            <a:picLocks noChangeAspect="1"/>
          </p:cNvPicPr>
          <p:nvPr/>
        </p:nvPicPr>
        <p:blipFill>
          <a:blip r:embed="rId4"/>
          <a:stretch>
            <a:fillRect/>
          </a:stretch>
        </p:blipFill>
        <p:spPr>
          <a:xfrm>
            <a:off x="699785" y="6058401"/>
            <a:ext cx="1179499" cy="393166"/>
          </a:xfrm>
          <a:prstGeom prst="rect">
            <a:avLst/>
          </a:prstGeom>
        </p:spPr>
      </p:pic>
    </p:spTree>
    <p:extLst>
      <p:ext uri="{BB962C8B-B14F-4D97-AF65-F5344CB8AC3E}">
        <p14:creationId xmlns:p14="http://schemas.microsoft.com/office/powerpoint/2010/main" val="3436665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8BBC697-97DC-EB4B-73B1-C95EF4DCCD6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1A5A3FB-78F4-A13E-9582-C945E0E2EEC0}"/>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E3918733-89F3-6FD2-3CE0-AC4BA6CDB811}"/>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44FC8B34-DC5C-520D-3BFA-2A448682D47C}"/>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Helvetica" panose="020B0604020202020204" pitchFamily="34" charset="0"/>
                <a:cs typeface="Helvetica" panose="020B0604020202020204" pitchFamily="34" charset="0"/>
              </a:rPr>
              <a:t>Outline</a:t>
            </a:r>
          </a:p>
        </p:txBody>
      </p:sp>
      <p:pic>
        <p:nvPicPr>
          <p:cNvPr id="12" name="Picture 11">
            <a:extLst>
              <a:ext uri="{FF2B5EF4-FFF2-40B4-BE49-F238E27FC236}">
                <a16:creationId xmlns:a16="http://schemas.microsoft.com/office/drawing/2014/main" id="{73AC6295-33D3-B564-B0FC-8F7FB81CBC7C}"/>
              </a:ext>
            </a:extLst>
          </p:cNvPr>
          <p:cNvPicPr>
            <a:picLocks noChangeAspect="1"/>
          </p:cNvPicPr>
          <p:nvPr/>
        </p:nvPicPr>
        <p:blipFill>
          <a:blip r:embed="rId5"/>
          <a:stretch>
            <a:fillRect/>
          </a:stretch>
        </p:blipFill>
        <p:spPr>
          <a:xfrm>
            <a:off x="908288" y="2445923"/>
            <a:ext cx="204601" cy="204601"/>
          </a:xfrm>
          <a:prstGeom prst="rect">
            <a:avLst/>
          </a:prstGeom>
        </p:spPr>
      </p:pic>
      <p:sp>
        <p:nvSpPr>
          <p:cNvPr id="13" name="Content Placeholder 2">
            <a:extLst>
              <a:ext uri="{FF2B5EF4-FFF2-40B4-BE49-F238E27FC236}">
                <a16:creationId xmlns:a16="http://schemas.microsoft.com/office/drawing/2014/main" id="{982857C8-0D3D-01DB-81AA-903FCEEDBB84}"/>
              </a:ext>
            </a:extLst>
          </p:cNvPr>
          <p:cNvSpPr txBox="1">
            <a:spLocks/>
          </p:cNvSpPr>
          <p:nvPr/>
        </p:nvSpPr>
        <p:spPr>
          <a:xfrm>
            <a:off x="1099193" y="1878246"/>
            <a:ext cx="10589871"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2">
                    <a:lumMod val="25000"/>
                  </a:schemeClr>
                </a:solidFill>
                <a:latin typeface="+mn-lt"/>
              </a:rPr>
              <a:t>Introduction</a:t>
            </a:r>
          </a:p>
          <a:p>
            <a:r>
              <a:rPr lang="en-US">
                <a:solidFill>
                  <a:schemeClr val="bg2">
                    <a:lumMod val="25000"/>
                  </a:schemeClr>
                </a:solidFill>
                <a:latin typeface="+mn-lt"/>
              </a:rPr>
              <a:t>Motivation</a:t>
            </a:r>
          </a:p>
          <a:p>
            <a:r>
              <a:rPr lang="en-US">
                <a:solidFill>
                  <a:schemeClr val="bg2">
                    <a:lumMod val="25000"/>
                  </a:schemeClr>
                </a:solidFill>
                <a:latin typeface="+mn-lt"/>
              </a:rPr>
              <a:t>Related Work</a:t>
            </a:r>
          </a:p>
          <a:p>
            <a:r>
              <a:rPr lang="en-US">
                <a:solidFill>
                  <a:srgbClr val="CC2637"/>
                </a:solidFill>
                <a:latin typeface="+mn-lt"/>
              </a:rPr>
              <a:t>Methodology</a:t>
            </a:r>
          </a:p>
          <a:p>
            <a:r>
              <a:rPr lang="en-US">
                <a:solidFill>
                  <a:schemeClr val="bg2">
                    <a:lumMod val="25000"/>
                  </a:schemeClr>
                </a:solidFill>
                <a:latin typeface="+mn-lt"/>
              </a:rPr>
              <a:t>Result and Discussion</a:t>
            </a:r>
          </a:p>
          <a:p>
            <a:r>
              <a:rPr lang="en-US">
                <a:solidFill>
                  <a:schemeClr val="bg2">
                    <a:lumMod val="25000"/>
                  </a:schemeClr>
                </a:solidFill>
                <a:latin typeface="+mn-lt"/>
              </a:rPr>
              <a:t>Conclusion</a:t>
            </a:r>
          </a:p>
          <a:p>
            <a:r>
              <a:rPr lang="en-US">
                <a:solidFill>
                  <a:schemeClr val="bg2">
                    <a:lumMod val="25000"/>
                  </a:schemeClr>
                </a:solidFill>
                <a:latin typeface="+mn-lt"/>
              </a:rPr>
              <a:t>References</a:t>
            </a:r>
          </a:p>
        </p:txBody>
      </p:sp>
      <p:pic>
        <p:nvPicPr>
          <p:cNvPr id="17" name="Picture 16">
            <a:extLst>
              <a:ext uri="{FF2B5EF4-FFF2-40B4-BE49-F238E27FC236}">
                <a16:creationId xmlns:a16="http://schemas.microsoft.com/office/drawing/2014/main" id="{91199885-814E-DE1A-C19E-1E6C040A4D34}"/>
              </a:ext>
            </a:extLst>
          </p:cNvPr>
          <p:cNvPicPr>
            <a:picLocks noChangeAspect="1"/>
          </p:cNvPicPr>
          <p:nvPr/>
        </p:nvPicPr>
        <p:blipFill>
          <a:blip r:embed="rId5"/>
          <a:stretch>
            <a:fillRect/>
          </a:stretch>
        </p:blipFill>
        <p:spPr>
          <a:xfrm>
            <a:off x="908288" y="2876323"/>
            <a:ext cx="204601" cy="204601"/>
          </a:xfrm>
          <a:prstGeom prst="rect">
            <a:avLst/>
          </a:prstGeom>
        </p:spPr>
      </p:pic>
      <p:pic>
        <p:nvPicPr>
          <p:cNvPr id="19" name="Picture 18">
            <a:extLst>
              <a:ext uri="{FF2B5EF4-FFF2-40B4-BE49-F238E27FC236}">
                <a16:creationId xmlns:a16="http://schemas.microsoft.com/office/drawing/2014/main" id="{0AD6490B-74FD-6CD5-040C-A2D8C2D33234}"/>
              </a:ext>
            </a:extLst>
          </p:cNvPr>
          <p:cNvPicPr>
            <a:picLocks noChangeAspect="1"/>
          </p:cNvPicPr>
          <p:nvPr/>
        </p:nvPicPr>
        <p:blipFill>
          <a:blip r:embed="rId5"/>
          <a:stretch>
            <a:fillRect/>
          </a:stretch>
        </p:blipFill>
        <p:spPr>
          <a:xfrm>
            <a:off x="908288" y="3356241"/>
            <a:ext cx="204601" cy="204601"/>
          </a:xfrm>
          <a:prstGeom prst="rect">
            <a:avLst/>
          </a:prstGeom>
        </p:spPr>
      </p:pic>
      <p:pic>
        <p:nvPicPr>
          <p:cNvPr id="20" name="Picture 19">
            <a:extLst>
              <a:ext uri="{FF2B5EF4-FFF2-40B4-BE49-F238E27FC236}">
                <a16:creationId xmlns:a16="http://schemas.microsoft.com/office/drawing/2014/main" id="{8C33B108-880E-07C1-AE4C-5DDCBE05411C}"/>
              </a:ext>
            </a:extLst>
          </p:cNvPr>
          <p:cNvPicPr>
            <a:picLocks noChangeAspect="1"/>
          </p:cNvPicPr>
          <p:nvPr/>
        </p:nvPicPr>
        <p:blipFill>
          <a:blip r:embed="rId5"/>
          <a:stretch>
            <a:fillRect/>
          </a:stretch>
        </p:blipFill>
        <p:spPr>
          <a:xfrm>
            <a:off x="908288" y="3777077"/>
            <a:ext cx="204601" cy="204601"/>
          </a:xfrm>
          <a:prstGeom prst="rect">
            <a:avLst/>
          </a:prstGeom>
        </p:spPr>
      </p:pic>
      <p:pic>
        <p:nvPicPr>
          <p:cNvPr id="21" name="Picture 20">
            <a:extLst>
              <a:ext uri="{FF2B5EF4-FFF2-40B4-BE49-F238E27FC236}">
                <a16:creationId xmlns:a16="http://schemas.microsoft.com/office/drawing/2014/main" id="{BCAEDB8C-FED2-EBBE-6E0E-158DBFDF6870}"/>
              </a:ext>
            </a:extLst>
          </p:cNvPr>
          <p:cNvPicPr>
            <a:picLocks noChangeAspect="1"/>
          </p:cNvPicPr>
          <p:nvPr/>
        </p:nvPicPr>
        <p:blipFill>
          <a:blip r:embed="rId5"/>
          <a:stretch>
            <a:fillRect/>
          </a:stretch>
        </p:blipFill>
        <p:spPr>
          <a:xfrm>
            <a:off x="908288" y="4255960"/>
            <a:ext cx="204601" cy="204601"/>
          </a:xfrm>
          <a:prstGeom prst="rect">
            <a:avLst/>
          </a:prstGeom>
        </p:spPr>
      </p:pic>
      <p:pic>
        <p:nvPicPr>
          <p:cNvPr id="22" name="Picture 21">
            <a:extLst>
              <a:ext uri="{FF2B5EF4-FFF2-40B4-BE49-F238E27FC236}">
                <a16:creationId xmlns:a16="http://schemas.microsoft.com/office/drawing/2014/main" id="{44D6A0D2-41CA-1E15-1B5C-661E9BD3AEAF}"/>
              </a:ext>
            </a:extLst>
          </p:cNvPr>
          <p:cNvPicPr>
            <a:picLocks noChangeAspect="1"/>
          </p:cNvPicPr>
          <p:nvPr/>
        </p:nvPicPr>
        <p:blipFill>
          <a:blip r:embed="rId5"/>
          <a:stretch>
            <a:fillRect/>
          </a:stretch>
        </p:blipFill>
        <p:spPr>
          <a:xfrm>
            <a:off x="908288" y="4741177"/>
            <a:ext cx="204601" cy="204601"/>
          </a:xfrm>
          <a:prstGeom prst="rect">
            <a:avLst/>
          </a:prstGeom>
        </p:spPr>
      </p:pic>
      <p:sp>
        <p:nvSpPr>
          <p:cNvPr id="29" name="Rectangle 28">
            <a:extLst>
              <a:ext uri="{FF2B5EF4-FFF2-40B4-BE49-F238E27FC236}">
                <a16:creationId xmlns:a16="http://schemas.microsoft.com/office/drawing/2014/main" id="{1126C5A8-7F64-3207-2D41-C75F7D85111C}"/>
              </a:ext>
            </a:extLst>
          </p:cNvPr>
          <p:cNvSpPr/>
          <p:nvPr/>
        </p:nvSpPr>
        <p:spPr>
          <a:xfrm>
            <a:off x="3908968" y="1159846"/>
            <a:ext cx="7780096" cy="14919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D105B96B-EDDF-27EB-C710-3699E61ACA49}"/>
              </a:ext>
            </a:extLst>
          </p:cNvPr>
          <p:cNvPicPr>
            <a:picLocks noChangeAspect="1"/>
          </p:cNvPicPr>
          <p:nvPr/>
        </p:nvPicPr>
        <p:blipFill>
          <a:blip r:embed="rId6"/>
          <a:stretch>
            <a:fillRect/>
          </a:stretch>
        </p:blipFill>
        <p:spPr>
          <a:xfrm>
            <a:off x="9106636" y="5735597"/>
            <a:ext cx="2582428" cy="645607"/>
          </a:xfrm>
          <a:prstGeom prst="rect">
            <a:avLst/>
          </a:prstGeom>
        </p:spPr>
      </p:pic>
      <p:pic>
        <p:nvPicPr>
          <p:cNvPr id="2" name="Picture 1">
            <a:extLst>
              <a:ext uri="{FF2B5EF4-FFF2-40B4-BE49-F238E27FC236}">
                <a16:creationId xmlns:a16="http://schemas.microsoft.com/office/drawing/2014/main" id="{7F7B8BA6-FB48-0CD4-6F02-64BCD07C9078}"/>
              </a:ext>
            </a:extLst>
          </p:cNvPr>
          <p:cNvPicPr>
            <a:picLocks noChangeAspect="1"/>
          </p:cNvPicPr>
          <p:nvPr/>
        </p:nvPicPr>
        <p:blipFill>
          <a:blip r:embed="rId7"/>
          <a:stretch>
            <a:fillRect/>
          </a:stretch>
        </p:blipFill>
        <p:spPr>
          <a:xfrm>
            <a:off x="908287" y="3356794"/>
            <a:ext cx="204602" cy="204602"/>
          </a:xfrm>
          <a:prstGeom prst="rect">
            <a:avLst/>
          </a:prstGeom>
        </p:spPr>
      </p:pic>
      <p:pic>
        <p:nvPicPr>
          <p:cNvPr id="3" name="Picture 2">
            <a:extLst>
              <a:ext uri="{FF2B5EF4-FFF2-40B4-BE49-F238E27FC236}">
                <a16:creationId xmlns:a16="http://schemas.microsoft.com/office/drawing/2014/main" id="{C2B01C27-E81E-B593-AE9E-90148588211B}"/>
              </a:ext>
            </a:extLst>
          </p:cNvPr>
          <p:cNvPicPr>
            <a:picLocks noChangeAspect="1"/>
          </p:cNvPicPr>
          <p:nvPr/>
        </p:nvPicPr>
        <p:blipFill>
          <a:blip r:embed="rId5"/>
          <a:stretch>
            <a:fillRect/>
          </a:stretch>
        </p:blipFill>
        <p:spPr>
          <a:xfrm>
            <a:off x="908288" y="1998712"/>
            <a:ext cx="204601" cy="204601"/>
          </a:xfrm>
          <a:prstGeom prst="rect">
            <a:avLst/>
          </a:prstGeom>
        </p:spPr>
      </p:pic>
    </p:spTree>
    <p:extLst>
      <p:ext uri="{BB962C8B-B14F-4D97-AF65-F5344CB8AC3E}">
        <p14:creationId xmlns:p14="http://schemas.microsoft.com/office/powerpoint/2010/main" val="1604631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EDD3A4DC-BD55-363C-B560-0FF6DAAFF1A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0D2E4CC7-D549-CF3F-DBAC-04A25BC962D9}"/>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74819A31-B4AC-360E-1052-FA37F6B4A653}"/>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0AD2F3B5-7895-A6B8-57B6-4F06CDD7F5FB}"/>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Methodology</a:t>
            </a:r>
          </a:p>
        </p:txBody>
      </p:sp>
      <p:sp>
        <p:nvSpPr>
          <p:cNvPr id="20" name="TextBox 19">
            <a:extLst>
              <a:ext uri="{FF2B5EF4-FFF2-40B4-BE49-F238E27FC236}">
                <a16:creationId xmlns:a16="http://schemas.microsoft.com/office/drawing/2014/main" id="{DAE096D6-A912-0A48-D038-DC7DD0BAA5C8}"/>
              </a:ext>
            </a:extLst>
          </p:cNvPr>
          <p:cNvSpPr txBox="1"/>
          <p:nvPr/>
        </p:nvSpPr>
        <p:spPr>
          <a:xfrm>
            <a:off x="759837" y="1690688"/>
            <a:ext cx="8346800" cy="830997"/>
          </a:xfrm>
          <a:prstGeom prst="rect">
            <a:avLst/>
          </a:prstGeom>
          <a:noFill/>
        </p:spPr>
        <p:txBody>
          <a:bodyPr wrap="square">
            <a:spAutoFit/>
          </a:bodyPr>
          <a:lstStyle/>
          <a:p>
            <a:r>
              <a:rPr lang="en-US" sz="2400" b="1" dirty="0">
                <a:solidFill>
                  <a:schemeClr val="tx2">
                    <a:lumMod val="60000"/>
                    <a:lumOff val="40000"/>
                  </a:schemeClr>
                </a:solidFill>
                <a:latin typeface="Adobe Garamond Pro"/>
              </a:rPr>
              <a:t>Screamer PCIe Squirrel</a:t>
            </a:r>
            <a:r>
              <a:rPr lang="en-US" sz="2400" dirty="0">
                <a:solidFill>
                  <a:schemeClr val="tx2">
                    <a:lumMod val="60000"/>
                    <a:lumOff val="40000"/>
                  </a:schemeClr>
                </a:solidFill>
                <a:latin typeface="Adobe Garamond Pro"/>
              </a:rPr>
              <a:t>, a circuit board designed to issue DMA attacks using the PCI Express port. </a:t>
            </a:r>
            <a:endParaRPr lang="en-US" sz="2400" b="1" dirty="0">
              <a:solidFill>
                <a:schemeClr val="tx2">
                  <a:lumMod val="60000"/>
                  <a:lumOff val="40000"/>
                </a:schemeClr>
              </a:solidFill>
              <a:latin typeface="Adobe Garamond Pro"/>
            </a:endParaRPr>
          </a:p>
        </p:txBody>
      </p:sp>
      <p:pic>
        <p:nvPicPr>
          <p:cNvPr id="25" name="Picture 24">
            <a:extLst>
              <a:ext uri="{FF2B5EF4-FFF2-40B4-BE49-F238E27FC236}">
                <a16:creationId xmlns:a16="http://schemas.microsoft.com/office/drawing/2014/main" id="{E436CFA7-9F40-D975-97F4-F7D001A97E12}"/>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37" name="Picture 36">
            <a:extLst>
              <a:ext uri="{FF2B5EF4-FFF2-40B4-BE49-F238E27FC236}">
                <a16:creationId xmlns:a16="http://schemas.microsoft.com/office/drawing/2014/main" id="{C03162FF-896E-DE16-B876-E6AAA9C5CB15}"/>
              </a:ext>
            </a:extLst>
          </p:cNvPr>
          <p:cNvPicPr>
            <a:picLocks noChangeAspect="1"/>
          </p:cNvPicPr>
          <p:nvPr/>
        </p:nvPicPr>
        <p:blipFill>
          <a:blip r:embed="rId6"/>
          <a:stretch>
            <a:fillRect/>
          </a:stretch>
        </p:blipFill>
        <p:spPr>
          <a:xfrm>
            <a:off x="850285" y="3016251"/>
            <a:ext cx="78362" cy="156011"/>
          </a:xfrm>
          <a:prstGeom prst="rect">
            <a:avLst/>
          </a:prstGeom>
        </p:spPr>
      </p:pic>
      <p:sp>
        <p:nvSpPr>
          <p:cNvPr id="22" name="TextBox 21">
            <a:extLst>
              <a:ext uri="{FF2B5EF4-FFF2-40B4-BE49-F238E27FC236}">
                <a16:creationId xmlns:a16="http://schemas.microsoft.com/office/drawing/2014/main" id="{430C2757-ED92-3B6E-1477-2854563ABCBD}"/>
              </a:ext>
            </a:extLst>
          </p:cNvPr>
          <p:cNvSpPr txBox="1"/>
          <p:nvPr/>
        </p:nvSpPr>
        <p:spPr>
          <a:xfrm>
            <a:off x="928647" y="2863423"/>
            <a:ext cx="6180714" cy="461665"/>
          </a:xfrm>
          <a:prstGeom prst="rect">
            <a:avLst/>
          </a:prstGeom>
          <a:noFill/>
        </p:spPr>
        <p:txBody>
          <a:bodyPr wrap="square">
            <a:spAutoFit/>
          </a:bodyPr>
          <a:lstStyle/>
          <a:p>
            <a:r>
              <a:rPr lang="en-US" sz="2400">
                <a:solidFill>
                  <a:schemeClr val="tx2">
                    <a:lumMod val="60000"/>
                    <a:lumOff val="40000"/>
                  </a:schemeClr>
                </a:solidFill>
                <a:latin typeface="Adobe Garamond Pro"/>
              </a:rPr>
              <a:t>Specifically designed for DMA Attacks</a:t>
            </a:r>
            <a:endParaRPr lang="en-US" sz="2400" b="1">
              <a:solidFill>
                <a:schemeClr val="tx2">
                  <a:lumMod val="60000"/>
                  <a:lumOff val="40000"/>
                </a:schemeClr>
              </a:solidFill>
              <a:latin typeface="Adobe Garamond Pro"/>
            </a:endParaRPr>
          </a:p>
        </p:txBody>
      </p:sp>
      <p:pic>
        <p:nvPicPr>
          <p:cNvPr id="27" name="Picture 26">
            <a:extLst>
              <a:ext uri="{FF2B5EF4-FFF2-40B4-BE49-F238E27FC236}">
                <a16:creationId xmlns:a16="http://schemas.microsoft.com/office/drawing/2014/main" id="{A4022256-F7A3-6AA0-DC24-0DEBBB6E0C34}"/>
              </a:ext>
            </a:extLst>
          </p:cNvPr>
          <p:cNvPicPr>
            <a:picLocks noChangeAspect="1"/>
          </p:cNvPicPr>
          <p:nvPr/>
        </p:nvPicPr>
        <p:blipFill>
          <a:blip r:embed="rId7"/>
          <a:stretch>
            <a:fillRect/>
          </a:stretch>
        </p:blipFill>
        <p:spPr>
          <a:xfrm>
            <a:off x="7236575" y="2442310"/>
            <a:ext cx="4191494" cy="2809875"/>
          </a:xfrm>
          <a:prstGeom prst="rect">
            <a:avLst/>
          </a:prstGeom>
          <a:effectLst>
            <a:outerShdw blurRad="50800" dist="38100" dir="5400000" sx="103000" sy="103000" algn="t" rotWithShape="0">
              <a:prstClr val="black">
                <a:alpha val="41000"/>
              </a:prstClr>
            </a:outerShdw>
          </a:effectLst>
        </p:spPr>
      </p:pic>
      <p:pic>
        <p:nvPicPr>
          <p:cNvPr id="28" name="Picture 27">
            <a:extLst>
              <a:ext uri="{FF2B5EF4-FFF2-40B4-BE49-F238E27FC236}">
                <a16:creationId xmlns:a16="http://schemas.microsoft.com/office/drawing/2014/main" id="{5842EA84-880E-E5A7-9095-11C1FF68C0F1}"/>
              </a:ext>
            </a:extLst>
          </p:cNvPr>
          <p:cNvPicPr>
            <a:picLocks noChangeAspect="1"/>
          </p:cNvPicPr>
          <p:nvPr/>
        </p:nvPicPr>
        <p:blipFill>
          <a:blip r:embed="rId6"/>
          <a:stretch>
            <a:fillRect/>
          </a:stretch>
        </p:blipFill>
        <p:spPr>
          <a:xfrm>
            <a:off x="850285" y="3532913"/>
            <a:ext cx="78362" cy="156011"/>
          </a:xfrm>
          <a:prstGeom prst="rect">
            <a:avLst/>
          </a:prstGeom>
        </p:spPr>
      </p:pic>
      <p:sp>
        <p:nvSpPr>
          <p:cNvPr id="29" name="TextBox 28">
            <a:extLst>
              <a:ext uri="{FF2B5EF4-FFF2-40B4-BE49-F238E27FC236}">
                <a16:creationId xmlns:a16="http://schemas.microsoft.com/office/drawing/2014/main" id="{3E48EC34-14D4-C561-93B1-75B62C75D5C9}"/>
              </a:ext>
            </a:extLst>
          </p:cNvPr>
          <p:cNvSpPr txBox="1"/>
          <p:nvPr/>
        </p:nvSpPr>
        <p:spPr>
          <a:xfrm>
            <a:off x="928647" y="3380085"/>
            <a:ext cx="6180714" cy="830997"/>
          </a:xfrm>
          <a:prstGeom prst="rect">
            <a:avLst/>
          </a:prstGeom>
          <a:noFill/>
        </p:spPr>
        <p:txBody>
          <a:bodyPr wrap="square">
            <a:spAutoFit/>
          </a:bodyPr>
          <a:lstStyle/>
          <a:p>
            <a:r>
              <a:rPr lang="en-US" sz="2400">
                <a:solidFill>
                  <a:schemeClr val="tx2">
                    <a:lumMod val="60000"/>
                    <a:lumOff val="40000"/>
                  </a:schemeClr>
                </a:solidFill>
                <a:latin typeface="Adobe Garamond Pro"/>
              </a:rPr>
              <a:t>Supported by various software to interface with target device</a:t>
            </a:r>
            <a:endParaRPr lang="en-US" sz="2400" b="1">
              <a:solidFill>
                <a:schemeClr val="tx2">
                  <a:lumMod val="60000"/>
                  <a:lumOff val="40000"/>
                </a:schemeClr>
              </a:solidFill>
              <a:latin typeface="Adobe Garamond Pro"/>
            </a:endParaRPr>
          </a:p>
        </p:txBody>
      </p:sp>
    </p:spTree>
    <p:extLst>
      <p:ext uri="{BB962C8B-B14F-4D97-AF65-F5344CB8AC3E}">
        <p14:creationId xmlns:p14="http://schemas.microsoft.com/office/powerpoint/2010/main" val="2531627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117C388C-554C-019C-B935-7B1AED6D60CF}"/>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64A76E3A-5301-0A31-3318-8C857903FB19}"/>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DACA6B45-D7B5-8102-FF7F-E723E6556E62}"/>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D70A05BE-284F-BCC4-F70B-8BD50BF848C5}"/>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PCILeech</a:t>
            </a:r>
          </a:p>
        </p:txBody>
      </p:sp>
      <p:sp>
        <p:nvSpPr>
          <p:cNvPr id="20" name="TextBox 19">
            <a:extLst>
              <a:ext uri="{FF2B5EF4-FFF2-40B4-BE49-F238E27FC236}">
                <a16:creationId xmlns:a16="http://schemas.microsoft.com/office/drawing/2014/main" id="{143052F8-E236-62B4-3E18-7A809ABB79D3}"/>
              </a:ext>
            </a:extLst>
          </p:cNvPr>
          <p:cNvSpPr txBox="1"/>
          <p:nvPr/>
        </p:nvSpPr>
        <p:spPr>
          <a:xfrm>
            <a:off x="759837" y="1690688"/>
            <a:ext cx="10356896" cy="461665"/>
          </a:xfrm>
          <a:prstGeom prst="rect">
            <a:avLst/>
          </a:prstGeom>
          <a:noFill/>
        </p:spPr>
        <p:txBody>
          <a:bodyPr wrap="square">
            <a:spAutoFit/>
          </a:bodyPr>
          <a:lstStyle/>
          <a:p>
            <a:r>
              <a:rPr lang="en-US" sz="2400">
                <a:solidFill>
                  <a:schemeClr val="tx2">
                    <a:lumMod val="60000"/>
                    <a:lumOff val="40000"/>
                  </a:schemeClr>
                </a:solidFill>
                <a:latin typeface="Adobe Garamond Pro"/>
              </a:rPr>
              <a:t>Our attack uses </a:t>
            </a:r>
            <a:r>
              <a:rPr lang="en-US" sz="2400" b="1" dirty="0" err="1">
                <a:solidFill>
                  <a:schemeClr val="tx2">
                    <a:lumMod val="60000"/>
                    <a:lumOff val="40000"/>
                  </a:schemeClr>
                </a:solidFill>
                <a:latin typeface="Adobe Garamond Pro"/>
              </a:rPr>
              <a:t>PCILeech</a:t>
            </a:r>
            <a:r>
              <a:rPr lang="en-US" sz="2400" dirty="0">
                <a:solidFill>
                  <a:schemeClr val="tx2">
                    <a:lumMod val="60000"/>
                    <a:lumOff val="40000"/>
                  </a:schemeClr>
                </a:solidFill>
                <a:latin typeface="Adobe Garamond Pro"/>
              </a:rPr>
              <a:t>, a software by </a:t>
            </a:r>
            <a:r>
              <a:rPr lang="en-US" sz="2400" b="1" dirty="0">
                <a:solidFill>
                  <a:schemeClr val="tx2">
                    <a:lumMod val="60000"/>
                    <a:lumOff val="40000"/>
                  </a:schemeClr>
                </a:solidFill>
                <a:latin typeface="Adobe Garamond Pro"/>
              </a:rPr>
              <a:t>Ulf Frisk</a:t>
            </a:r>
            <a:r>
              <a:rPr lang="en-US" sz="2400" dirty="0">
                <a:solidFill>
                  <a:schemeClr val="tx2">
                    <a:lumMod val="60000"/>
                    <a:lumOff val="40000"/>
                  </a:schemeClr>
                </a:solidFill>
                <a:latin typeface="Adobe Garamond Pro"/>
              </a:rPr>
              <a:t> on </a:t>
            </a:r>
            <a:r>
              <a:rPr lang="en-US" sz="2400" dirty="0" err="1">
                <a:solidFill>
                  <a:schemeClr val="tx2">
                    <a:lumMod val="60000"/>
                    <a:lumOff val="40000"/>
                  </a:schemeClr>
                </a:solidFill>
                <a:latin typeface="Adobe Garamond Pro"/>
              </a:rPr>
              <a:t>Github</a:t>
            </a:r>
            <a:r>
              <a:rPr lang="en-US" sz="2400" dirty="0">
                <a:solidFill>
                  <a:schemeClr val="tx2">
                    <a:lumMod val="60000"/>
                    <a:lumOff val="40000"/>
                  </a:schemeClr>
                </a:solidFill>
                <a:latin typeface="Adobe Garamond Pro"/>
              </a:rPr>
              <a:t>.</a:t>
            </a:r>
          </a:p>
        </p:txBody>
      </p:sp>
      <p:pic>
        <p:nvPicPr>
          <p:cNvPr id="25" name="Picture 24">
            <a:extLst>
              <a:ext uri="{FF2B5EF4-FFF2-40B4-BE49-F238E27FC236}">
                <a16:creationId xmlns:a16="http://schemas.microsoft.com/office/drawing/2014/main" id="{42564747-24F9-12E1-ED32-4DFE5221A753}"/>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2050" name="Picture 2">
            <a:extLst>
              <a:ext uri="{FF2B5EF4-FFF2-40B4-BE49-F238E27FC236}">
                <a16:creationId xmlns:a16="http://schemas.microsoft.com/office/drawing/2014/main" id="{C81DDF9E-362B-C71D-0639-F3F175455A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5810" y="2441916"/>
            <a:ext cx="6584950" cy="2542452"/>
          </a:xfrm>
          <a:prstGeom prst="rect">
            <a:avLst/>
          </a:prstGeom>
          <a:noFill/>
          <a:ln>
            <a:solidFill>
              <a:srgbClr val="CC2637"/>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865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2CED9F81-662B-97FD-F769-A679A168BB7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35F4B385-35BC-48AA-9CA0-D1827D4DE401}"/>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411675A8-3D2F-F2D5-3032-CD3E94A02A1C}"/>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880E5AEA-770C-EBDE-D9E2-A6CD6421FE3A}"/>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Probing Memory</a:t>
            </a:r>
          </a:p>
        </p:txBody>
      </p:sp>
      <p:sp>
        <p:nvSpPr>
          <p:cNvPr id="20" name="TextBox 19">
            <a:extLst>
              <a:ext uri="{FF2B5EF4-FFF2-40B4-BE49-F238E27FC236}">
                <a16:creationId xmlns:a16="http://schemas.microsoft.com/office/drawing/2014/main" id="{11E62FEF-8935-0AE8-98CC-6B2BF166AC64}"/>
              </a:ext>
            </a:extLst>
          </p:cNvPr>
          <p:cNvSpPr txBox="1"/>
          <p:nvPr/>
        </p:nvSpPr>
        <p:spPr>
          <a:xfrm>
            <a:off x="759837" y="1690688"/>
            <a:ext cx="10356896" cy="461665"/>
          </a:xfrm>
          <a:prstGeom prst="rect">
            <a:avLst/>
          </a:prstGeom>
          <a:noFill/>
        </p:spPr>
        <p:txBody>
          <a:bodyPr wrap="square">
            <a:spAutoFit/>
          </a:bodyPr>
          <a:lstStyle/>
          <a:p>
            <a:r>
              <a:rPr lang="en-US" sz="2400">
                <a:solidFill>
                  <a:schemeClr val="tx2">
                    <a:lumMod val="60000"/>
                    <a:lumOff val="40000"/>
                  </a:schemeClr>
                </a:solidFill>
                <a:latin typeface="Adobe Garamond Pro"/>
              </a:rPr>
              <a:t>This program allows us to </a:t>
            </a:r>
            <a:r>
              <a:rPr lang="en-US" sz="2400" b="1">
                <a:solidFill>
                  <a:schemeClr val="tx2">
                    <a:lumMod val="60000"/>
                    <a:lumOff val="40000"/>
                  </a:schemeClr>
                </a:solidFill>
                <a:latin typeface="Adobe Garamond Pro"/>
              </a:rPr>
              <a:t>probe </a:t>
            </a:r>
            <a:r>
              <a:rPr lang="en-US" sz="2400">
                <a:solidFill>
                  <a:schemeClr val="tx2">
                    <a:lumMod val="60000"/>
                    <a:lumOff val="40000"/>
                  </a:schemeClr>
                </a:solidFill>
                <a:latin typeface="Adobe Garamond Pro"/>
              </a:rPr>
              <a:t>memory on the target device.</a:t>
            </a:r>
            <a:endParaRPr lang="en-US" sz="2400" b="1">
              <a:solidFill>
                <a:schemeClr val="tx2">
                  <a:lumMod val="60000"/>
                  <a:lumOff val="40000"/>
                </a:schemeClr>
              </a:solidFill>
              <a:latin typeface="Adobe Garamond Pro"/>
            </a:endParaRPr>
          </a:p>
        </p:txBody>
      </p:sp>
      <p:pic>
        <p:nvPicPr>
          <p:cNvPr id="25" name="Picture 24">
            <a:extLst>
              <a:ext uri="{FF2B5EF4-FFF2-40B4-BE49-F238E27FC236}">
                <a16:creationId xmlns:a16="http://schemas.microsoft.com/office/drawing/2014/main" id="{40FA0A36-C3AE-1779-694E-17126C39F22C}"/>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3" name="Picture 2">
            <a:extLst>
              <a:ext uri="{FF2B5EF4-FFF2-40B4-BE49-F238E27FC236}">
                <a16:creationId xmlns:a16="http://schemas.microsoft.com/office/drawing/2014/main" id="{EF80CB06-EFE3-BD59-4377-67AEAA45037E}"/>
              </a:ext>
            </a:extLst>
          </p:cNvPr>
          <p:cNvPicPr>
            <a:picLocks noChangeAspect="1"/>
          </p:cNvPicPr>
          <p:nvPr/>
        </p:nvPicPr>
        <p:blipFill>
          <a:blip r:embed="rId6"/>
          <a:stretch>
            <a:fillRect/>
          </a:stretch>
        </p:blipFill>
        <p:spPr>
          <a:xfrm>
            <a:off x="2074111" y="2430225"/>
            <a:ext cx="7728347" cy="2927500"/>
          </a:xfrm>
          <a:prstGeom prst="rect">
            <a:avLst/>
          </a:prstGeom>
          <a:ln>
            <a:solidFill>
              <a:srgbClr val="CC2637"/>
            </a:solidFill>
          </a:ln>
        </p:spPr>
      </p:pic>
    </p:spTree>
    <p:extLst>
      <p:ext uri="{BB962C8B-B14F-4D97-AF65-F5344CB8AC3E}">
        <p14:creationId xmlns:p14="http://schemas.microsoft.com/office/powerpoint/2010/main" val="3424816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C01839C-5933-A4EA-462B-F20C1E2C70C1}"/>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FAFD42C5-FF8F-0C18-72C1-A63BC7503D8F}"/>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B85D10D3-8924-D0DC-27C3-F0AE93E9A7DE}"/>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4B89CC45-0B3C-64E4-2E87-0B7CE9DAA1C5}"/>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Building a Key-Logger</a:t>
            </a:r>
          </a:p>
        </p:txBody>
      </p:sp>
      <p:sp>
        <p:nvSpPr>
          <p:cNvPr id="20" name="TextBox 19">
            <a:extLst>
              <a:ext uri="{FF2B5EF4-FFF2-40B4-BE49-F238E27FC236}">
                <a16:creationId xmlns:a16="http://schemas.microsoft.com/office/drawing/2014/main" id="{C53A73E3-0FBA-F80D-0F5E-54A0D710D30D}"/>
              </a:ext>
            </a:extLst>
          </p:cNvPr>
          <p:cNvSpPr txBox="1"/>
          <p:nvPr/>
        </p:nvSpPr>
        <p:spPr>
          <a:xfrm>
            <a:off x="759837" y="1690688"/>
            <a:ext cx="10356896" cy="830997"/>
          </a:xfrm>
          <a:prstGeom prst="rect">
            <a:avLst/>
          </a:prstGeom>
          <a:noFill/>
        </p:spPr>
        <p:txBody>
          <a:bodyPr wrap="square">
            <a:spAutoFit/>
          </a:bodyPr>
          <a:lstStyle/>
          <a:p>
            <a:r>
              <a:rPr lang="en-US" sz="2400">
                <a:solidFill>
                  <a:schemeClr val="tx2">
                    <a:lumMod val="60000"/>
                    <a:lumOff val="40000"/>
                  </a:schemeClr>
                </a:solidFill>
                <a:latin typeface="Adobe Garamond Pro"/>
              </a:rPr>
              <a:t>Now that we can properly read the memory on the target device, we can begin to construct a key-logger.</a:t>
            </a:r>
            <a:endParaRPr lang="en-US" sz="2400" b="1">
              <a:solidFill>
                <a:schemeClr val="tx2">
                  <a:lumMod val="60000"/>
                  <a:lumOff val="40000"/>
                </a:schemeClr>
              </a:solidFill>
              <a:latin typeface="Adobe Garamond Pro"/>
            </a:endParaRPr>
          </a:p>
        </p:txBody>
      </p:sp>
      <p:pic>
        <p:nvPicPr>
          <p:cNvPr id="25" name="Picture 24">
            <a:extLst>
              <a:ext uri="{FF2B5EF4-FFF2-40B4-BE49-F238E27FC236}">
                <a16:creationId xmlns:a16="http://schemas.microsoft.com/office/drawing/2014/main" id="{3A991B02-82DE-C67A-96A8-ADADC18E37FF}"/>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3" name="Picture 2">
            <a:extLst>
              <a:ext uri="{FF2B5EF4-FFF2-40B4-BE49-F238E27FC236}">
                <a16:creationId xmlns:a16="http://schemas.microsoft.com/office/drawing/2014/main" id="{67085756-E53A-440D-D28D-4369401D16AE}"/>
              </a:ext>
            </a:extLst>
          </p:cNvPr>
          <p:cNvPicPr>
            <a:picLocks noChangeAspect="1"/>
          </p:cNvPicPr>
          <p:nvPr/>
        </p:nvPicPr>
        <p:blipFill>
          <a:blip r:embed="rId6"/>
          <a:stretch>
            <a:fillRect/>
          </a:stretch>
        </p:blipFill>
        <p:spPr>
          <a:xfrm>
            <a:off x="824130" y="2614554"/>
            <a:ext cx="6342266" cy="2761954"/>
          </a:xfrm>
          <a:prstGeom prst="rect">
            <a:avLst/>
          </a:prstGeom>
          <a:ln>
            <a:solidFill>
              <a:srgbClr val="CC2637"/>
            </a:solidFill>
          </a:ln>
        </p:spPr>
      </p:pic>
      <p:pic>
        <p:nvPicPr>
          <p:cNvPr id="6" name="Picture 5">
            <a:extLst>
              <a:ext uri="{FF2B5EF4-FFF2-40B4-BE49-F238E27FC236}">
                <a16:creationId xmlns:a16="http://schemas.microsoft.com/office/drawing/2014/main" id="{95E18121-8640-516E-ED59-027E336A3442}"/>
              </a:ext>
            </a:extLst>
          </p:cNvPr>
          <p:cNvPicPr>
            <a:picLocks noChangeAspect="1"/>
          </p:cNvPicPr>
          <p:nvPr/>
        </p:nvPicPr>
        <p:blipFill>
          <a:blip r:embed="rId7"/>
          <a:stretch>
            <a:fillRect/>
          </a:stretch>
        </p:blipFill>
        <p:spPr>
          <a:xfrm>
            <a:off x="4127129" y="4735490"/>
            <a:ext cx="7226671" cy="863644"/>
          </a:xfrm>
          <a:prstGeom prst="rect">
            <a:avLst/>
          </a:prstGeom>
          <a:ln>
            <a:solidFill>
              <a:srgbClr val="CC2637"/>
            </a:solidFill>
          </a:ln>
        </p:spPr>
      </p:pic>
      <p:sp>
        <p:nvSpPr>
          <p:cNvPr id="7" name="Rectangle 6">
            <a:extLst>
              <a:ext uri="{FF2B5EF4-FFF2-40B4-BE49-F238E27FC236}">
                <a16:creationId xmlns:a16="http://schemas.microsoft.com/office/drawing/2014/main" id="{9F821D73-AB7B-315A-3E0E-334ED5A42E1F}"/>
              </a:ext>
            </a:extLst>
          </p:cNvPr>
          <p:cNvSpPr/>
          <p:nvPr/>
        </p:nvSpPr>
        <p:spPr>
          <a:xfrm>
            <a:off x="2081951" y="3495558"/>
            <a:ext cx="1168455" cy="204905"/>
          </a:xfrm>
          <a:prstGeom prst="rect">
            <a:avLst/>
          </a:prstGeom>
          <a:noFill/>
          <a:ln w="19050">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onnector: Elbow 8">
            <a:extLst>
              <a:ext uri="{FF2B5EF4-FFF2-40B4-BE49-F238E27FC236}">
                <a16:creationId xmlns:a16="http://schemas.microsoft.com/office/drawing/2014/main" id="{0193E511-A34F-041D-4E77-C470E4BBF8F3}"/>
              </a:ext>
            </a:extLst>
          </p:cNvPr>
          <p:cNvCxnSpPr>
            <a:cxnSpLocks/>
          </p:cNvCxnSpPr>
          <p:nvPr/>
        </p:nvCxnSpPr>
        <p:spPr>
          <a:xfrm rot="16200000" flipH="1">
            <a:off x="3135890" y="3676516"/>
            <a:ext cx="1486852" cy="1257821"/>
          </a:xfrm>
          <a:prstGeom prst="bentConnector3">
            <a:avLst>
              <a:gd name="adj1" fmla="val 993"/>
            </a:avLst>
          </a:prstGeom>
          <a:ln w="19050">
            <a:solidFill>
              <a:srgbClr val="CC2637"/>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29E7A20-15D7-6E27-2E1E-F0D29BB6860D}"/>
              </a:ext>
            </a:extLst>
          </p:cNvPr>
          <p:cNvSpPr txBox="1"/>
          <p:nvPr/>
        </p:nvSpPr>
        <p:spPr>
          <a:xfrm>
            <a:off x="2480170" y="5636733"/>
            <a:ext cx="6022290" cy="369332"/>
          </a:xfrm>
          <a:prstGeom prst="rect">
            <a:avLst/>
          </a:prstGeom>
          <a:noFill/>
        </p:spPr>
        <p:txBody>
          <a:bodyPr wrap="none" rtlCol="0">
            <a:spAutoFit/>
          </a:bodyPr>
          <a:lstStyle/>
          <a:p>
            <a:r>
              <a:rPr lang="en-US">
                <a:solidFill>
                  <a:srgbClr val="CC2637"/>
                </a:solidFill>
              </a:rPr>
              <a:t>Function is called by Client/Server Runtime Subsystem (CSRSS)</a:t>
            </a:r>
          </a:p>
        </p:txBody>
      </p:sp>
    </p:spTree>
    <p:extLst>
      <p:ext uri="{BB962C8B-B14F-4D97-AF65-F5344CB8AC3E}">
        <p14:creationId xmlns:p14="http://schemas.microsoft.com/office/powerpoint/2010/main" val="935967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935ED5F9-6504-ADAD-3243-5B60856A52BB}"/>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F582D491-A3EB-5C1B-BF37-70F36BA407E6}"/>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6D4E2A94-01E2-2C62-6C40-1CD5C1B30E1E}"/>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73BC5CC4-F587-E303-13B1-8484C245080F}"/>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Building a Key-Logger</a:t>
            </a:r>
          </a:p>
        </p:txBody>
      </p:sp>
      <p:sp>
        <p:nvSpPr>
          <p:cNvPr id="20" name="TextBox 19">
            <a:extLst>
              <a:ext uri="{FF2B5EF4-FFF2-40B4-BE49-F238E27FC236}">
                <a16:creationId xmlns:a16="http://schemas.microsoft.com/office/drawing/2014/main" id="{3077A941-AAA6-2495-850E-76327539FFC3}"/>
              </a:ext>
            </a:extLst>
          </p:cNvPr>
          <p:cNvSpPr txBox="1"/>
          <p:nvPr/>
        </p:nvSpPr>
        <p:spPr>
          <a:xfrm>
            <a:off x="759837" y="1690688"/>
            <a:ext cx="10356896" cy="830997"/>
          </a:xfrm>
          <a:prstGeom prst="rect">
            <a:avLst/>
          </a:prstGeom>
          <a:noFill/>
        </p:spPr>
        <p:txBody>
          <a:bodyPr wrap="square">
            <a:spAutoFit/>
          </a:bodyPr>
          <a:lstStyle/>
          <a:p>
            <a:r>
              <a:rPr lang="en-US" sz="2400">
                <a:solidFill>
                  <a:schemeClr val="tx2">
                    <a:lumMod val="60000"/>
                    <a:lumOff val="40000"/>
                  </a:schemeClr>
                </a:solidFill>
                <a:latin typeface="Adobe Garamond Pro"/>
              </a:rPr>
              <a:t>This means that we can get the process ID of that program and use our own AOB/Pattern scan to dereference the value at that location!</a:t>
            </a:r>
            <a:endParaRPr lang="en-US" sz="2400" b="1">
              <a:solidFill>
                <a:schemeClr val="tx2">
                  <a:lumMod val="60000"/>
                  <a:lumOff val="40000"/>
                </a:schemeClr>
              </a:solidFill>
              <a:latin typeface="Adobe Garamond Pro"/>
            </a:endParaRPr>
          </a:p>
        </p:txBody>
      </p:sp>
      <p:sp>
        <p:nvSpPr>
          <p:cNvPr id="2" name="TextBox 1">
            <a:extLst>
              <a:ext uri="{FF2B5EF4-FFF2-40B4-BE49-F238E27FC236}">
                <a16:creationId xmlns:a16="http://schemas.microsoft.com/office/drawing/2014/main" id="{DFD83146-323F-FA6D-9861-2544D8CA500C}"/>
              </a:ext>
            </a:extLst>
          </p:cNvPr>
          <p:cNvSpPr txBox="1"/>
          <p:nvPr/>
        </p:nvSpPr>
        <p:spPr>
          <a:xfrm>
            <a:off x="759837" y="2824978"/>
            <a:ext cx="1147558" cy="369332"/>
          </a:xfrm>
          <a:prstGeom prst="rect">
            <a:avLst/>
          </a:prstGeom>
          <a:noFill/>
        </p:spPr>
        <p:txBody>
          <a:bodyPr wrap="none" rtlCol="0">
            <a:spAutoFit/>
          </a:bodyPr>
          <a:lstStyle/>
          <a:p>
            <a:r>
              <a:rPr lang="en-US">
                <a:solidFill>
                  <a:srgbClr val="CC2637"/>
                </a:solidFill>
              </a:rPr>
              <a:t>Process ID</a:t>
            </a:r>
          </a:p>
        </p:txBody>
      </p:sp>
      <p:sp>
        <p:nvSpPr>
          <p:cNvPr id="10" name="TextBox 9">
            <a:extLst>
              <a:ext uri="{FF2B5EF4-FFF2-40B4-BE49-F238E27FC236}">
                <a16:creationId xmlns:a16="http://schemas.microsoft.com/office/drawing/2014/main" id="{945B6A25-5D38-14B4-C006-F9F618817DB3}"/>
              </a:ext>
            </a:extLst>
          </p:cNvPr>
          <p:cNvSpPr txBox="1"/>
          <p:nvPr/>
        </p:nvSpPr>
        <p:spPr>
          <a:xfrm>
            <a:off x="2278856" y="2824978"/>
            <a:ext cx="2688044" cy="369332"/>
          </a:xfrm>
          <a:prstGeom prst="rect">
            <a:avLst/>
          </a:prstGeom>
          <a:noFill/>
        </p:spPr>
        <p:txBody>
          <a:bodyPr wrap="none" rtlCol="0">
            <a:spAutoFit/>
          </a:bodyPr>
          <a:lstStyle/>
          <a:p>
            <a:r>
              <a:rPr lang="en-US">
                <a:solidFill>
                  <a:srgbClr val="CC2637"/>
                </a:solidFill>
              </a:rPr>
              <a:t>Find in Process Buffer Map</a:t>
            </a:r>
          </a:p>
        </p:txBody>
      </p:sp>
      <p:sp>
        <p:nvSpPr>
          <p:cNvPr id="30" name="TextBox 29">
            <a:extLst>
              <a:ext uri="{FF2B5EF4-FFF2-40B4-BE49-F238E27FC236}">
                <a16:creationId xmlns:a16="http://schemas.microsoft.com/office/drawing/2014/main" id="{E5849046-A645-FC20-4ACF-985A1D5E2599}"/>
              </a:ext>
            </a:extLst>
          </p:cNvPr>
          <p:cNvSpPr txBox="1"/>
          <p:nvPr/>
        </p:nvSpPr>
        <p:spPr>
          <a:xfrm>
            <a:off x="5338361" y="2831585"/>
            <a:ext cx="3345852" cy="369332"/>
          </a:xfrm>
          <a:prstGeom prst="rect">
            <a:avLst/>
          </a:prstGeom>
          <a:noFill/>
        </p:spPr>
        <p:txBody>
          <a:bodyPr wrap="none" rtlCol="0">
            <a:spAutoFit/>
          </a:bodyPr>
          <a:lstStyle/>
          <a:p>
            <a:r>
              <a:rPr lang="en-US">
                <a:solidFill>
                  <a:srgbClr val="CC2637"/>
                </a:solidFill>
              </a:rPr>
              <a:t>Get Base Address of Process 1524</a:t>
            </a:r>
          </a:p>
        </p:txBody>
      </p:sp>
      <p:sp>
        <p:nvSpPr>
          <p:cNvPr id="32" name="Rectangle 31">
            <a:extLst>
              <a:ext uri="{FF2B5EF4-FFF2-40B4-BE49-F238E27FC236}">
                <a16:creationId xmlns:a16="http://schemas.microsoft.com/office/drawing/2014/main" id="{F04C4D26-BECA-CEEF-6EDB-2AFA74318641}"/>
              </a:ext>
            </a:extLst>
          </p:cNvPr>
          <p:cNvSpPr/>
          <p:nvPr/>
        </p:nvSpPr>
        <p:spPr>
          <a:xfrm>
            <a:off x="10341886" y="3700999"/>
            <a:ext cx="1168265" cy="1971924"/>
          </a:xfrm>
          <a:prstGeom prst="rect">
            <a:avLst/>
          </a:prstGeom>
          <a:no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6A518D6-4EE3-30FF-A58E-9F7362D1A99D}"/>
              </a:ext>
            </a:extLst>
          </p:cNvPr>
          <p:cNvSpPr txBox="1"/>
          <p:nvPr/>
        </p:nvSpPr>
        <p:spPr>
          <a:xfrm>
            <a:off x="9106636" y="3572410"/>
            <a:ext cx="1169744" cy="369332"/>
          </a:xfrm>
          <a:prstGeom prst="rect">
            <a:avLst/>
          </a:prstGeom>
          <a:noFill/>
        </p:spPr>
        <p:txBody>
          <a:bodyPr wrap="none" rtlCol="0">
            <a:spAutoFit/>
          </a:bodyPr>
          <a:lstStyle/>
          <a:p>
            <a:r>
              <a:rPr lang="en-US">
                <a:solidFill>
                  <a:srgbClr val="CC2637"/>
                </a:solidFill>
              </a:rPr>
              <a:t>Base Addr.</a:t>
            </a:r>
          </a:p>
        </p:txBody>
      </p:sp>
      <p:sp>
        <p:nvSpPr>
          <p:cNvPr id="34" name="TextBox 33">
            <a:extLst>
              <a:ext uri="{FF2B5EF4-FFF2-40B4-BE49-F238E27FC236}">
                <a16:creationId xmlns:a16="http://schemas.microsoft.com/office/drawing/2014/main" id="{AD05FCD5-6E9D-B44F-5E63-E20BA6AC2084}"/>
              </a:ext>
            </a:extLst>
          </p:cNvPr>
          <p:cNvSpPr txBox="1"/>
          <p:nvPr/>
        </p:nvSpPr>
        <p:spPr>
          <a:xfrm>
            <a:off x="8625134" y="5395912"/>
            <a:ext cx="1716752" cy="369332"/>
          </a:xfrm>
          <a:prstGeom prst="rect">
            <a:avLst/>
          </a:prstGeom>
          <a:noFill/>
        </p:spPr>
        <p:txBody>
          <a:bodyPr wrap="none" rtlCol="0">
            <a:spAutoFit/>
          </a:bodyPr>
          <a:lstStyle/>
          <a:p>
            <a:r>
              <a:rPr lang="en-US">
                <a:solidFill>
                  <a:srgbClr val="CC2637"/>
                </a:solidFill>
              </a:rPr>
              <a:t>Base Addr + Size</a:t>
            </a:r>
          </a:p>
        </p:txBody>
      </p:sp>
      <p:sp>
        <p:nvSpPr>
          <p:cNvPr id="37" name="TextBox 36">
            <a:extLst>
              <a:ext uri="{FF2B5EF4-FFF2-40B4-BE49-F238E27FC236}">
                <a16:creationId xmlns:a16="http://schemas.microsoft.com/office/drawing/2014/main" id="{1DF038C7-7BED-4641-9C53-ED93FF5EE83F}"/>
              </a:ext>
            </a:extLst>
          </p:cNvPr>
          <p:cNvSpPr txBox="1"/>
          <p:nvPr/>
        </p:nvSpPr>
        <p:spPr>
          <a:xfrm>
            <a:off x="9967028" y="5779531"/>
            <a:ext cx="1996700" cy="369332"/>
          </a:xfrm>
          <a:prstGeom prst="rect">
            <a:avLst/>
          </a:prstGeom>
          <a:noFill/>
        </p:spPr>
        <p:txBody>
          <a:bodyPr wrap="none" rtlCol="0">
            <a:spAutoFit/>
          </a:bodyPr>
          <a:lstStyle/>
          <a:p>
            <a:r>
              <a:rPr lang="en-US">
                <a:solidFill>
                  <a:srgbClr val="CC2637"/>
                </a:solidFill>
              </a:rPr>
              <a:t>Memory of Process</a:t>
            </a:r>
          </a:p>
        </p:txBody>
      </p:sp>
      <p:cxnSp>
        <p:nvCxnSpPr>
          <p:cNvPr id="39" name="Straight Connector 38">
            <a:extLst>
              <a:ext uri="{FF2B5EF4-FFF2-40B4-BE49-F238E27FC236}">
                <a16:creationId xmlns:a16="http://schemas.microsoft.com/office/drawing/2014/main" id="{5CAE981E-BCDA-CDC7-9433-BEE0C2726477}"/>
              </a:ext>
            </a:extLst>
          </p:cNvPr>
          <p:cNvCxnSpPr/>
          <p:nvPr/>
        </p:nvCxnSpPr>
        <p:spPr>
          <a:xfrm>
            <a:off x="10341886" y="5293519"/>
            <a:ext cx="1168265" cy="0"/>
          </a:xfrm>
          <a:prstGeom prst="line">
            <a:avLst/>
          </a:prstGeom>
          <a:ln>
            <a:solidFill>
              <a:srgbClr val="CC2637"/>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67C47AE-AD7E-1FEA-35F0-FC8FB94CEC6F}"/>
              </a:ext>
            </a:extLst>
          </p:cNvPr>
          <p:cNvCxnSpPr/>
          <p:nvPr/>
        </p:nvCxnSpPr>
        <p:spPr>
          <a:xfrm>
            <a:off x="10341885" y="4945856"/>
            <a:ext cx="1168265" cy="0"/>
          </a:xfrm>
          <a:prstGeom prst="line">
            <a:avLst/>
          </a:prstGeom>
          <a:ln>
            <a:solidFill>
              <a:srgbClr val="CC2637"/>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AAE6BA8-B7CB-BBB1-22A0-9996FBD7C438}"/>
              </a:ext>
            </a:extLst>
          </p:cNvPr>
          <p:cNvCxnSpPr/>
          <p:nvPr/>
        </p:nvCxnSpPr>
        <p:spPr>
          <a:xfrm>
            <a:off x="10341885" y="4602151"/>
            <a:ext cx="1168265" cy="0"/>
          </a:xfrm>
          <a:prstGeom prst="line">
            <a:avLst/>
          </a:prstGeom>
          <a:ln>
            <a:solidFill>
              <a:srgbClr val="CC2637"/>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B8C97C9-359B-4055-4115-B28EE3340ECE}"/>
              </a:ext>
            </a:extLst>
          </p:cNvPr>
          <p:cNvSpPr txBox="1"/>
          <p:nvPr/>
        </p:nvSpPr>
        <p:spPr>
          <a:xfrm>
            <a:off x="10276380" y="4263191"/>
            <a:ext cx="1285929" cy="369332"/>
          </a:xfrm>
          <a:prstGeom prst="rect">
            <a:avLst/>
          </a:prstGeom>
          <a:noFill/>
        </p:spPr>
        <p:txBody>
          <a:bodyPr wrap="none" rtlCol="0">
            <a:spAutoFit/>
          </a:bodyPr>
          <a:lstStyle/>
          <a:p>
            <a:r>
              <a:rPr lang="en-US">
                <a:solidFill>
                  <a:schemeClr val="bg1"/>
                </a:solidFill>
              </a:rPr>
              <a:t>?? 48 8D 90</a:t>
            </a:r>
          </a:p>
        </p:txBody>
      </p:sp>
      <p:sp>
        <p:nvSpPr>
          <p:cNvPr id="43" name="TextBox 42">
            <a:extLst>
              <a:ext uri="{FF2B5EF4-FFF2-40B4-BE49-F238E27FC236}">
                <a16:creationId xmlns:a16="http://schemas.microsoft.com/office/drawing/2014/main" id="{8A7F345F-314E-BB6B-2BE3-E75F4506E79B}"/>
              </a:ext>
            </a:extLst>
          </p:cNvPr>
          <p:cNvSpPr txBox="1"/>
          <p:nvPr/>
        </p:nvSpPr>
        <p:spPr>
          <a:xfrm>
            <a:off x="10310844" y="4619709"/>
            <a:ext cx="1202573" cy="369332"/>
          </a:xfrm>
          <a:prstGeom prst="rect">
            <a:avLst/>
          </a:prstGeom>
          <a:noFill/>
        </p:spPr>
        <p:txBody>
          <a:bodyPr wrap="none" rtlCol="0">
            <a:spAutoFit/>
          </a:bodyPr>
          <a:lstStyle/>
          <a:p>
            <a:r>
              <a:rPr lang="en-US">
                <a:solidFill>
                  <a:schemeClr val="bg1"/>
                </a:solidFill>
              </a:rPr>
              <a:t>?? ?? ?? ??</a:t>
            </a:r>
          </a:p>
        </p:txBody>
      </p:sp>
      <p:sp>
        <p:nvSpPr>
          <p:cNvPr id="44" name="TextBox 43">
            <a:extLst>
              <a:ext uri="{FF2B5EF4-FFF2-40B4-BE49-F238E27FC236}">
                <a16:creationId xmlns:a16="http://schemas.microsoft.com/office/drawing/2014/main" id="{E1951971-6D5B-5582-BF70-ECA18E231F73}"/>
              </a:ext>
            </a:extLst>
          </p:cNvPr>
          <p:cNvSpPr txBox="1"/>
          <p:nvPr/>
        </p:nvSpPr>
        <p:spPr>
          <a:xfrm>
            <a:off x="10310844" y="4963414"/>
            <a:ext cx="1217000" cy="369332"/>
          </a:xfrm>
          <a:prstGeom prst="rect">
            <a:avLst/>
          </a:prstGeom>
          <a:noFill/>
        </p:spPr>
        <p:txBody>
          <a:bodyPr wrap="none" rtlCol="0">
            <a:spAutoFit/>
          </a:bodyPr>
          <a:lstStyle/>
          <a:p>
            <a:r>
              <a:rPr lang="en-US">
                <a:solidFill>
                  <a:schemeClr val="bg1"/>
                </a:solidFill>
              </a:rPr>
              <a:t>E8 ?? ?? ??</a:t>
            </a:r>
          </a:p>
        </p:txBody>
      </p:sp>
      <p:sp>
        <p:nvSpPr>
          <p:cNvPr id="45" name="TextBox 44">
            <a:extLst>
              <a:ext uri="{FF2B5EF4-FFF2-40B4-BE49-F238E27FC236}">
                <a16:creationId xmlns:a16="http://schemas.microsoft.com/office/drawing/2014/main" id="{3E6D5C54-2377-5009-3F50-18E9D8D21C2E}"/>
              </a:ext>
            </a:extLst>
          </p:cNvPr>
          <p:cNvSpPr txBox="1"/>
          <p:nvPr/>
        </p:nvSpPr>
        <p:spPr>
          <a:xfrm>
            <a:off x="10257944" y="5302374"/>
            <a:ext cx="1308371" cy="369332"/>
          </a:xfrm>
          <a:prstGeom prst="rect">
            <a:avLst/>
          </a:prstGeom>
          <a:noFill/>
        </p:spPr>
        <p:txBody>
          <a:bodyPr wrap="none" rtlCol="0">
            <a:spAutoFit/>
          </a:bodyPr>
          <a:lstStyle/>
          <a:p>
            <a:r>
              <a:rPr lang="en-US">
                <a:solidFill>
                  <a:schemeClr val="bg1"/>
                </a:solidFill>
              </a:rPr>
              <a:t> ?? 0F 57 C0</a:t>
            </a:r>
          </a:p>
        </p:txBody>
      </p:sp>
      <p:cxnSp>
        <p:nvCxnSpPr>
          <p:cNvPr id="47" name="Straight Connector 46">
            <a:extLst>
              <a:ext uri="{FF2B5EF4-FFF2-40B4-BE49-F238E27FC236}">
                <a16:creationId xmlns:a16="http://schemas.microsoft.com/office/drawing/2014/main" id="{9D1129B4-2A35-3286-98E5-8339F5EF4E27}"/>
              </a:ext>
            </a:extLst>
          </p:cNvPr>
          <p:cNvCxnSpPr>
            <a:cxnSpLocks/>
          </p:cNvCxnSpPr>
          <p:nvPr/>
        </p:nvCxnSpPr>
        <p:spPr>
          <a:xfrm>
            <a:off x="10341885" y="4263191"/>
            <a:ext cx="1168265" cy="0"/>
          </a:xfrm>
          <a:prstGeom prst="line">
            <a:avLst/>
          </a:prstGeom>
          <a:ln>
            <a:solidFill>
              <a:srgbClr val="CC2637"/>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6DED8C7C-D02B-723D-C715-96973D0D5136}"/>
              </a:ext>
            </a:extLst>
          </p:cNvPr>
          <p:cNvSpPr txBox="1"/>
          <p:nvPr/>
        </p:nvSpPr>
        <p:spPr>
          <a:xfrm>
            <a:off x="759837" y="3755476"/>
            <a:ext cx="3438762" cy="646331"/>
          </a:xfrm>
          <a:prstGeom prst="rect">
            <a:avLst/>
          </a:prstGeom>
          <a:noFill/>
        </p:spPr>
        <p:txBody>
          <a:bodyPr wrap="none" rtlCol="0">
            <a:spAutoFit/>
          </a:bodyPr>
          <a:lstStyle/>
          <a:p>
            <a:r>
              <a:rPr lang="en-US">
                <a:solidFill>
                  <a:srgbClr val="CC2637"/>
                </a:solidFill>
              </a:rPr>
              <a:t>Scan from Base to Base + Size for</a:t>
            </a:r>
          </a:p>
          <a:p>
            <a:r>
              <a:rPr lang="en-US">
                <a:solidFill>
                  <a:srgbClr val="CC2637"/>
                </a:solidFill>
              </a:rPr>
              <a:t>48 8D 90 ? ? ? ? E8 ? ? ? ? 0F 57 C0</a:t>
            </a:r>
          </a:p>
        </p:txBody>
      </p:sp>
      <p:sp>
        <p:nvSpPr>
          <p:cNvPr id="56" name="TextBox 55">
            <a:extLst>
              <a:ext uri="{FF2B5EF4-FFF2-40B4-BE49-F238E27FC236}">
                <a16:creationId xmlns:a16="http://schemas.microsoft.com/office/drawing/2014/main" id="{39AA84B6-3E1B-72CE-0C40-3EFCC42A0D40}"/>
              </a:ext>
            </a:extLst>
          </p:cNvPr>
          <p:cNvSpPr txBox="1"/>
          <p:nvPr/>
        </p:nvSpPr>
        <p:spPr>
          <a:xfrm>
            <a:off x="4785898" y="3848959"/>
            <a:ext cx="3242426" cy="369332"/>
          </a:xfrm>
          <a:prstGeom prst="rect">
            <a:avLst/>
          </a:prstGeom>
          <a:noFill/>
        </p:spPr>
        <p:txBody>
          <a:bodyPr wrap="none" rtlCol="0">
            <a:spAutoFit/>
          </a:bodyPr>
          <a:lstStyle/>
          <a:p>
            <a:r>
              <a:rPr lang="en-US">
                <a:solidFill>
                  <a:srgbClr val="CC2637"/>
                </a:solidFill>
              </a:rPr>
              <a:t>Access Value at memory address</a:t>
            </a:r>
          </a:p>
        </p:txBody>
      </p:sp>
      <p:pic>
        <p:nvPicPr>
          <p:cNvPr id="60" name="Picture 59">
            <a:extLst>
              <a:ext uri="{FF2B5EF4-FFF2-40B4-BE49-F238E27FC236}">
                <a16:creationId xmlns:a16="http://schemas.microsoft.com/office/drawing/2014/main" id="{98A60AAC-ED02-BC12-89F3-EC25FB3FE805}"/>
              </a:ext>
            </a:extLst>
          </p:cNvPr>
          <p:cNvPicPr>
            <a:picLocks noChangeAspect="1"/>
          </p:cNvPicPr>
          <p:nvPr/>
        </p:nvPicPr>
        <p:blipFill>
          <a:blip r:embed="rId5"/>
          <a:stretch>
            <a:fillRect/>
          </a:stretch>
        </p:blipFill>
        <p:spPr>
          <a:xfrm>
            <a:off x="1966864" y="2924303"/>
            <a:ext cx="239469" cy="183896"/>
          </a:xfrm>
          <a:prstGeom prst="rect">
            <a:avLst/>
          </a:prstGeom>
        </p:spPr>
      </p:pic>
      <p:pic>
        <p:nvPicPr>
          <p:cNvPr id="61" name="Picture 60">
            <a:extLst>
              <a:ext uri="{FF2B5EF4-FFF2-40B4-BE49-F238E27FC236}">
                <a16:creationId xmlns:a16="http://schemas.microsoft.com/office/drawing/2014/main" id="{D572BDFE-DEFF-31A7-B5C9-13BEE9143889}"/>
              </a:ext>
            </a:extLst>
          </p:cNvPr>
          <p:cNvPicPr>
            <a:picLocks noChangeAspect="1"/>
          </p:cNvPicPr>
          <p:nvPr/>
        </p:nvPicPr>
        <p:blipFill>
          <a:blip r:embed="rId5"/>
          <a:stretch>
            <a:fillRect/>
          </a:stretch>
        </p:blipFill>
        <p:spPr>
          <a:xfrm>
            <a:off x="5023256" y="2924303"/>
            <a:ext cx="239469" cy="183896"/>
          </a:xfrm>
          <a:prstGeom prst="rect">
            <a:avLst/>
          </a:prstGeom>
        </p:spPr>
      </p:pic>
      <p:pic>
        <p:nvPicPr>
          <p:cNvPr id="63" name="Picture 62">
            <a:extLst>
              <a:ext uri="{FF2B5EF4-FFF2-40B4-BE49-F238E27FC236}">
                <a16:creationId xmlns:a16="http://schemas.microsoft.com/office/drawing/2014/main" id="{92116B14-6FEA-8416-E38E-FCCC1BB3BFFF}"/>
              </a:ext>
            </a:extLst>
          </p:cNvPr>
          <p:cNvPicPr>
            <a:picLocks noChangeAspect="1"/>
          </p:cNvPicPr>
          <p:nvPr/>
        </p:nvPicPr>
        <p:blipFill>
          <a:blip r:embed="rId6"/>
          <a:stretch>
            <a:fillRect/>
          </a:stretch>
        </p:blipFill>
        <p:spPr>
          <a:xfrm>
            <a:off x="8625134" y="3009644"/>
            <a:ext cx="449780" cy="45719"/>
          </a:xfrm>
          <a:prstGeom prst="rect">
            <a:avLst/>
          </a:prstGeom>
        </p:spPr>
      </p:pic>
      <p:pic>
        <p:nvPicPr>
          <p:cNvPr id="65" name="Picture 64">
            <a:extLst>
              <a:ext uri="{FF2B5EF4-FFF2-40B4-BE49-F238E27FC236}">
                <a16:creationId xmlns:a16="http://schemas.microsoft.com/office/drawing/2014/main" id="{33F576FB-69C4-F7DD-2F21-98331B721563}"/>
              </a:ext>
            </a:extLst>
          </p:cNvPr>
          <p:cNvPicPr>
            <a:picLocks noChangeAspect="1"/>
          </p:cNvPicPr>
          <p:nvPr/>
        </p:nvPicPr>
        <p:blipFill>
          <a:blip r:embed="rId7"/>
          <a:stretch>
            <a:fillRect/>
          </a:stretch>
        </p:blipFill>
        <p:spPr>
          <a:xfrm>
            <a:off x="8824084" y="3009644"/>
            <a:ext cx="251649" cy="251649"/>
          </a:xfrm>
          <a:prstGeom prst="rect">
            <a:avLst/>
          </a:prstGeom>
        </p:spPr>
      </p:pic>
      <p:pic>
        <p:nvPicPr>
          <p:cNvPr id="66" name="Picture 65">
            <a:extLst>
              <a:ext uri="{FF2B5EF4-FFF2-40B4-BE49-F238E27FC236}">
                <a16:creationId xmlns:a16="http://schemas.microsoft.com/office/drawing/2014/main" id="{08BB5AAC-75D5-DEBF-DCB8-017D784460F1}"/>
              </a:ext>
            </a:extLst>
          </p:cNvPr>
          <p:cNvPicPr>
            <a:picLocks noChangeAspect="1"/>
          </p:cNvPicPr>
          <p:nvPr/>
        </p:nvPicPr>
        <p:blipFill>
          <a:blip r:embed="rId6"/>
          <a:stretch>
            <a:fillRect/>
          </a:stretch>
        </p:blipFill>
        <p:spPr>
          <a:xfrm>
            <a:off x="8626665" y="3261276"/>
            <a:ext cx="449780" cy="45719"/>
          </a:xfrm>
          <a:prstGeom prst="rect">
            <a:avLst/>
          </a:prstGeom>
        </p:spPr>
      </p:pic>
      <p:pic>
        <p:nvPicPr>
          <p:cNvPr id="67" name="Picture 66">
            <a:extLst>
              <a:ext uri="{FF2B5EF4-FFF2-40B4-BE49-F238E27FC236}">
                <a16:creationId xmlns:a16="http://schemas.microsoft.com/office/drawing/2014/main" id="{BF8D00B3-005E-41E0-50ED-C36BE989DDD8}"/>
              </a:ext>
            </a:extLst>
          </p:cNvPr>
          <p:cNvPicPr>
            <a:picLocks noChangeAspect="1"/>
          </p:cNvPicPr>
          <p:nvPr/>
        </p:nvPicPr>
        <p:blipFill>
          <a:blip r:embed="rId5"/>
          <a:stretch>
            <a:fillRect/>
          </a:stretch>
        </p:blipFill>
        <p:spPr>
          <a:xfrm>
            <a:off x="4374003" y="3941677"/>
            <a:ext cx="239469" cy="183896"/>
          </a:xfrm>
          <a:prstGeom prst="rect">
            <a:avLst/>
          </a:prstGeom>
        </p:spPr>
      </p:pic>
      <p:pic>
        <p:nvPicPr>
          <p:cNvPr id="69" name="Picture 68">
            <a:extLst>
              <a:ext uri="{FF2B5EF4-FFF2-40B4-BE49-F238E27FC236}">
                <a16:creationId xmlns:a16="http://schemas.microsoft.com/office/drawing/2014/main" id="{79117221-4109-5092-9808-B2B49B443993}"/>
              </a:ext>
            </a:extLst>
          </p:cNvPr>
          <p:cNvPicPr>
            <a:picLocks noChangeAspect="1"/>
          </p:cNvPicPr>
          <p:nvPr/>
        </p:nvPicPr>
        <p:blipFill>
          <a:blip r:embed="rId6"/>
          <a:stretch>
            <a:fillRect/>
          </a:stretch>
        </p:blipFill>
        <p:spPr>
          <a:xfrm>
            <a:off x="8176942" y="3261330"/>
            <a:ext cx="449780" cy="45719"/>
          </a:xfrm>
          <a:prstGeom prst="rect">
            <a:avLst/>
          </a:prstGeom>
        </p:spPr>
      </p:pic>
      <p:pic>
        <p:nvPicPr>
          <p:cNvPr id="70" name="Picture 69">
            <a:extLst>
              <a:ext uri="{FF2B5EF4-FFF2-40B4-BE49-F238E27FC236}">
                <a16:creationId xmlns:a16="http://schemas.microsoft.com/office/drawing/2014/main" id="{DC84B95C-3298-F06A-2BBF-312FD8232F90}"/>
              </a:ext>
            </a:extLst>
          </p:cNvPr>
          <p:cNvPicPr>
            <a:picLocks noChangeAspect="1"/>
          </p:cNvPicPr>
          <p:nvPr/>
        </p:nvPicPr>
        <p:blipFill>
          <a:blip r:embed="rId6"/>
          <a:stretch>
            <a:fillRect/>
          </a:stretch>
        </p:blipFill>
        <p:spPr>
          <a:xfrm>
            <a:off x="7727219" y="3261275"/>
            <a:ext cx="449780" cy="45719"/>
          </a:xfrm>
          <a:prstGeom prst="rect">
            <a:avLst/>
          </a:prstGeom>
        </p:spPr>
      </p:pic>
      <p:pic>
        <p:nvPicPr>
          <p:cNvPr id="71" name="Picture 70">
            <a:extLst>
              <a:ext uri="{FF2B5EF4-FFF2-40B4-BE49-F238E27FC236}">
                <a16:creationId xmlns:a16="http://schemas.microsoft.com/office/drawing/2014/main" id="{573EAA52-0DCA-486E-87C0-51CF3DE9C8BE}"/>
              </a:ext>
            </a:extLst>
          </p:cNvPr>
          <p:cNvPicPr>
            <a:picLocks noChangeAspect="1"/>
          </p:cNvPicPr>
          <p:nvPr/>
        </p:nvPicPr>
        <p:blipFill>
          <a:blip r:embed="rId6"/>
          <a:stretch>
            <a:fillRect/>
          </a:stretch>
        </p:blipFill>
        <p:spPr>
          <a:xfrm>
            <a:off x="7277439" y="3261330"/>
            <a:ext cx="449780" cy="45719"/>
          </a:xfrm>
          <a:prstGeom prst="rect">
            <a:avLst/>
          </a:prstGeom>
        </p:spPr>
      </p:pic>
      <p:pic>
        <p:nvPicPr>
          <p:cNvPr id="72" name="Picture 71">
            <a:extLst>
              <a:ext uri="{FF2B5EF4-FFF2-40B4-BE49-F238E27FC236}">
                <a16:creationId xmlns:a16="http://schemas.microsoft.com/office/drawing/2014/main" id="{81AFE71E-CF87-F16E-F549-C6E4391F0705}"/>
              </a:ext>
            </a:extLst>
          </p:cNvPr>
          <p:cNvPicPr>
            <a:picLocks noChangeAspect="1"/>
          </p:cNvPicPr>
          <p:nvPr/>
        </p:nvPicPr>
        <p:blipFill>
          <a:blip r:embed="rId6"/>
          <a:stretch>
            <a:fillRect/>
          </a:stretch>
        </p:blipFill>
        <p:spPr>
          <a:xfrm>
            <a:off x="6827716" y="3261275"/>
            <a:ext cx="449780" cy="45719"/>
          </a:xfrm>
          <a:prstGeom prst="rect">
            <a:avLst/>
          </a:prstGeom>
        </p:spPr>
      </p:pic>
      <p:pic>
        <p:nvPicPr>
          <p:cNvPr id="73" name="Picture 72">
            <a:extLst>
              <a:ext uri="{FF2B5EF4-FFF2-40B4-BE49-F238E27FC236}">
                <a16:creationId xmlns:a16="http://schemas.microsoft.com/office/drawing/2014/main" id="{9ABE2BD8-9E1D-2E4C-6EFC-E9114AB47939}"/>
              </a:ext>
            </a:extLst>
          </p:cNvPr>
          <p:cNvPicPr>
            <a:picLocks noChangeAspect="1"/>
          </p:cNvPicPr>
          <p:nvPr/>
        </p:nvPicPr>
        <p:blipFill>
          <a:blip r:embed="rId6"/>
          <a:stretch>
            <a:fillRect/>
          </a:stretch>
        </p:blipFill>
        <p:spPr>
          <a:xfrm>
            <a:off x="6385317" y="3261661"/>
            <a:ext cx="449780" cy="45719"/>
          </a:xfrm>
          <a:prstGeom prst="rect">
            <a:avLst/>
          </a:prstGeom>
        </p:spPr>
      </p:pic>
      <p:pic>
        <p:nvPicPr>
          <p:cNvPr id="74" name="Picture 73">
            <a:extLst>
              <a:ext uri="{FF2B5EF4-FFF2-40B4-BE49-F238E27FC236}">
                <a16:creationId xmlns:a16="http://schemas.microsoft.com/office/drawing/2014/main" id="{E0FB4327-5C41-2EB2-3286-A74D53C739BE}"/>
              </a:ext>
            </a:extLst>
          </p:cNvPr>
          <p:cNvPicPr>
            <a:picLocks noChangeAspect="1"/>
          </p:cNvPicPr>
          <p:nvPr/>
        </p:nvPicPr>
        <p:blipFill>
          <a:blip r:embed="rId6"/>
          <a:stretch>
            <a:fillRect/>
          </a:stretch>
        </p:blipFill>
        <p:spPr>
          <a:xfrm>
            <a:off x="5935594" y="3261715"/>
            <a:ext cx="449780" cy="45719"/>
          </a:xfrm>
          <a:prstGeom prst="rect">
            <a:avLst/>
          </a:prstGeom>
        </p:spPr>
      </p:pic>
      <p:pic>
        <p:nvPicPr>
          <p:cNvPr id="75" name="Picture 74">
            <a:extLst>
              <a:ext uri="{FF2B5EF4-FFF2-40B4-BE49-F238E27FC236}">
                <a16:creationId xmlns:a16="http://schemas.microsoft.com/office/drawing/2014/main" id="{F619D849-7DAA-4668-3B2E-0151E70AA907}"/>
              </a:ext>
            </a:extLst>
          </p:cNvPr>
          <p:cNvPicPr>
            <a:picLocks noChangeAspect="1"/>
          </p:cNvPicPr>
          <p:nvPr/>
        </p:nvPicPr>
        <p:blipFill>
          <a:blip r:embed="rId6"/>
          <a:stretch>
            <a:fillRect/>
          </a:stretch>
        </p:blipFill>
        <p:spPr>
          <a:xfrm>
            <a:off x="5485871" y="3261660"/>
            <a:ext cx="449780" cy="45719"/>
          </a:xfrm>
          <a:prstGeom prst="rect">
            <a:avLst/>
          </a:prstGeom>
        </p:spPr>
      </p:pic>
      <p:pic>
        <p:nvPicPr>
          <p:cNvPr id="76" name="Picture 75">
            <a:extLst>
              <a:ext uri="{FF2B5EF4-FFF2-40B4-BE49-F238E27FC236}">
                <a16:creationId xmlns:a16="http://schemas.microsoft.com/office/drawing/2014/main" id="{00B6F58B-9452-EC0A-B87C-BEFBD388F21D}"/>
              </a:ext>
            </a:extLst>
          </p:cNvPr>
          <p:cNvPicPr>
            <a:picLocks noChangeAspect="1"/>
          </p:cNvPicPr>
          <p:nvPr/>
        </p:nvPicPr>
        <p:blipFill>
          <a:blip r:embed="rId6"/>
          <a:stretch>
            <a:fillRect/>
          </a:stretch>
        </p:blipFill>
        <p:spPr>
          <a:xfrm>
            <a:off x="5036091" y="3261715"/>
            <a:ext cx="449780" cy="45719"/>
          </a:xfrm>
          <a:prstGeom prst="rect">
            <a:avLst/>
          </a:prstGeom>
        </p:spPr>
      </p:pic>
      <p:pic>
        <p:nvPicPr>
          <p:cNvPr id="78" name="Picture 77">
            <a:extLst>
              <a:ext uri="{FF2B5EF4-FFF2-40B4-BE49-F238E27FC236}">
                <a16:creationId xmlns:a16="http://schemas.microsoft.com/office/drawing/2014/main" id="{12BB6249-81D2-9503-06D1-C45BFCCC2E35}"/>
              </a:ext>
            </a:extLst>
          </p:cNvPr>
          <p:cNvPicPr>
            <a:picLocks noChangeAspect="1"/>
          </p:cNvPicPr>
          <p:nvPr/>
        </p:nvPicPr>
        <p:blipFill>
          <a:blip r:embed="rId6"/>
          <a:stretch>
            <a:fillRect/>
          </a:stretch>
        </p:blipFill>
        <p:spPr>
          <a:xfrm>
            <a:off x="4585599" y="3261275"/>
            <a:ext cx="449780" cy="45719"/>
          </a:xfrm>
          <a:prstGeom prst="rect">
            <a:avLst/>
          </a:prstGeom>
        </p:spPr>
      </p:pic>
      <p:pic>
        <p:nvPicPr>
          <p:cNvPr id="79" name="Picture 78">
            <a:extLst>
              <a:ext uri="{FF2B5EF4-FFF2-40B4-BE49-F238E27FC236}">
                <a16:creationId xmlns:a16="http://schemas.microsoft.com/office/drawing/2014/main" id="{919A9CDF-F36D-CAA3-06A0-86103DFB79BA}"/>
              </a:ext>
            </a:extLst>
          </p:cNvPr>
          <p:cNvPicPr>
            <a:picLocks noChangeAspect="1"/>
          </p:cNvPicPr>
          <p:nvPr/>
        </p:nvPicPr>
        <p:blipFill>
          <a:blip r:embed="rId6"/>
          <a:stretch>
            <a:fillRect/>
          </a:stretch>
        </p:blipFill>
        <p:spPr>
          <a:xfrm>
            <a:off x="4135876" y="3261220"/>
            <a:ext cx="449780" cy="45719"/>
          </a:xfrm>
          <a:prstGeom prst="rect">
            <a:avLst/>
          </a:prstGeom>
        </p:spPr>
      </p:pic>
      <p:pic>
        <p:nvPicPr>
          <p:cNvPr id="80" name="Picture 79">
            <a:extLst>
              <a:ext uri="{FF2B5EF4-FFF2-40B4-BE49-F238E27FC236}">
                <a16:creationId xmlns:a16="http://schemas.microsoft.com/office/drawing/2014/main" id="{D6D14D76-1F36-BE59-49ED-0D7E3E25B147}"/>
              </a:ext>
            </a:extLst>
          </p:cNvPr>
          <p:cNvPicPr>
            <a:picLocks noChangeAspect="1"/>
          </p:cNvPicPr>
          <p:nvPr/>
        </p:nvPicPr>
        <p:blipFill>
          <a:blip r:embed="rId6"/>
          <a:stretch>
            <a:fillRect/>
          </a:stretch>
        </p:blipFill>
        <p:spPr>
          <a:xfrm>
            <a:off x="3686096" y="3261275"/>
            <a:ext cx="449780" cy="45719"/>
          </a:xfrm>
          <a:prstGeom prst="rect">
            <a:avLst/>
          </a:prstGeom>
        </p:spPr>
      </p:pic>
      <p:pic>
        <p:nvPicPr>
          <p:cNvPr id="81" name="Picture 80">
            <a:extLst>
              <a:ext uri="{FF2B5EF4-FFF2-40B4-BE49-F238E27FC236}">
                <a16:creationId xmlns:a16="http://schemas.microsoft.com/office/drawing/2014/main" id="{0EFA5583-6DFC-6217-A2D8-50DFB709C1D1}"/>
              </a:ext>
            </a:extLst>
          </p:cNvPr>
          <p:cNvPicPr>
            <a:picLocks noChangeAspect="1"/>
          </p:cNvPicPr>
          <p:nvPr/>
        </p:nvPicPr>
        <p:blipFill>
          <a:blip r:embed="rId6"/>
          <a:stretch>
            <a:fillRect/>
          </a:stretch>
        </p:blipFill>
        <p:spPr>
          <a:xfrm>
            <a:off x="3236373" y="3261220"/>
            <a:ext cx="449780" cy="45719"/>
          </a:xfrm>
          <a:prstGeom prst="rect">
            <a:avLst/>
          </a:prstGeom>
        </p:spPr>
      </p:pic>
      <p:pic>
        <p:nvPicPr>
          <p:cNvPr id="82" name="Picture 81">
            <a:extLst>
              <a:ext uri="{FF2B5EF4-FFF2-40B4-BE49-F238E27FC236}">
                <a16:creationId xmlns:a16="http://schemas.microsoft.com/office/drawing/2014/main" id="{224AC138-21BF-601F-F084-2ADFC8859950}"/>
              </a:ext>
            </a:extLst>
          </p:cNvPr>
          <p:cNvPicPr>
            <a:picLocks noChangeAspect="1"/>
          </p:cNvPicPr>
          <p:nvPr/>
        </p:nvPicPr>
        <p:blipFill>
          <a:blip r:embed="rId6"/>
          <a:stretch>
            <a:fillRect/>
          </a:stretch>
        </p:blipFill>
        <p:spPr>
          <a:xfrm>
            <a:off x="2793974" y="3261606"/>
            <a:ext cx="449780" cy="45719"/>
          </a:xfrm>
          <a:prstGeom prst="rect">
            <a:avLst/>
          </a:prstGeom>
        </p:spPr>
      </p:pic>
      <p:pic>
        <p:nvPicPr>
          <p:cNvPr id="83" name="Picture 82">
            <a:extLst>
              <a:ext uri="{FF2B5EF4-FFF2-40B4-BE49-F238E27FC236}">
                <a16:creationId xmlns:a16="http://schemas.microsoft.com/office/drawing/2014/main" id="{BE872129-5EC6-902A-DB06-BD2B4945213B}"/>
              </a:ext>
            </a:extLst>
          </p:cNvPr>
          <p:cNvPicPr>
            <a:picLocks noChangeAspect="1"/>
          </p:cNvPicPr>
          <p:nvPr/>
        </p:nvPicPr>
        <p:blipFill>
          <a:blip r:embed="rId6"/>
          <a:stretch>
            <a:fillRect/>
          </a:stretch>
        </p:blipFill>
        <p:spPr>
          <a:xfrm>
            <a:off x="2344251" y="3261660"/>
            <a:ext cx="449780" cy="45719"/>
          </a:xfrm>
          <a:prstGeom prst="rect">
            <a:avLst/>
          </a:prstGeom>
        </p:spPr>
      </p:pic>
      <p:pic>
        <p:nvPicPr>
          <p:cNvPr id="84" name="Picture 83">
            <a:extLst>
              <a:ext uri="{FF2B5EF4-FFF2-40B4-BE49-F238E27FC236}">
                <a16:creationId xmlns:a16="http://schemas.microsoft.com/office/drawing/2014/main" id="{185CEA34-36DF-4F30-B41A-A4C1BFFC56DA}"/>
              </a:ext>
            </a:extLst>
          </p:cNvPr>
          <p:cNvPicPr>
            <a:picLocks noChangeAspect="1"/>
          </p:cNvPicPr>
          <p:nvPr/>
        </p:nvPicPr>
        <p:blipFill>
          <a:blip r:embed="rId6"/>
          <a:stretch>
            <a:fillRect/>
          </a:stretch>
        </p:blipFill>
        <p:spPr>
          <a:xfrm>
            <a:off x="1894528" y="3261605"/>
            <a:ext cx="449780" cy="45719"/>
          </a:xfrm>
          <a:prstGeom prst="rect">
            <a:avLst/>
          </a:prstGeom>
        </p:spPr>
      </p:pic>
      <p:pic>
        <p:nvPicPr>
          <p:cNvPr id="87" name="Picture 86">
            <a:extLst>
              <a:ext uri="{FF2B5EF4-FFF2-40B4-BE49-F238E27FC236}">
                <a16:creationId xmlns:a16="http://schemas.microsoft.com/office/drawing/2014/main" id="{C34A73FA-6CE8-F0A1-7B42-AEBE1515E5CD}"/>
              </a:ext>
            </a:extLst>
          </p:cNvPr>
          <p:cNvPicPr>
            <a:picLocks noChangeAspect="1"/>
          </p:cNvPicPr>
          <p:nvPr/>
        </p:nvPicPr>
        <p:blipFill>
          <a:blip r:embed="rId8"/>
          <a:stretch>
            <a:fillRect/>
          </a:stretch>
        </p:blipFill>
        <p:spPr>
          <a:xfrm>
            <a:off x="1698642" y="3072213"/>
            <a:ext cx="423731" cy="423731"/>
          </a:xfrm>
          <a:prstGeom prst="rect">
            <a:avLst/>
          </a:prstGeom>
        </p:spPr>
      </p:pic>
      <p:pic>
        <p:nvPicPr>
          <p:cNvPr id="88" name="Picture 87">
            <a:extLst>
              <a:ext uri="{FF2B5EF4-FFF2-40B4-BE49-F238E27FC236}">
                <a16:creationId xmlns:a16="http://schemas.microsoft.com/office/drawing/2014/main" id="{4DF8E8D6-DF69-8485-0286-5E4A60E402BA}"/>
              </a:ext>
            </a:extLst>
          </p:cNvPr>
          <p:cNvPicPr>
            <a:picLocks noChangeAspect="1"/>
          </p:cNvPicPr>
          <p:nvPr/>
        </p:nvPicPr>
        <p:blipFill>
          <a:blip r:embed="rId5"/>
          <a:stretch>
            <a:fillRect/>
          </a:stretch>
        </p:blipFill>
        <p:spPr>
          <a:xfrm rot="5400000">
            <a:off x="1779434" y="3473377"/>
            <a:ext cx="264491" cy="210213"/>
          </a:xfrm>
          <a:prstGeom prst="rect">
            <a:avLst/>
          </a:prstGeom>
        </p:spPr>
      </p:pic>
      <p:pic>
        <p:nvPicPr>
          <p:cNvPr id="98" name="Picture 97">
            <a:extLst>
              <a:ext uri="{FF2B5EF4-FFF2-40B4-BE49-F238E27FC236}">
                <a16:creationId xmlns:a16="http://schemas.microsoft.com/office/drawing/2014/main" id="{D4AFA091-7056-DAA6-68DD-C69AD12985C3}"/>
              </a:ext>
            </a:extLst>
          </p:cNvPr>
          <p:cNvPicPr>
            <a:picLocks noChangeAspect="1"/>
          </p:cNvPicPr>
          <p:nvPr/>
        </p:nvPicPr>
        <p:blipFill>
          <a:blip r:embed="rId9"/>
          <a:stretch>
            <a:fillRect/>
          </a:stretch>
        </p:blipFill>
        <p:spPr>
          <a:xfrm rot="16200000">
            <a:off x="9086010" y="4431892"/>
            <a:ext cx="1210996" cy="422427"/>
          </a:xfrm>
          <a:prstGeom prst="rect">
            <a:avLst/>
          </a:prstGeom>
        </p:spPr>
      </p:pic>
    </p:spTree>
    <p:extLst>
      <p:ext uri="{BB962C8B-B14F-4D97-AF65-F5344CB8AC3E}">
        <p14:creationId xmlns:p14="http://schemas.microsoft.com/office/powerpoint/2010/main" val="320252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C2EEF89-B675-2271-8367-12D87A5E4002}"/>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C978D79-F343-6709-ABE3-338222CB647B}"/>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E0960603-9EBD-3247-D083-1305BBC84CD6}"/>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FE873B8D-71D6-6093-377D-E3171102F15F}"/>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Phase 1 Diagram</a:t>
            </a:r>
          </a:p>
        </p:txBody>
      </p:sp>
      <p:sp>
        <p:nvSpPr>
          <p:cNvPr id="2" name="Rectangle 1">
            <a:extLst>
              <a:ext uri="{FF2B5EF4-FFF2-40B4-BE49-F238E27FC236}">
                <a16:creationId xmlns:a16="http://schemas.microsoft.com/office/drawing/2014/main" id="{8A0D15BD-F101-F298-6D2E-087F0EFABDCB}"/>
              </a:ext>
            </a:extLst>
          </p:cNvPr>
          <p:cNvSpPr/>
          <p:nvPr/>
        </p:nvSpPr>
        <p:spPr>
          <a:xfrm>
            <a:off x="1149531" y="2055984"/>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Target Device</a:t>
            </a:r>
          </a:p>
        </p:txBody>
      </p:sp>
      <p:sp>
        <p:nvSpPr>
          <p:cNvPr id="4" name="Rectangle 3">
            <a:extLst>
              <a:ext uri="{FF2B5EF4-FFF2-40B4-BE49-F238E27FC236}">
                <a16:creationId xmlns:a16="http://schemas.microsoft.com/office/drawing/2014/main" id="{931CAB7F-57A1-AC0C-F9EF-37D5EF1D1319}"/>
              </a:ext>
            </a:extLst>
          </p:cNvPr>
          <p:cNvSpPr/>
          <p:nvPr/>
        </p:nvSpPr>
        <p:spPr>
          <a:xfrm>
            <a:off x="3376265" y="3148417"/>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Host</a:t>
            </a:r>
          </a:p>
          <a:p>
            <a:pPr algn="ctr"/>
            <a:r>
              <a:rPr lang="en-US"/>
              <a:t>Device</a:t>
            </a:r>
          </a:p>
        </p:txBody>
      </p:sp>
      <p:sp>
        <p:nvSpPr>
          <p:cNvPr id="7" name="Rectangle 6">
            <a:extLst>
              <a:ext uri="{FF2B5EF4-FFF2-40B4-BE49-F238E27FC236}">
                <a16:creationId xmlns:a16="http://schemas.microsoft.com/office/drawing/2014/main" id="{7D1C74FD-B555-171A-5638-0D7DC99B98BD}"/>
              </a:ext>
            </a:extLst>
          </p:cNvPr>
          <p:cNvSpPr/>
          <p:nvPr/>
        </p:nvSpPr>
        <p:spPr>
          <a:xfrm>
            <a:off x="1149531" y="3380450"/>
            <a:ext cx="741149" cy="741927"/>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DMA</a:t>
            </a:r>
          </a:p>
        </p:txBody>
      </p:sp>
      <p:cxnSp>
        <p:nvCxnSpPr>
          <p:cNvPr id="9" name="Straight Arrow Connector 8">
            <a:extLst>
              <a:ext uri="{FF2B5EF4-FFF2-40B4-BE49-F238E27FC236}">
                <a16:creationId xmlns:a16="http://schemas.microsoft.com/office/drawing/2014/main" id="{63062D61-1BB4-12CF-BCCD-370141F28790}"/>
              </a:ext>
            </a:extLst>
          </p:cNvPr>
          <p:cNvCxnSpPr>
            <a:cxnSpLocks/>
          </p:cNvCxnSpPr>
          <p:nvPr/>
        </p:nvCxnSpPr>
        <p:spPr>
          <a:xfrm flipH="1">
            <a:off x="1983814" y="3751413"/>
            <a:ext cx="1210733" cy="0"/>
          </a:xfrm>
          <a:prstGeom prst="straightConnector1">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79FBCFB-2018-AD56-A7EA-A76BE4645B47}"/>
              </a:ext>
            </a:extLst>
          </p:cNvPr>
          <p:cNvSpPr txBox="1"/>
          <p:nvPr/>
        </p:nvSpPr>
        <p:spPr>
          <a:xfrm>
            <a:off x="2210711" y="3873988"/>
            <a:ext cx="756938" cy="369332"/>
          </a:xfrm>
          <a:prstGeom prst="rect">
            <a:avLst/>
          </a:prstGeom>
          <a:noFill/>
        </p:spPr>
        <p:txBody>
          <a:bodyPr wrap="none" rtlCol="0">
            <a:spAutoFit/>
          </a:bodyPr>
          <a:lstStyle/>
          <a:p>
            <a:r>
              <a:rPr lang="en-US">
                <a:solidFill>
                  <a:schemeClr val="bg1"/>
                </a:solidFill>
              </a:rPr>
              <a:t>USB-C</a:t>
            </a:r>
          </a:p>
        </p:txBody>
      </p:sp>
      <p:cxnSp>
        <p:nvCxnSpPr>
          <p:cNvPr id="14" name="Straight Arrow Connector 13">
            <a:extLst>
              <a:ext uri="{FF2B5EF4-FFF2-40B4-BE49-F238E27FC236}">
                <a16:creationId xmlns:a16="http://schemas.microsoft.com/office/drawing/2014/main" id="{A25849E6-9803-D7E3-3001-95B64456FE94}"/>
              </a:ext>
            </a:extLst>
          </p:cNvPr>
          <p:cNvCxnSpPr>
            <a:cxnSpLocks/>
          </p:cNvCxnSpPr>
          <p:nvPr/>
        </p:nvCxnSpPr>
        <p:spPr>
          <a:xfrm flipV="1">
            <a:off x="1520105" y="3067241"/>
            <a:ext cx="0" cy="440267"/>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4DDD35A-4FD3-6998-FA9E-54ABE27E58DB}"/>
              </a:ext>
            </a:extLst>
          </p:cNvPr>
          <p:cNvSpPr txBox="1"/>
          <p:nvPr/>
        </p:nvSpPr>
        <p:spPr>
          <a:xfrm>
            <a:off x="1545589" y="3102708"/>
            <a:ext cx="1010213" cy="369332"/>
          </a:xfrm>
          <a:prstGeom prst="rect">
            <a:avLst/>
          </a:prstGeom>
          <a:noFill/>
        </p:spPr>
        <p:txBody>
          <a:bodyPr wrap="none" rtlCol="0">
            <a:spAutoFit/>
          </a:bodyPr>
          <a:lstStyle/>
          <a:p>
            <a:r>
              <a:rPr lang="en-US">
                <a:solidFill>
                  <a:schemeClr val="bg1"/>
                </a:solidFill>
              </a:rPr>
              <a:t>PCIe Slot</a:t>
            </a:r>
          </a:p>
        </p:txBody>
      </p:sp>
      <p:pic>
        <p:nvPicPr>
          <p:cNvPr id="33" name="Picture 32">
            <a:extLst>
              <a:ext uri="{FF2B5EF4-FFF2-40B4-BE49-F238E27FC236}">
                <a16:creationId xmlns:a16="http://schemas.microsoft.com/office/drawing/2014/main" id="{B8B91A1A-CE06-E320-FD0A-1FDC577DB669}"/>
              </a:ext>
            </a:extLst>
          </p:cNvPr>
          <p:cNvPicPr>
            <a:picLocks noChangeAspect="1"/>
          </p:cNvPicPr>
          <p:nvPr/>
        </p:nvPicPr>
        <p:blipFill>
          <a:blip r:embed="rId5"/>
          <a:stretch>
            <a:fillRect/>
          </a:stretch>
        </p:blipFill>
        <p:spPr>
          <a:xfrm>
            <a:off x="7517307" y="1823508"/>
            <a:ext cx="3178658" cy="3210983"/>
          </a:xfrm>
          <a:prstGeom prst="rect">
            <a:avLst/>
          </a:prstGeom>
        </p:spPr>
      </p:pic>
      <p:sp>
        <p:nvSpPr>
          <p:cNvPr id="34" name="Rectangle 33">
            <a:extLst>
              <a:ext uri="{FF2B5EF4-FFF2-40B4-BE49-F238E27FC236}">
                <a16:creationId xmlns:a16="http://schemas.microsoft.com/office/drawing/2014/main" id="{F5F69651-A6D3-CB8C-6520-35C4ECE36B45}"/>
              </a:ext>
            </a:extLst>
          </p:cNvPr>
          <p:cNvSpPr/>
          <p:nvPr/>
        </p:nvSpPr>
        <p:spPr>
          <a:xfrm>
            <a:off x="7382933" y="2396067"/>
            <a:ext cx="787400" cy="635000"/>
          </a:xfrm>
          <a:prstGeom prst="rect">
            <a:avLst/>
          </a:prstGeom>
          <a:noFill/>
          <a:ln w="19050">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DBFE3EA4-72D5-272A-9417-840980356CB1}"/>
              </a:ext>
            </a:extLst>
          </p:cNvPr>
          <p:cNvCxnSpPr>
            <a:cxnSpLocks/>
            <a:stCxn id="34" idx="1"/>
          </p:cNvCxnSpPr>
          <p:nvPr/>
        </p:nvCxnSpPr>
        <p:spPr>
          <a:xfrm flipH="1">
            <a:off x="6497320" y="2713567"/>
            <a:ext cx="885613" cy="0"/>
          </a:xfrm>
          <a:prstGeom prst="straightConnector1">
            <a:avLst/>
          </a:prstGeom>
          <a:ln w="1905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E760F40-4A73-7CC9-C083-86A85B8B77A7}"/>
              </a:ext>
            </a:extLst>
          </p:cNvPr>
          <p:cNvSpPr txBox="1"/>
          <p:nvPr/>
        </p:nvSpPr>
        <p:spPr>
          <a:xfrm>
            <a:off x="6567934" y="2758201"/>
            <a:ext cx="822982" cy="646331"/>
          </a:xfrm>
          <a:prstGeom prst="rect">
            <a:avLst/>
          </a:prstGeom>
          <a:noFill/>
        </p:spPr>
        <p:txBody>
          <a:bodyPr wrap="none" rtlCol="0">
            <a:spAutoFit/>
          </a:bodyPr>
          <a:lstStyle/>
          <a:p>
            <a:pPr algn="ctr"/>
            <a:r>
              <a:rPr lang="en-US" sz="1200" b="1">
                <a:solidFill>
                  <a:schemeClr val="tx1">
                    <a:lumMod val="60000"/>
                    <a:lumOff val="40000"/>
                  </a:schemeClr>
                </a:solidFill>
              </a:rPr>
              <a:t>USB-C</a:t>
            </a:r>
          </a:p>
          <a:p>
            <a:pPr algn="ctr"/>
            <a:r>
              <a:rPr lang="en-US" sz="1200" b="1">
                <a:solidFill>
                  <a:schemeClr val="tx1">
                    <a:lumMod val="60000"/>
                    <a:lumOff val="40000"/>
                  </a:schemeClr>
                </a:solidFill>
              </a:rPr>
              <a:t>To control</a:t>
            </a:r>
          </a:p>
          <a:p>
            <a:pPr algn="ctr"/>
            <a:r>
              <a:rPr lang="en-US" sz="1200" b="1">
                <a:solidFill>
                  <a:schemeClr val="tx1">
                    <a:lumMod val="60000"/>
                    <a:lumOff val="40000"/>
                  </a:schemeClr>
                </a:solidFill>
              </a:rPr>
              <a:t>computer</a:t>
            </a:r>
          </a:p>
        </p:txBody>
      </p:sp>
      <p:sp>
        <p:nvSpPr>
          <p:cNvPr id="44" name="Rectangle 43">
            <a:extLst>
              <a:ext uri="{FF2B5EF4-FFF2-40B4-BE49-F238E27FC236}">
                <a16:creationId xmlns:a16="http://schemas.microsoft.com/office/drawing/2014/main" id="{A96A73C9-DA59-7F8B-24CE-BDB846097E9F}"/>
              </a:ext>
            </a:extLst>
          </p:cNvPr>
          <p:cNvSpPr/>
          <p:nvPr/>
        </p:nvSpPr>
        <p:spPr>
          <a:xfrm>
            <a:off x="7382933" y="3418946"/>
            <a:ext cx="787400" cy="635000"/>
          </a:xfrm>
          <a:prstGeom prst="rect">
            <a:avLst/>
          </a:prstGeom>
          <a:noFill/>
          <a:ln w="19050">
            <a:solidFill>
              <a:srgbClr val="F78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5E6447D0-14A0-7379-8E7F-A6E86A7498EF}"/>
              </a:ext>
            </a:extLst>
          </p:cNvPr>
          <p:cNvCxnSpPr>
            <a:cxnSpLocks/>
            <a:stCxn id="44" idx="1"/>
          </p:cNvCxnSpPr>
          <p:nvPr/>
        </p:nvCxnSpPr>
        <p:spPr>
          <a:xfrm flipH="1">
            <a:off x="6497320" y="3736446"/>
            <a:ext cx="885613" cy="0"/>
          </a:xfrm>
          <a:prstGeom prst="straightConnector1">
            <a:avLst/>
          </a:prstGeom>
          <a:ln w="19050">
            <a:solidFill>
              <a:srgbClr val="F78E1E"/>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BF249E18-BF83-3854-AF8F-E18E502CD8BF}"/>
              </a:ext>
            </a:extLst>
          </p:cNvPr>
          <p:cNvSpPr txBox="1"/>
          <p:nvPr/>
        </p:nvSpPr>
        <p:spPr>
          <a:xfrm>
            <a:off x="6261101" y="3792411"/>
            <a:ext cx="1121832" cy="461665"/>
          </a:xfrm>
          <a:prstGeom prst="rect">
            <a:avLst/>
          </a:prstGeom>
          <a:noFill/>
          <a:ln>
            <a:noFill/>
          </a:ln>
        </p:spPr>
        <p:txBody>
          <a:bodyPr wrap="square" rtlCol="0">
            <a:spAutoFit/>
          </a:bodyPr>
          <a:lstStyle/>
          <a:p>
            <a:pPr algn="ctr"/>
            <a:r>
              <a:rPr lang="en-US" sz="1200" b="1">
                <a:solidFill>
                  <a:srgbClr val="F78E1E"/>
                </a:solidFill>
              </a:rPr>
              <a:t>JTAG for</a:t>
            </a:r>
          </a:p>
          <a:p>
            <a:pPr algn="ctr"/>
            <a:r>
              <a:rPr lang="en-US" sz="1200" b="1">
                <a:solidFill>
                  <a:srgbClr val="F78E1E"/>
                </a:solidFill>
              </a:rPr>
              <a:t>Programming</a:t>
            </a:r>
          </a:p>
        </p:txBody>
      </p:sp>
      <p:cxnSp>
        <p:nvCxnSpPr>
          <p:cNvPr id="47" name="Straight Arrow Connector 46">
            <a:extLst>
              <a:ext uri="{FF2B5EF4-FFF2-40B4-BE49-F238E27FC236}">
                <a16:creationId xmlns:a16="http://schemas.microsoft.com/office/drawing/2014/main" id="{BBDA84AB-87FA-432A-976D-90B07E8F20E8}"/>
              </a:ext>
            </a:extLst>
          </p:cNvPr>
          <p:cNvCxnSpPr>
            <a:cxnSpLocks/>
            <a:stCxn id="49" idx="2"/>
            <a:endCxn id="48" idx="0"/>
          </p:cNvCxnSpPr>
          <p:nvPr/>
        </p:nvCxnSpPr>
        <p:spPr>
          <a:xfrm>
            <a:off x="10224236" y="5092078"/>
            <a:ext cx="0" cy="365296"/>
          </a:xfrm>
          <a:prstGeom prst="straightConnector1">
            <a:avLst/>
          </a:prstGeom>
          <a:ln w="1905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F7E321-36E3-3569-B0BA-25B7CB0849B1}"/>
              </a:ext>
            </a:extLst>
          </p:cNvPr>
          <p:cNvSpPr txBox="1"/>
          <p:nvPr/>
        </p:nvSpPr>
        <p:spPr>
          <a:xfrm>
            <a:off x="9513271" y="5457374"/>
            <a:ext cx="1421929" cy="461665"/>
          </a:xfrm>
          <a:prstGeom prst="rect">
            <a:avLst/>
          </a:prstGeom>
          <a:noFill/>
        </p:spPr>
        <p:txBody>
          <a:bodyPr wrap="none" rtlCol="0">
            <a:spAutoFit/>
          </a:bodyPr>
          <a:lstStyle/>
          <a:p>
            <a:pPr algn="ctr"/>
            <a:r>
              <a:rPr lang="en-US" sz="1200" b="1">
                <a:solidFill>
                  <a:schemeClr val="tx1">
                    <a:lumMod val="60000"/>
                    <a:lumOff val="40000"/>
                  </a:schemeClr>
                </a:solidFill>
              </a:rPr>
              <a:t>PCIe</a:t>
            </a:r>
          </a:p>
          <a:p>
            <a:pPr algn="ctr"/>
            <a:r>
              <a:rPr lang="en-US" sz="1200" b="1">
                <a:solidFill>
                  <a:schemeClr val="tx1">
                    <a:lumMod val="60000"/>
                    <a:lumOff val="40000"/>
                  </a:schemeClr>
                </a:solidFill>
              </a:rPr>
              <a:t>To target Computer</a:t>
            </a:r>
          </a:p>
        </p:txBody>
      </p:sp>
      <p:sp>
        <p:nvSpPr>
          <p:cNvPr id="49" name="Rectangle 48">
            <a:extLst>
              <a:ext uri="{FF2B5EF4-FFF2-40B4-BE49-F238E27FC236}">
                <a16:creationId xmlns:a16="http://schemas.microsoft.com/office/drawing/2014/main" id="{C50580CE-562C-BDE7-D60B-780E63E5A258}"/>
              </a:ext>
            </a:extLst>
          </p:cNvPr>
          <p:cNvSpPr/>
          <p:nvPr/>
        </p:nvSpPr>
        <p:spPr>
          <a:xfrm>
            <a:off x="9618133" y="4580467"/>
            <a:ext cx="1212206" cy="511611"/>
          </a:xfrm>
          <a:prstGeom prst="rect">
            <a:avLst/>
          </a:prstGeom>
          <a:noFill/>
          <a:ln w="19050">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A1A07638-A405-1E0E-8203-1F28F5190160}"/>
              </a:ext>
            </a:extLst>
          </p:cNvPr>
          <p:cNvSpPr/>
          <p:nvPr/>
        </p:nvSpPr>
        <p:spPr>
          <a:xfrm>
            <a:off x="10224236" y="2055984"/>
            <a:ext cx="551714" cy="340084"/>
          </a:xfrm>
          <a:prstGeom prst="rect">
            <a:avLst/>
          </a:prstGeom>
          <a:noFill/>
          <a:ln w="19050">
            <a:solidFill>
              <a:srgbClr val="F78E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3E61D90D-4B29-822F-A559-E68150DDFBFE}"/>
              </a:ext>
            </a:extLst>
          </p:cNvPr>
          <p:cNvSpPr txBox="1"/>
          <p:nvPr/>
        </p:nvSpPr>
        <p:spPr>
          <a:xfrm>
            <a:off x="10500093" y="2087526"/>
            <a:ext cx="1121832" cy="276999"/>
          </a:xfrm>
          <a:prstGeom prst="rect">
            <a:avLst/>
          </a:prstGeom>
          <a:noFill/>
          <a:ln>
            <a:noFill/>
          </a:ln>
        </p:spPr>
        <p:txBody>
          <a:bodyPr wrap="square" rtlCol="0">
            <a:spAutoFit/>
          </a:bodyPr>
          <a:lstStyle/>
          <a:p>
            <a:pPr algn="ctr"/>
            <a:r>
              <a:rPr lang="en-US" sz="1200" b="1">
                <a:solidFill>
                  <a:srgbClr val="F78E1E"/>
                </a:solidFill>
              </a:rPr>
              <a:t>Reset</a:t>
            </a:r>
          </a:p>
        </p:txBody>
      </p:sp>
      <p:sp>
        <p:nvSpPr>
          <p:cNvPr id="56" name="Rectangle 55">
            <a:extLst>
              <a:ext uri="{FF2B5EF4-FFF2-40B4-BE49-F238E27FC236}">
                <a16:creationId xmlns:a16="http://schemas.microsoft.com/office/drawing/2014/main" id="{ED1F7D08-D2DC-14AB-2A3C-3288F2B51F5C}"/>
              </a:ext>
            </a:extLst>
          </p:cNvPr>
          <p:cNvSpPr/>
          <p:nvPr/>
        </p:nvSpPr>
        <p:spPr>
          <a:xfrm>
            <a:off x="8202050" y="1856317"/>
            <a:ext cx="199000" cy="273050"/>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E0104599-3F31-2BC0-6436-20836787D981}"/>
              </a:ext>
            </a:extLst>
          </p:cNvPr>
          <p:cNvSpPr/>
          <p:nvPr/>
        </p:nvSpPr>
        <p:spPr>
          <a:xfrm>
            <a:off x="8486374" y="1856317"/>
            <a:ext cx="199000" cy="273050"/>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8C591414-F428-F795-A272-EA218029E68A}"/>
              </a:ext>
            </a:extLst>
          </p:cNvPr>
          <p:cNvSpPr/>
          <p:nvPr/>
        </p:nvSpPr>
        <p:spPr>
          <a:xfrm>
            <a:off x="8770698" y="1856317"/>
            <a:ext cx="199000" cy="273050"/>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CEC06516-6C59-12D7-D336-631598D114C7}"/>
              </a:ext>
            </a:extLst>
          </p:cNvPr>
          <p:cNvSpPr txBox="1"/>
          <p:nvPr/>
        </p:nvSpPr>
        <p:spPr>
          <a:xfrm>
            <a:off x="8124366" y="1530104"/>
            <a:ext cx="646332" cy="276999"/>
          </a:xfrm>
          <a:prstGeom prst="rect">
            <a:avLst/>
          </a:prstGeom>
          <a:noFill/>
        </p:spPr>
        <p:txBody>
          <a:bodyPr wrap="none" rtlCol="0">
            <a:spAutoFit/>
          </a:bodyPr>
          <a:lstStyle/>
          <a:p>
            <a:pPr algn="ctr"/>
            <a:r>
              <a:rPr lang="en-US" sz="1200" b="1">
                <a:solidFill>
                  <a:srgbClr val="00B050"/>
                </a:solidFill>
              </a:rPr>
              <a:t>LED1/2</a:t>
            </a:r>
          </a:p>
        </p:txBody>
      </p:sp>
      <p:sp>
        <p:nvSpPr>
          <p:cNvPr id="60" name="TextBox 59">
            <a:extLst>
              <a:ext uri="{FF2B5EF4-FFF2-40B4-BE49-F238E27FC236}">
                <a16:creationId xmlns:a16="http://schemas.microsoft.com/office/drawing/2014/main" id="{A704DC97-4F61-8EDE-48B5-CFD899A8FBDC}"/>
              </a:ext>
            </a:extLst>
          </p:cNvPr>
          <p:cNvSpPr txBox="1"/>
          <p:nvPr/>
        </p:nvSpPr>
        <p:spPr>
          <a:xfrm>
            <a:off x="8718667" y="1530104"/>
            <a:ext cx="502062" cy="276999"/>
          </a:xfrm>
          <a:prstGeom prst="rect">
            <a:avLst/>
          </a:prstGeom>
          <a:noFill/>
        </p:spPr>
        <p:txBody>
          <a:bodyPr wrap="none" rtlCol="0">
            <a:spAutoFit/>
          </a:bodyPr>
          <a:lstStyle/>
          <a:p>
            <a:pPr algn="ctr"/>
            <a:r>
              <a:rPr lang="en-US" sz="1200" b="1">
                <a:solidFill>
                  <a:srgbClr val="00B050"/>
                </a:solidFill>
              </a:rPr>
              <a:t>LED3</a:t>
            </a:r>
          </a:p>
        </p:txBody>
      </p:sp>
      <p:sp>
        <p:nvSpPr>
          <p:cNvPr id="6" name="Rectangle 5">
            <a:extLst>
              <a:ext uri="{FF2B5EF4-FFF2-40B4-BE49-F238E27FC236}">
                <a16:creationId xmlns:a16="http://schemas.microsoft.com/office/drawing/2014/main" id="{BBAF4D13-2B0E-560E-2DA5-76E4810B9393}"/>
              </a:ext>
            </a:extLst>
          </p:cNvPr>
          <p:cNvSpPr/>
          <p:nvPr/>
        </p:nvSpPr>
        <p:spPr>
          <a:xfrm>
            <a:off x="3332211" y="4446938"/>
            <a:ext cx="1421924" cy="778668"/>
          </a:xfrm>
          <a:prstGeom prst="rect">
            <a:avLst/>
          </a:prstGeom>
          <a:noFill/>
          <a:ln>
            <a:solidFill>
              <a:srgbClr val="CC26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Running: Keylogger</a:t>
            </a:r>
          </a:p>
        </p:txBody>
      </p:sp>
    </p:spTree>
    <p:extLst>
      <p:ext uri="{BB962C8B-B14F-4D97-AF65-F5344CB8AC3E}">
        <p14:creationId xmlns:p14="http://schemas.microsoft.com/office/powerpoint/2010/main" val="962601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0B6DC02-44E6-CA01-F91C-A0D43A991901}"/>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68E3AC79-BA26-9285-DA0A-A1DC732C14B6}"/>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93963432-EF96-87F5-525D-5848D9658217}"/>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7724A795-5812-F322-2A98-C31A5A3E14ED}"/>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Phase 2 Diagram</a:t>
            </a:r>
          </a:p>
        </p:txBody>
      </p:sp>
      <p:sp>
        <p:nvSpPr>
          <p:cNvPr id="3" name="Rectangle 2">
            <a:extLst>
              <a:ext uri="{FF2B5EF4-FFF2-40B4-BE49-F238E27FC236}">
                <a16:creationId xmlns:a16="http://schemas.microsoft.com/office/drawing/2014/main" id="{33A8E6A0-F121-D394-D3ED-6C61BF49EC9F}"/>
              </a:ext>
            </a:extLst>
          </p:cNvPr>
          <p:cNvSpPr/>
          <p:nvPr/>
        </p:nvSpPr>
        <p:spPr>
          <a:xfrm>
            <a:off x="3985599" y="2163140"/>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Target Device</a:t>
            </a:r>
          </a:p>
        </p:txBody>
      </p:sp>
      <p:sp>
        <p:nvSpPr>
          <p:cNvPr id="6" name="Rectangle 5">
            <a:extLst>
              <a:ext uri="{FF2B5EF4-FFF2-40B4-BE49-F238E27FC236}">
                <a16:creationId xmlns:a16="http://schemas.microsoft.com/office/drawing/2014/main" id="{2215F2AB-2163-0705-4B97-0197DAF73186}"/>
              </a:ext>
            </a:extLst>
          </p:cNvPr>
          <p:cNvSpPr/>
          <p:nvPr/>
        </p:nvSpPr>
        <p:spPr>
          <a:xfrm>
            <a:off x="6212333" y="3255573"/>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Host</a:t>
            </a:r>
          </a:p>
          <a:p>
            <a:pPr algn="ctr"/>
            <a:r>
              <a:rPr lang="en-US"/>
              <a:t>Device</a:t>
            </a:r>
          </a:p>
        </p:txBody>
      </p:sp>
      <p:sp>
        <p:nvSpPr>
          <p:cNvPr id="8" name="Rectangle 7">
            <a:extLst>
              <a:ext uri="{FF2B5EF4-FFF2-40B4-BE49-F238E27FC236}">
                <a16:creationId xmlns:a16="http://schemas.microsoft.com/office/drawing/2014/main" id="{FBF793DF-C779-9353-D819-559ABA27E4E5}"/>
              </a:ext>
            </a:extLst>
          </p:cNvPr>
          <p:cNvSpPr/>
          <p:nvPr/>
        </p:nvSpPr>
        <p:spPr>
          <a:xfrm>
            <a:off x="3985599" y="3487606"/>
            <a:ext cx="741149" cy="741927"/>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DMA</a:t>
            </a:r>
          </a:p>
        </p:txBody>
      </p:sp>
      <p:cxnSp>
        <p:nvCxnSpPr>
          <p:cNvPr id="10" name="Straight Arrow Connector 9">
            <a:extLst>
              <a:ext uri="{FF2B5EF4-FFF2-40B4-BE49-F238E27FC236}">
                <a16:creationId xmlns:a16="http://schemas.microsoft.com/office/drawing/2014/main" id="{2A904128-4D33-A144-A6AF-19AEA4FA0DC5}"/>
              </a:ext>
            </a:extLst>
          </p:cNvPr>
          <p:cNvCxnSpPr>
            <a:cxnSpLocks/>
          </p:cNvCxnSpPr>
          <p:nvPr/>
        </p:nvCxnSpPr>
        <p:spPr>
          <a:xfrm flipH="1">
            <a:off x="4819882" y="3858569"/>
            <a:ext cx="1210733" cy="0"/>
          </a:xfrm>
          <a:prstGeom prst="straightConnector1">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8797C4F-62FC-B095-BF17-9866F7377C97}"/>
              </a:ext>
            </a:extLst>
          </p:cNvPr>
          <p:cNvSpPr txBox="1"/>
          <p:nvPr/>
        </p:nvSpPr>
        <p:spPr>
          <a:xfrm>
            <a:off x="5046779" y="3981144"/>
            <a:ext cx="756938" cy="369332"/>
          </a:xfrm>
          <a:prstGeom prst="rect">
            <a:avLst/>
          </a:prstGeom>
          <a:noFill/>
        </p:spPr>
        <p:txBody>
          <a:bodyPr wrap="none" rtlCol="0">
            <a:spAutoFit/>
          </a:bodyPr>
          <a:lstStyle/>
          <a:p>
            <a:r>
              <a:rPr lang="en-US">
                <a:solidFill>
                  <a:schemeClr val="bg1"/>
                </a:solidFill>
              </a:rPr>
              <a:t>USB-C</a:t>
            </a:r>
          </a:p>
        </p:txBody>
      </p:sp>
      <p:cxnSp>
        <p:nvCxnSpPr>
          <p:cNvPr id="13" name="Straight Arrow Connector 12">
            <a:extLst>
              <a:ext uri="{FF2B5EF4-FFF2-40B4-BE49-F238E27FC236}">
                <a16:creationId xmlns:a16="http://schemas.microsoft.com/office/drawing/2014/main" id="{03E1BC05-12F6-B97A-EF7F-B2863DE2DB10}"/>
              </a:ext>
            </a:extLst>
          </p:cNvPr>
          <p:cNvCxnSpPr>
            <a:cxnSpLocks/>
          </p:cNvCxnSpPr>
          <p:nvPr/>
        </p:nvCxnSpPr>
        <p:spPr>
          <a:xfrm flipV="1">
            <a:off x="4356173" y="3174397"/>
            <a:ext cx="0" cy="440267"/>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B0F2D03-33F6-4468-9266-1ADAFCFF9BB9}"/>
              </a:ext>
            </a:extLst>
          </p:cNvPr>
          <p:cNvSpPr txBox="1"/>
          <p:nvPr/>
        </p:nvSpPr>
        <p:spPr>
          <a:xfrm>
            <a:off x="4381657" y="3209864"/>
            <a:ext cx="1010213" cy="369332"/>
          </a:xfrm>
          <a:prstGeom prst="rect">
            <a:avLst/>
          </a:prstGeom>
          <a:noFill/>
        </p:spPr>
        <p:txBody>
          <a:bodyPr wrap="none" rtlCol="0">
            <a:spAutoFit/>
          </a:bodyPr>
          <a:lstStyle/>
          <a:p>
            <a:r>
              <a:rPr lang="en-US">
                <a:solidFill>
                  <a:schemeClr val="bg1"/>
                </a:solidFill>
              </a:rPr>
              <a:t>PCIe Slot</a:t>
            </a:r>
          </a:p>
        </p:txBody>
      </p:sp>
      <p:sp>
        <p:nvSpPr>
          <p:cNvPr id="16" name="Rectangle 15">
            <a:extLst>
              <a:ext uri="{FF2B5EF4-FFF2-40B4-BE49-F238E27FC236}">
                <a16:creationId xmlns:a16="http://schemas.microsoft.com/office/drawing/2014/main" id="{463320F4-8986-CC39-B7A0-22D708603DC9}"/>
              </a:ext>
            </a:extLst>
          </p:cNvPr>
          <p:cNvSpPr/>
          <p:nvPr/>
        </p:nvSpPr>
        <p:spPr>
          <a:xfrm>
            <a:off x="6168279" y="4554094"/>
            <a:ext cx="1421924" cy="778668"/>
          </a:xfrm>
          <a:prstGeom prst="rect">
            <a:avLst/>
          </a:prstGeom>
          <a:noFill/>
          <a:ln>
            <a:solidFill>
              <a:srgbClr val="CC26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Running: Keylogger</a:t>
            </a:r>
          </a:p>
        </p:txBody>
      </p:sp>
      <p:pic>
        <p:nvPicPr>
          <p:cNvPr id="28" name="Picture 27">
            <a:extLst>
              <a:ext uri="{FF2B5EF4-FFF2-40B4-BE49-F238E27FC236}">
                <a16:creationId xmlns:a16="http://schemas.microsoft.com/office/drawing/2014/main" id="{412F1B1B-0896-37EA-19CE-8FABFB496505}"/>
              </a:ext>
            </a:extLst>
          </p:cNvPr>
          <p:cNvPicPr>
            <a:picLocks noChangeAspect="1"/>
          </p:cNvPicPr>
          <p:nvPr/>
        </p:nvPicPr>
        <p:blipFill>
          <a:blip r:embed="rId5"/>
          <a:stretch>
            <a:fillRect/>
          </a:stretch>
        </p:blipFill>
        <p:spPr>
          <a:xfrm>
            <a:off x="9106636" y="5735597"/>
            <a:ext cx="2582428" cy="645607"/>
          </a:xfrm>
          <a:prstGeom prst="rect">
            <a:avLst/>
          </a:prstGeom>
        </p:spPr>
      </p:pic>
    </p:spTree>
    <p:extLst>
      <p:ext uri="{BB962C8B-B14F-4D97-AF65-F5344CB8AC3E}">
        <p14:creationId xmlns:p14="http://schemas.microsoft.com/office/powerpoint/2010/main" val="888268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935EC738-8F7D-7AE3-74FA-36D4DF71BD47}"/>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ABAF95E9-332A-4F3A-24FC-FC6AC4E65B98}"/>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00188FC7-E2A2-7FFC-948A-9F6F803887A2}"/>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AB00B5B7-06E1-1E9E-99D2-E1715A42A0CC}"/>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Phase 2 Diagram</a:t>
            </a:r>
          </a:p>
        </p:txBody>
      </p:sp>
      <p:sp>
        <p:nvSpPr>
          <p:cNvPr id="3" name="Rectangle 2">
            <a:extLst>
              <a:ext uri="{FF2B5EF4-FFF2-40B4-BE49-F238E27FC236}">
                <a16:creationId xmlns:a16="http://schemas.microsoft.com/office/drawing/2014/main" id="{A79EF00C-C08F-90C6-44C7-2688DCBDF634}"/>
              </a:ext>
            </a:extLst>
          </p:cNvPr>
          <p:cNvSpPr/>
          <p:nvPr/>
        </p:nvSpPr>
        <p:spPr>
          <a:xfrm>
            <a:off x="3985599" y="2163140"/>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Target Device</a:t>
            </a:r>
          </a:p>
        </p:txBody>
      </p:sp>
      <p:sp>
        <p:nvSpPr>
          <p:cNvPr id="6" name="Rectangle 5">
            <a:extLst>
              <a:ext uri="{FF2B5EF4-FFF2-40B4-BE49-F238E27FC236}">
                <a16:creationId xmlns:a16="http://schemas.microsoft.com/office/drawing/2014/main" id="{91726928-0BDF-7ECB-ED9D-47B3B9F78849}"/>
              </a:ext>
            </a:extLst>
          </p:cNvPr>
          <p:cNvSpPr/>
          <p:nvPr/>
        </p:nvSpPr>
        <p:spPr>
          <a:xfrm>
            <a:off x="6212333" y="3255573"/>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Host</a:t>
            </a:r>
          </a:p>
          <a:p>
            <a:pPr algn="ctr"/>
            <a:r>
              <a:rPr lang="en-US"/>
              <a:t>Device</a:t>
            </a:r>
          </a:p>
        </p:txBody>
      </p:sp>
      <p:sp>
        <p:nvSpPr>
          <p:cNvPr id="8" name="Rectangle 7">
            <a:extLst>
              <a:ext uri="{FF2B5EF4-FFF2-40B4-BE49-F238E27FC236}">
                <a16:creationId xmlns:a16="http://schemas.microsoft.com/office/drawing/2014/main" id="{E49CA01B-6D81-DDF0-7149-32E96AB9A449}"/>
              </a:ext>
            </a:extLst>
          </p:cNvPr>
          <p:cNvSpPr/>
          <p:nvPr/>
        </p:nvSpPr>
        <p:spPr>
          <a:xfrm>
            <a:off x="3985599" y="3487606"/>
            <a:ext cx="741149" cy="741927"/>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DMA</a:t>
            </a:r>
          </a:p>
        </p:txBody>
      </p:sp>
      <p:cxnSp>
        <p:nvCxnSpPr>
          <p:cNvPr id="10" name="Straight Arrow Connector 9">
            <a:extLst>
              <a:ext uri="{FF2B5EF4-FFF2-40B4-BE49-F238E27FC236}">
                <a16:creationId xmlns:a16="http://schemas.microsoft.com/office/drawing/2014/main" id="{DEF5BC6D-3526-8A4E-B072-070A0E43CE99}"/>
              </a:ext>
            </a:extLst>
          </p:cNvPr>
          <p:cNvCxnSpPr>
            <a:cxnSpLocks/>
          </p:cNvCxnSpPr>
          <p:nvPr/>
        </p:nvCxnSpPr>
        <p:spPr>
          <a:xfrm flipH="1">
            <a:off x="4819882" y="3858569"/>
            <a:ext cx="1210733" cy="0"/>
          </a:xfrm>
          <a:prstGeom prst="straightConnector1">
            <a:avLst/>
          </a:prstGeom>
          <a:ln w="5715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5DA2CD0-2729-5367-0F5F-79E0EBAFB2AC}"/>
              </a:ext>
            </a:extLst>
          </p:cNvPr>
          <p:cNvSpPr txBox="1"/>
          <p:nvPr/>
        </p:nvSpPr>
        <p:spPr>
          <a:xfrm>
            <a:off x="5046779" y="3981144"/>
            <a:ext cx="756938" cy="369332"/>
          </a:xfrm>
          <a:prstGeom prst="rect">
            <a:avLst/>
          </a:prstGeom>
          <a:noFill/>
        </p:spPr>
        <p:txBody>
          <a:bodyPr wrap="none" rtlCol="0">
            <a:spAutoFit/>
          </a:bodyPr>
          <a:lstStyle/>
          <a:p>
            <a:r>
              <a:rPr lang="en-US">
                <a:solidFill>
                  <a:schemeClr val="bg1"/>
                </a:solidFill>
              </a:rPr>
              <a:t>USB-C</a:t>
            </a:r>
          </a:p>
        </p:txBody>
      </p:sp>
      <p:cxnSp>
        <p:nvCxnSpPr>
          <p:cNvPr id="13" name="Straight Arrow Connector 12">
            <a:extLst>
              <a:ext uri="{FF2B5EF4-FFF2-40B4-BE49-F238E27FC236}">
                <a16:creationId xmlns:a16="http://schemas.microsoft.com/office/drawing/2014/main" id="{215C9014-1D62-24A0-6AB0-C2FAB949C9E0}"/>
              </a:ext>
            </a:extLst>
          </p:cNvPr>
          <p:cNvCxnSpPr>
            <a:cxnSpLocks/>
          </p:cNvCxnSpPr>
          <p:nvPr/>
        </p:nvCxnSpPr>
        <p:spPr>
          <a:xfrm flipV="1">
            <a:off x="4356173" y="3174397"/>
            <a:ext cx="0" cy="440267"/>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2D52331-D3DA-DC67-BA23-064FA996F837}"/>
              </a:ext>
            </a:extLst>
          </p:cNvPr>
          <p:cNvSpPr txBox="1"/>
          <p:nvPr/>
        </p:nvSpPr>
        <p:spPr>
          <a:xfrm>
            <a:off x="4381657" y="3209864"/>
            <a:ext cx="1010213" cy="369332"/>
          </a:xfrm>
          <a:prstGeom prst="rect">
            <a:avLst/>
          </a:prstGeom>
          <a:noFill/>
        </p:spPr>
        <p:txBody>
          <a:bodyPr wrap="none" rtlCol="0">
            <a:spAutoFit/>
          </a:bodyPr>
          <a:lstStyle/>
          <a:p>
            <a:r>
              <a:rPr lang="en-US">
                <a:solidFill>
                  <a:schemeClr val="bg1"/>
                </a:solidFill>
              </a:rPr>
              <a:t>PCIe Slot</a:t>
            </a:r>
          </a:p>
        </p:txBody>
      </p:sp>
      <p:sp>
        <p:nvSpPr>
          <p:cNvPr id="16" name="Rectangle 15">
            <a:extLst>
              <a:ext uri="{FF2B5EF4-FFF2-40B4-BE49-F238E27FC236}">
                <a16:creationId xmlns:a16="http://schemas.microsoft.com/office/drawing/2014/main" id="{2B884E51-E434-BDA3-FBF7-6E8B2B390FB1}"/>
              </a:ext>
            </a:extLst>
          </p:cNvPr>
          <p:cNvSpPr/>
          <p:nvPr/>
        </p:nvSpPr>
        <p:spPr>
          <a:xfrm>
            <a:off x="3679582" y="4348008"/>
            <a:ext cx="1421924" cy="778668"/>
          </a:xfrm>
          <a:prstGeom prst="rect">
            <a:avLst/>
          </a:prstGeom>
          <a:noFill/>
          <a:ln>
            <a:solidFill>
              <a:srgbClr val="CC26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Running: Keylogger</a:t>
            </a:r>
          </a:p>
        </p:txBody>
      </p:sp>
      <p:pic>
        <p:nvPicPr>
          <p:cNvPr id="2" name="Picture 1">
            <a:extLst>
              <a:ext uri="{FF2B5EF4-FFF2-40B4-BE49-F238E27FC236}">
                <a16:creationId xmlns:a16="http://schemas.microsoft.com/office/drawing/2014/main" id="{69CD53A9-4B54-8158-0C30-B0B25EF3D549}"/>
              </a:ext>
            </a:extLst>
          </p:cNvPr>
          <p:cNvPicPr>
            <a:picLocks noChangeAspect="1"/>
          </p:cNvPicPr>
          <p:nvPr/>
        </p:nvPicPr>
        <p:blipFill>
          <a:blip r:embed="rId5"/>
          <a:stretch>
            <a:fillRect/>
          </a:stretch>
        </p:blipFill>
        <p:spPr>
          <a:xfrm>
            <a:off x="9106636" y="5735597"/>
            <a:ext cx="2582428" cy="645607"/>
          </a:xfrm>
          <a:prstGeom prst="rect">
            <a:avLst/>
          </a:prstGeom>
        </p:spPr>
      </p:pic>
    </p:spTree>
    <p:extLst>
      <p:ext uri="{BB962C8B-B14F-4D97-AF65-F5344CB8AC3E}">
        <p14:creationId xmlns:p14="http://schemas.microsoft.com/office/powerpoint/2010/main" val="232907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E7E8401B-61F9-44F0-F1DD-2D7C20E6A3FF}"/>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8EBA2B7A-BFE8-572D-DAFC-F7043790C1AF}"/>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C62C64B2-99FE-2964-8EF5-E60F92121A4E}"/>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579D5287-9812-6D67-7E6A-1BB6542EC9EF}"/>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Phase 2 Diagram</a:t>
            </a:r>
          </a:p>
        </p:txBody>
      </p:sp>
      <p:sp>
        <p:nvSpPr>
          <p:cNvPr id="3" name="Rectangle 2">
            <a:extLst>
              <a:ext uri="{FF2B5EF4-FFF2-40B4-BE49-F238E27FC236}">
                <a16:creationId xmlns:a16="http://schemas.microsoft.com/office/drawing/2014/main" id="{42C0B7D3-91B8-1B15-AC80-4C2BB37A2C65}"/>
              </a:ext>
            </a:extLst>
          </p:cNvPr>
          <p:cNvSpPr/>
          <p:nvPr/>
        </p:nvSpPr>
        <p:spPr>
          <a:xfrm>
            <a:off x="3985599" y="2163140"/>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Target Device</a:t>
            </a:r>
          </a:p>
        </p:txBody>
      </p:sp>
      <p:sp>
        <p:nvSpPr>
          <p:cNvPr id="8" name="Rectangle 7">
            <a:extLst>
              <a:ext uri="{FF2B5EF4-FFF2-40B4-BE49-F238E27FC236}">
                <a16:creationId xmlns:a16="http://schemas.microsoft.com/office/drawing/2014/main" id="{B2238226-4535-CCC5-0CE0-E76CF248EA36}"/>
              </a:ext>
            </a:extLst>
          </p:cNvPr>
          <p:cNvSpPr/>
          <p:nvPr/>
        </p:nvSpPr>
        <p:spPr>
          <a:xfrm>
            <a:off x="3985599" y="3487606"/>
            <a:ext cx="741149" cy="741927"/>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DMA</a:t>
            </a:r>
          </a:p>
        </p:txBody>
      </p:sp>
      <p:cxnSp>
        <p:nvCxnSpPr>
          <p:cNvPr id="13" name="Straight Arrow Connector 12">
            <a:extLst>
              <a:ext uri="{FF2B5EF4-FFF2-40B4-BE49-F238E27FC236}">
                <a16:creationId xmlns:a16="http://schemas.microsoft.com/office/drawing/2014/main" id="{83839820-0EFE-0A8E-4C46-B4BD0D1209BA}"/>
              </a:ext>
            </a:extLst>
          </p:cNvPr>
          <p:cNvCxnSpPr>
            <a:cxnSpLocks/>
          </p:cNvCxnSpPr>
          <p:nvPr/>
        </p:nvCxnSpPr>
        <p:spPr>
          <a:xfrm flipV="1">
            <a:off x="4356173" y="3174397"/>
            <a:ext cx="0" cy="440267"/>
          </a:xfrm>
          <a:prstGeom prst="straightConnector1">
            <a:avLst/>
          </a:prstGeom>
          <a:ln w="38100">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1CFDAD2-F7C4-D598-34D0-CB53622F010B}"/>
              </a:ext>
            </a:extLst>
          </p:cNvPr>
          <p:cNvSpPr txBox="1"/>
          <p:nvPr/>
        </p:nvSpPr>
        <p:spPr>
          <a:xfrm>
            <a:off x="4381657" y="3209864"/>
            <a:ext cx="1010213" cy="369332"/>
          </a:xfrm>
          <a:prstGeom prst="rect">
            <a:avLst/>
          </a:prstGeom>
          <a:noFill/>
        </p:spPr>
        <p:txBody>
          <a:bodyPr wrap="none" rtlCol="0">
            <a:spAutoFit/>
          </a:bodyPr>
          <a:lstStyle/>
          <a:p>
            <a:r>
              <a:rPr lang="en-US">
                <a:solidFill>
                  <a:schemeClr val="bg1"/>
                </a:solidFill>
              </a:rPr>
              <a:t>PCIe Slot</a:t>
            </a:r>
          </a:p>
        </p:txBody>
      </p:sp>
      <p:sp>
        <p:nvSpPr>
          <p:cNvPr id="16" name="Rectangle 15">
            <a:extLst>
              <a:ext uri="{FF2B5EF4-FFF2-40B4-BE49-F238E27FC236}">
                <a16:creationId xmlns:a16="http://schemas.microsoft.com/office/drawing/2014/main" id="{D3AAF380-7D1E-81F0-0A71-E6E9C2A70B21}"/>
              </a:ext>
            </a:extLst>
          </p:cNvPr>
          <p:cNvSpPr/>
          <p:nvPr/>
        </p:nvSpPr>
        <p:spPr>
          <a:xfrm>
            <a:off x="3679582" y="4348008"/>
            <a:ext cx="1421924" cy="778668"/>
          </a:xfrm>
          <a:prstGeom prst="rect">
            <a:avLst/>
          </a:prstGeom>
          <a:noFill/>
          <a:ln>
            <a:solidFill>
              <a:srgbClr val="CC26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Running: Keylogger</a:t>
            </a:r>
          </a:p>
        </p:txBody>
      </p:sp>
      <p:sp>
        <p:nvSpPr>
          <p:cNvPr id="2" name="Rectangle 1">
            <a:extLst>
              <a:ext uri="{FF2B5EF4-FFF2-40B4-BE49-F238E27FC236}">
                <a16:creationId xmlns:a16="http://schemas.microsoft.com/office/drawing/2014/main" id="{42CD92E2-F478-E26C-78CB-69005B40178C}"/>
              </a:ext>
            </a:extLst>
          </p:cNvPr>
          <p:cNvSpPr/>
          <p:nvPr/>
        </p:nvSpPr>
        <p:spPr>
          <a:xfrm>
            <a:off x="6639692" y="4134254"/>
            <a:ext cx="1333816" cy="1205991"/>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Host</a:t>
            </a:r>
          </a:p>
          <a:p>
            <a:pPr algn="ctr"/>
            <a:r>
              <a:rPr lang="en-US"/>
              <a:t>Device</a:t>
            </a:r>
          </a:p>
        </p:txBody>
      </p:sp>
      <p:sp>
        <p:nvSpPr>
          <p:cNvPr id="4" name="TextBox 3">
            <a:extLst>
              <a:ext uri="{FF2B5EF4-FFF2-40B4-BE49-F238E27FC236}">
                <a16:creationId xmlns:a16="http://schemas.microsoft.com/office/drawing/2014/main" id="{45B11A3B-EE21-3A97-6DE7-4E47276A47A9}"/>
              </a:ext>
            </a:extLst>
          </p:cNvPr>
          <p:cNvSpPr txBox="1"/>
          <p:nvPr/>
        </p:nvSpPr>
        <p:spPr>
          <a:xfrm>
            <a:off x="5319415" y="4808151"/>
            <a:ext cx="1180131" cy="369332"/>
          </a:xfrm>
          <a:prstGeom prst="rect">
            <a:avLst/>
          </a:prstGeom>
          <a:noFill/>
        </p:spPr>
        <p:txBody>
          <a:bodyPr wrap="none" rtlCol="0">
            <a:spAutoFit/>
          </a:bodyPr>
          <a:lstStyle/>
          <a:p>
            <a:r>
              <a:rPr lang="en-US">
                <a:solidFill>
                  <a:schemeClr val="bg1"/>
                </a:solidFill>
              </a:rPr>
              <a:t>curl IP:999</a:t>
            </a:r>
          </a:p>
        </p:txBody>
      </p:sp>
      <p:cxnSp>
        <p:nvCxnSpPr>
          <p:cNvPr id="7" name="Straight Arrow Connector 6">
            <a:extLst>
              <a:ext uri="{FF2B5EF4-FFF2-40B4-BE49-F238E27FC236}">
                <a16:creationId xmlns:a16="http://schemas.microsoft.com/office/drawing/2014/main" id="{406DAD1A-D7E2-6BE6-DBAB-5BA113BD121C}"/>
              </a:ext>
            </a:extLst>
          </p:cNvPr>
          <p:cNvCxnSpPr/>
          <p:nvPr/>
        </p:nvCxnSpPr>
        <p:spPr>
          <a:xfrm>
            <a:off x="5345378" y="4757737"/>
            <a:ext cx="1154168" cy="0"/>
          </a:xfrm>
          <a:prstGeom prst="straightConnector1">
            <a:avLst/>
          </a:prstGeom>
          <a:ln w="38100">
            <a:solidFill>
              <a:schemeClr val="bg1">
                <a:lumMod val="9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D29B12F-B2B2-1410-8101-080EFA75651E}"/>
              </a:ext>
            </a:extLst>
          </p:cNvPr>
          <p:cNvSpPr/>
          <p:nvPr/>
        </p:nvSpPr>
        <p:spPr>
          <a:xfrm>
            <a:off x="6595638" y="5437446"/>
            <a:ext cx="1421924" cy="849053"/>
          </a:xfrm>
          <a:prstGeom prst="rect">
            <a:avLst/>
          </a:prstGeom>
          <a:noFill/>
          <a:ln>
            <a:solidFill>
              <a:srgbClr val="CC26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Running: Webserver</a:t>
            </a:r>
          </a:p>
          <a:p>
            <a:pPr algn="ctr"/>
            <a:r>
              <a:rPr lang="en-US"/>
              <a:t>Port 999</a:t>
            </a:r>
          </a:p>
        </p:txBody>
      </p:sp>
      <p:pic>
        <p:nvPicPr>
          <p:cNvPr id="12" name="Picture 11">
            <a:extLst>
              <a:ext uri="{FF2B5EF4-FFF2-40B4-BE49-F238E27FC236}">
                <a16:creationId xmlns:a16="http://schemas.microsoft.com/office/drawing/2014/main" id="{55C35C45-E24E-0175-29B3-8DCF875D7805}"/>
              </a:ext>
            </a:extLst>
          </p:cNvPr>
          <p:cNvPicPr>
            <a:picLocks noChangeAspect="1"/>
          </p:cNvPicPr>
          <p:nvPr/>
        </p:nvPicPr>
        <p:blipFill>
          <a:blip r:embed="rId5"/>
          <a:stretch>
            <a:fillRect/>
          </a:stretch>
        </p:blipFill>
        <p:spPr>
          <a:xfrm>
            <a:off x="9106636" y="5735597"/>
            <a:ext cx="2582428" cy="645607"/>
          </a:xfrm>
          <a:prstGeom prst="rect">
            <a:avLst/>
          </a:prstGeom>
        </p:spPr>
      </p:pic>
    </p:spTree>
    <p:extLst>
      <p:ext uri="{BB962C8B-B14F-4D97-AF65-F5344CB8AC3E}">
        <p14:creationId xmlns:p14="http://schemas.microsoft.com/office/powerpoint/2010/main" val="1481489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8F519E04-B2A0-5D14-35FE-226C43127DE1}"/>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2E09D59A-F3A1-D4A0-BB35-84A5F271B266}"/>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A176E19C-5406-2CD7-3C22-3D2A69ABBD03}"/>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325F2F6E-2B83-F719-5A07-30BB692F8379}"/>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Helvetica" panose="020B0604020202020204" pitchFamily="34" charset="0"/>
                <a:cs typeface="Helvetica" panose="020B0604020202020204" pitchFamily="34" charset="0"/>
              </a:rPr>
              <a:t>Outline</a:t>
            </a:r>
          </a:p>
        </p:txBody>
      </p:sp>
      <p:pic>
        <p:nvPicPr>
          <p:cNvPr id="12" name="Picture 11">
            <a:extLst>
              <a:ext uri="{FF2B5EF4-FFF2-40B4-BE49-F238E27FC236}">
                <a16:creationId xmlns:a16="http://schemas.microsoft.com/office/drawing/2014/main" id="{48E19B6F-E630-7B2B-9EB6-AB7AEE8259DD}"/>
              </a:ext>
            </a:extLst>
          </p:cNvPr>
          <p:cNvPicPr>
            <a:picLocks noChangeAspect="1"/>
          </p:cNvPicPr>
          <p:nvPr/>
        </p:nvPicPr>
        <p:blipFill>
          <a:blip r:embed="rId5"/>
          <a:stretch>
            <a:fillRect/>
          </a:stretch>
        </p:blipFill>
        <p:spPr>
          <a:xfrm>
            <a:off x="908288" y="2445923"/>
            <a:ext cx="204601" cy="204601"/>
          </a:xfrm>
          <a:prstGeom prst="rect">
            <a:avLst/>
          </a:prstGeom>
        </p:spPr>
      </p:pic>
      <p:sp>
        <p:nvSpPr>
          <p:cNvPr id="13" name="Content Placeholder 2">
            <a:extLst>
              <a:ext uri="{FF2B5EF4-FFF2-40B4-BE49-F238E27FC236}">
                <a16:creationId xmlns:a16="http://schemas.microsoft.com/office/drawing/2014/main" id="{78A24585-CB88-1195-802F-F71FD1E0AC82}"/>
              </a:ext>
            </a:extLst>
          </p:cNvPr>
          <p:cNvSpPr txBox="1">
            <a:spLocks/>
          </p:cNvSpPr>
          <p:nvPr/>
        </p:nvSpPr>
        <p:spPr>
          <a:xfrm>
            <a:off x="1099193" y="1878246"/>
            <a:ext cx="10589871"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2">
                    <a:lumMod val="25000"/>
                  </a:schemeClr>
                </a:solidFill>
                <a:latin typeface="+mn-lt"/>
              </a:rPr>
              <a:t>Introduction</a:t>
            </a:r>
          </a:p>
          <a:p>
            <a:r>
              <a:rPr lang="en-US">
                <a:solidFill>
                  <a:schemeClr val="bg2">
                    <a:lumMod val="25000"/>
                  </a:schemeClr>
                </a:solidFill>
                <a:latin typeface="+mn-lt"/>
              </a:rPr>
              <a:t>Motivation</a:t>
            </a:r>
          </a:p>
          <a:p>
            <a:r>
              <a:rPr lang="en-US">
                <a:solidFill>
                  <a:schemeClr val="bg2">
                    <a:lumMod val="25000"/>
                  </a:schemeClr>
                </a:solidFill>
                <a:latin typeface="+mn-lt"/>
              </a:rPr>
              <a:t>Related Work</a:t>
            </a:r>
          </a:p>
          <a:p>
            <a:r>
              <a:rPr lang="en-US">
                <a:solidFill>
                  <a:schemeClr val="bg2">
                    <a:lumMod val="25000"/>
                  </a:schemeClr>
                </a:solidFill>
                <a:latin typeface="+mn-lt"/>
              </a:rPr>
              <a:t>Methodology</a:t>
            </a:r>
          </a:p>
          <a:p>
            <a:r>
              <a:rPr lang="en-US">
                <a:solidFill>
                  <a:srgbClr val="CC2637"/>
                </a:solidFill>
                <a:latin typeface="+mn-lt"/>
              </a:rPr>
              <a:t>Result and Discussion</a:t>
            </a:r>
          </a:p>
          <a:p>
            <a:r>
              <a:rPr lang="en-US">
                <a:solidFill>
                  <a:schemeClr val="bg2">
                    <a:lumMod val="25000"/>
                  </a:schemeClr>
                </a:solidFill>
                <a:latin typeface="+mn-lt"/>
              </a:rPr>
              <a:t>Conclusion</a:t>
            </a:r>
          </a:p>
          <a:p>
            <a:r>
              <a:rPr lang="en-US">
                <a:solidFill>
                  <a:schemeClr val="bg2">
                    <a:lumMod val="25000"/>
                  </a:schemeClr>
                </a:solidFill>
                <a:latin typeface="+mn-lt"/>
              </a:rPr>
              <a:t>References</a:t>
            </a:r>
          </a:p>
        </p:txBody>
      </p:sp>
      <p:pic>
        <p:nvPicPr>
          <p:cNvPr id="17" name="Picture 16">
            <a:extLst>
              <a:ext uri="{FF2B5EF4-FFF2-40B4-BE49-F238E27FC236}">
                <a16:creationId xmlns:a16="http://schemas.microsoft.com/office/drawing/2014/main" id="{0726985B-EFF1-9383-A64B-FAA73A921D97}"/>
              </a:ext>
            </a:extLst>
          </p:cNvPr>
          <p:cNvPicPr>
            <a:picLocks noChangeAspect="1"/>
          </p:cNvPicPr>
          <p:nvPr/>
        </p:nvPicPr>
        <p:blipFill>
          <a:blip r:embed="rId5"/>
          <a:stretch>
            <a:fillRect/>
          </a:stretch>
        </p:blipFill>
        <p:spPr>
          <a:xfrm>
            <a:off x="908288" y="2876323"/>
            <a:ext cx="204601" cy="204601"/>
          </a:xfrm>
          <a:prstGeom prst="rect">
            <a:avLst/>
          </a:prstGeom>
        </p:spPr>
      </p:pic>
      <p:pic>
        <p:nvPicPr>
          <p:cNvPr id="19" name="Picture 18">
            <a:extLst>
              <a:ext uri="{FF2B5EF4-FFF2-40B4-BE49-F238E27FC236}">
                <a16:creationId xmlns:a16="http://schemas.microsoft.com/office/drawing/2014/main" id="{63B772C5-4F97-4560-32EE-97969FB71352}"/>
              </a:ext>
            </a:extLst>
          </p:cNvPr>
          <p:cNvPicPr>
            <a:picLocks noChangeAspect="1"/>
          </p:cNvPicPr>
          <p:nvPr/>
        </p:nvPicPr>
        <p:blipFill>
          <a:blip r:embed="rId5"/>
          <a:stretch>
            <a:fillRect/>
          </a:stretch>
        </p:blipFill>
        <p:spPr>
          <a:xfrm>
            <a:off x="908288" y="3356241"/>
            <a:ext cx="204601" cy="204601"/>
          </a:xfrm>
          <a:prstGeom prst="rect">
            <a:avLst/>
          </a:prstGeom>
        </p:spPr>
      </p:pic>
      <p:pic>
        <p:nvPicPr>
          <p:cNvPr id="20" name="Picture 19">
            <a:extLst>
              <a:ext uri="{FF2B5EF4-FFF2-40B4-BE49-F238E27FC236}">
                <a16:creationId xmlns:a16="http://schemas.microsoft.com/office/drawing/2014/main" id="{FAA209B2-D39C-E4AB-27A4-47B78A048DDC}"/>
              </a:ext>
            </a:extLst>
          </p:cNvPr>
          <p:cNvPicPr>
            <a:picLocks noChangeAspect="1"/>
          </p:cNvPicPr>
          <p:nvPr/>
        </p:nvPicPr>
        <p:blipFill>
          <a:blip r:embed="rId5"/>
          <a:stretch>
            <a:fillRect/>
          </a:stretch>
        </p:blipFill>
        <p:spPr>
          <a:xfrm>
            <a:off x="908288" y="3777077"/>
            <a:ext cx="204601" cy="204601"/>
          </a:xfrm>
          <a:prstGeom prst="rect">
            <a:avLst/>
          </a:prstGeom>
        </p:spPr>
      </p:pic>
      <p:pic>
        <p:nvPicPr>
          <p:cNvPr id="21" name="Picture 20">
            <a:extLst>
              <a:ext uri="{FF2B5EF4-FFF2-40B4-BE49-F238E27FC236}">
                <a16:creationId xmlns:a16="http://schemas.microsoft.com/office/drawing/2014/main" id="{D72A1EF4-6A44-8AC1-034C-A1BFFD69163A}"/>
              </a:ext>
            </a:extLst>
          </p:cNvPr>
          <p:cNvPicPr>
            <a:picLocks noChangeAspect="1"/>
          </p:cNvPicPr>
          <p:nvPr/>
        </p:nvPicPr>
        <p:blipFill>
          <a:blip r:embed="rId5"/>
          <a:stretch>
            <a:fillRect/>
          </a:stretch>
        </p:blipFill>
        <p:spPr>
          <a:xfrm>
            <a:off x="908288" y="4255960"/>
            <a:ext cx="204601" cy="204601"/>
          </a:xfrm>
          <a:prstGeom prst="rect">
            <a:avLst/>
          </a:prstGeom>
        </p:spPr>
      </p:pic>
      <p:pic>
        <p:nvPicPr>
          <p:cNvPr id="22" name="Picture 21">
            <a:extLst>
              <a:ext uri="{FF2B5EF4-FFF2-40B4-BE49-F238E27FC236}">
                <a16:creationId xmlns:a16="http://schemas.microsoft.com/office/drawing/2014/main" id="{3B6A83B3-504E-9440-57F2-75D5A74C26BD}"/>
              </a:ext>
            </a:extLst>
          </p:cNvPr>
          <p:cNvPicPr>
            <a:picLocks noChangeAspect="1"/>
          </p:cNvPicPr>
          <p:nvPr/>
        </p:nvPicPr>
        <p:blipFill>
          <a:blip r:embed="rId5"/>
          <a:stretch>
            <a:fillRect/>
          </a:stretch>
        </p:blipFill>
        <p:spPr>
          <a:xfrm>
            <a:off x="908288" y="4741177"/>
            <a:ext cx="204601" cy="204601"/>
          </a:xfrm>
          <a:prstGeom prst="rect">
            <a:avLst/>
          </a:prstGeom>
        </p:spPr>
      </p:pic>
      <p:sp>
        <p:nvSpPr>
          <p:cNvPr id="29" name="Rectangle 28">
            <a:extLst>
              <a:ext uri="{FF2B5EF4-FFF2-40B4-BE49-F238E27FC236}">
                <a16:creationId xmlns:a16="http://schemas.microsoft.com/office/drawing/2014/main" id="{9986FFE7-1A98-AAD5-9067-32D6844BA762}"/>
              </a:ext>
            </a:extLst>
          </p:cNvPr>
          <p:cNvSpPr/>
          <p:nvPr/>
        </p:nvSpPr>
        <p:spPr>
          <a:xfrm>
            <a:off x="3908968" y="1159846"/>
            <a:ext cx="7780096" cy="14919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5FCDA2E7-4E2B-F8D2-3894-5140E3298B1C}"/>
              </a:ext>
            </a:extLst>
          </p:cNvPr>
          <p:cNvPicPr>
            <a:picLocks noChangeAspect="1"/>
          </p:cNvPicPr>
          <p:nvPr/>
        </p:nvPicPr>
        <p:blipFill>
          <a:blip r:embed="rId6"/>
          <a:stretch>
            <a:fillRect/>
          </a:stretch>
        </p:blipFill>
        <p:spPr>
          <a:xfrm>
            <a:off x="9106636" y="5735597"/>
            <a:ext cx="2582428" cy="645607"/>
          </a:xfrm>
          <a:prstGeom prst="rect">
            <a:avLst/>
          </a:prstGeom>
        </p:spPr>
      </p:pic>
      <p:pic>
        <p:nvPicPr>
          <p:cNvPr id="2" name="Picture 1">
            <a:extLst>
              <a:ext uri="{FF2B5EF4-FFF2-40B4-BE49-F238E27FC236}">
                <a16:creationId xmlns:a16="http://schemas.microsoft.com/office/drawing/2014/main" id="{29772D13-2F8D-E361-CF4C-0B9494286BBD}"/>
              </a:ext>
            </a:extLst>
          </p:cNvPr>
          <p:cNvPicPr>
            <a:picLocks noChangeAspect="1"/>
          </p:cNvPicPr>
          <p:nvPr/>
        </p:nvPicPr>
        <p:blipFill>
          <a:blip r:embed="rId7"/>
          <a:stretch>
            <a:fillRect/>
          </a:stretch>
        </p:blipFill>
        <p:spPr>
          <a:xfrm>
            <a:off x="909112" y="3775570"/>
            <a:ext cx="204601" cy="204601"/>
          </a:xfrm>
          <a:prstGeom prst="rect">
            <a:avLst/>
          </a:prstGeom>
        </p:spPr>
      </p:pic>
      <p:pic>
        <p:nvPicPr>
          <p:cNvPr id="3" name="Picture 2">
            <a:extLst>
              <a:ext uri="{FF2B5EF4-FFF2-40B4-BE49-F238E27FC236}">
                <a16:creationId xmlns:a16="http://schemas.microsoft.com/office/drawing/2014/main" id="{50F8CEAE-DC1D-B004-7AFC-54758F2A023D}"/>
              </a:ext>
            </a:extLst>
          </p:cNvPr>
          <p:cNvPicPr>
            <a:picLocks noChangeAspect="1"/>
          </p:cNvPicPr>
          <p:nvPr/>
        </p:nvPicPr>
        <p:blipFill>
          <a:blip r:embed="rId5"/>
          <a:stretch>
            <a:fillRect/>
          </a:stretch>
        </p:blipFill>
        <p:spPr>
          <a:xfrm>
            <a:off x="908288" y="1998712"/>
            <a:ext cx="204601" cy="204601"/>
          </a:xfrm>
          <a:prstGeom prst="rect">
            <a:avLst/>
          </a:prstGeom>
        </p:spPr>
      </p:pic>
    </p:spTree>
    <p:extLst>
      <p:ext uri="{BB962C8B-B14F-4D97-AF65-F5344CB8AC3E}">
        <p14:creationId xmlns:p14="http://schemas.microsoft.com/office/powerpoint/2010/main" val="2902380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170B681-4C90-AD0C-6991-D035ECCF9325}"/>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559049C8-1C7A-646B-B252-CCE4E34B6807}"/>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2EBFBCD0-AC99-0E61-147C-B7A97707D798}"/>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1B26939B-CEEA-7F2D-D0D8-8C509185B3BE}"/>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Result and Discussion</a:t>
            </a:r>
          </a:p>
        </p:txBody>
      </p:sp>
      <p:pic>
        <p:nvPicPr>
          <p:cNvPr id="25" name="Picture 24">
            <a:extLst>
              <a:ext uri="{FF2B5EF4-FFF2-40B4-BE49-F238E27FC236}">
                <a16:creationId xmlns:a16="http://schemas.microsoft.com/office/drawing/2014/main" id="{FFC8D014-C2CF-4B17-61F2-1DD5A6EB9595}"/>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7" name="Picture 6">
            <a:extLst>
              <a:ext uri="{FF2B5EF4-FFF2-40B4-BE49-F238E27FC236}">
                <a16:creationId xmlns:a16="http://schemas.microsoft.com/office/drawing/2014/main" id="{8B2A23F4-B2B1-AEDF-F9FD-56E6B649F744}"/>
              </a:ext>
            </a:extLst>
          </p:cNvPr>
          <p:cNvPicPr>
            <a:picLocks noChangeAspect="1"/>
          </p:cNvPicPr>
          <p:nvPr/>
        </p:nvPicPr>
        <p:blipFill>
          <a:blip r:embed="rId6"/>
          <a:stretch>
            <a:fillRect/>
          </a:stretch>
        </p:blipFill>
        <p:spPr>
          <a:xfrm>
            <a:off x="763929" y="1797050"/>
            <a:ext cx="4351867" cy="3263900"/>
          </a:xfrm>
          <a:prstGeom prst="rect">
            <a:avLst/>
          </a:prstGeom>
        </p:spPr>
      </p:pic>
      <p:pic>
        <p:nvPicPr>
          <p:cNvPr id="13" name="Picture 12">
            <a:extLst>
              <a:ext uri="{FF2B5EF4-FFF2-40B4-BE49-F238E27FC236}">
                <a16:creationId xmlns:a16="http://schemas.microsoft.com/office/drawing/2014/main" id="{7803E1A4-B01A-BA1B-85EF-1596CB675338}"/>
              </a:ext>
            </a:extLst>
          </p:cNvPr>
          <p:cNvPicPr>
            <a:picLocks noChangeAspect="1"/>
          </p:cNvPicPr>
          <p:nvPr/>
        </p:nvPicPr>
        <p:blipFill>
          <a:blip r:embed="rId7"/>
          <a:stretch>
            <a:fillRect/>
          </a:stretch>
        </p:blipFill>
        <p:spPr>
          <a:xfrm>
            <a:off x="5257272" y="1797049"/>
            <a:ext cx="5654824" cy="3263901"/>
          </a:xfrm>
          <a:prstGeom prst="rect">
            <a:avLst/>
          </a:prstGeom>
        </p:spPr>
      </p:pic>
      <p:sp>
        <p:nvSpPr>
          <p:cNvPr id="14" name="Rectangle 13">
            <a:extLst>
              <a:ext uri="{FF2B5EF4-FFF2-40B4-BE49-F238E27FC236}">
                <a16:creationId xmlns:a16="http://schemas.microsoft.com/office/drawing/2014/main" id="{D40C88A7-F557-8BA2-1AB8-5A31EDE63A31}"/>
              </a:ext>
            </a:extLst>
          </p:cNvPr>
          <p:cNvSpPr/>
          <p:nvPr/>
        </p:nvSpPr>
        <p:spPr>
          <a:xfrm>
            <a:off x="1564481" y="2771775"/>
            <a:ext cx="1478757" cy="550069"/>
          </a:xfrm>
          <a:prstGeom prst="rect">
            <a:avLst/>
          </a:prstGeom>
          <a:noFill/>
          <a:ln w="19050">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DA4F7BE2-550A-AB0E-FE63-47A4CC9D7C9D}"/>
              </a:ext>
            </a:extLst>
          </p:cNvPr>
          <p:cNvCxnSpPr>
            <a:cxnSpLocks/>
            <a:stCxn id="14" idx="2"/>
          </p:cNvCxnSpPr>
          <p:nvPr/>
        </p:nvCxnSpPr>
        <p:spPr>
          <a:xfrm>
            <a:off x="2303860" y="3321844"/>
            <a:ext cx="253603" cy="1050131"/>
          </a:xfrm>
          <a:prstGeom prst="line">
            <a:avLst/>
          </a:prstGeom>
          <a:ln w="19050">
            <a:solidFill>
              <a:srgbClr val="CC2637"/>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AF04B92-64C1-2AEC-1671-77680FB881C0}"/>
              </a:ext>
            </a:extLst>
          </p:cNvPr>
          <p:cNvSpPr txBox="1"/>
          <p:nvPr/>
        </p:nvSpPr>
        <p:spPr>
          <a:xfrm>
            <a:off x="2303859" y="4371975"/>
            <a:ext cx="1143326" cy="369332"/>
          </a:xfrm>
          <a:prstGeom prst="rect">
            <a:avLst/>
          </a:prstGeom>
          <a:noFill/>
        </p:spPr>
        <p:txBody>
          <a:bodyPr wrap="none" rtlCol="0">
            <a:spAutoFit/>
          </a:bodyPr>
          <a:lstStyle/>
          <a:p>
            <a:r>
              <a:rPr lang="en-US">
                <a:solidFill>
                  <a:srgbClr val="CC2637"/>
                </a:solidFill>
              </a:rPr>
              <a:t>DMA Card</a:t>
            </a:r>
          </a:p>
        </p:txBody>
      </p:sp>
    </p:spTree>
    <p:extLst>
      <p:ext uri="{BB962C8B-B14F-4D97-AF65-F5344CB8AC3E}">
        <p14:creationId xmlns:p14="http://schemas.microsoft.com/office/powerpoint/2010/main" val="2203564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41A1ACE8-DE26-F080-3C84-A5F9014DE3E5}"/>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313D77DF-BA3C-9ABD-10E1-08519BF1BB6C}"/>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4512D02D-6F80-5CC6-3EB1-28E47B077442}"/>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6B514D2B-F7FF-DF22-2C30-4B6422A35F11}"/>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Result and Discussion</a:t>
            </a:r>
          </a:p>
        </p:txBody>
      </p:sp>
      <p:pic>
        <p:nvPicPr>
          <p:cNvPr id="25" name="Picture 24">
            <a:extLst>
              <a:ext uri="{FF2B5EF4-FFF2-40B4-BE49-F238E27FC236}">
                <a16:creationId xmlns:a16="http://schemas.microsoft.com/office/drawing/2014/main" id="{BF559777-66E0-2DE1-782E-C6BFF6069A96}"/>
              </a:ext>
            </a:extLst>
          </p:cNvPr>
          <p:cNvPicPr>
            <a:picLocks noChangeAspect="1"/>
          </p:cNvPicPr>
          <p:nvPr/>
        </p:nvPicPr>
        <p:blipFill>
          <a:blip r:embed="rId5"/>
          <a:stretch>
            <a:fillRect/>
          </a:stretch>
        </p:blipFill>
        <p:spPr>
          <a:xfrm>
            <a:off x="9106636" y="5735597"/>
            <a:ext cx="2582428" cy="645607"/>
          </a:xfrm>
          <a:prstGeom prst="rect">
            <a:avLst/>
          </a:prstGeom>
        </p:spPr>
      </p:pic>
      <p:sp>
        <p:nvSpPr>
          <p:cNvPr id="2" name="TextBox 1">
            <a:extLst>
              <a:ext uri="{FF2B5EF4-FFF2-40B4-BE49-F238E27FC236}">
                <a16:creationId xmlns:a16="http://schemas.microsoft.com/office/drawing/2014/main" id="{19C0D95E-6D60-58EF-303C-0543B8167705}"/>
              </a:ext>
            </a:extLst>
          </p:cNvPr>
          <p:cNvSpPr txBox="1"/>
          <p:nvPr/>
        </p:nvSpPr>
        <p:spPr>
          <a:xfrm>
            <a:off x="897279" y="2153234"/>
            <a:ext cx="6692900" cy="830997"/>
          </a:xfrm>
          <a:prstGeom prst="rect">
            <a:avLst/>
          </a:prstGeom>
          <a:noFill/>
        </p:spPr>
        <p:txBody>
          <a:bodyPr wrap="square">
            <a:spAutoFit/>
          </a:bodyPr>
          <a:lstStyle/>
          <a:p>
            <a:r>
              <a:rPr lang="en-US" sz="2400">
                <a:solidFill>
                  <a:schemeClr val="tx2">
                    <a:lumMod val="60000"/>
                    <a:lumOff val="40000"/>
                  </a:schemeClr>
                </a:solidFill>
                <a:latin typeface="Adobe Garamond Pro"/>
              </a:rPr>
              <a:t>No programs are necessary; </a:t>
            </a:r>
            <a:r>
              <a:rPr lang="en-US" sz="2400" b="1">
                <a:solidFill>
                  <a:schemeClr val="tx2">
                    <a:lumMod val="60000"/>
                    <a:lumOff val="40000"/>
                  </a:schemeClr>
                </a:solidFill>
                <a:latin typeface="Adobe Garamond Pro"/>
              </a:rPr>
              <a:t>very hard</a:t>
            </a:r>
            <a:r>
              <a:rPr lang="en-US" sz="2400">
                <a:solidFill>
                  <a:schemeClr val="tx2">
                    <a:lumMod val="60000"/>
                    <a:lumOff val="40000"/>
                  </a:schemeClr>
                </a:solidFill>
                <a:latin typeface="Adobe Garamond Pro"/>
              </a:rPr>
              <a:t> to detect.</a:t>
            </a:r>
          </a:p>
          <a:p>
            <a:endParaRPr lang="en-US" sz="2400">
              <a:solidFill>
                <a:schemeClr val="tx2">
                  <a:lumMod val="60000"/>
                  <a:lumOff val="40000"/>
                </a:schemeClr>
              </a:solidFill>
              <a:latin typeface="Adobe Garamond Pro"/>
            </a:endParaRPr>
          </a:p>
        </p:txBody>
      </p:sp>
      <p:sp>
        <p:nvSpPr>
          <p:cNvPr id="3" name="Subtitle 2">
            <a:extLst>
              <a:ext uri="{FF2B5EF4-FFF2-40B4-BE49-F238E27FC236}">
                <a16:creationId xmlns:a16="http://schemas.microsoft.com/office/drawing/2014/main" id="{2E83FEFD-7A66-2E63-CCC3-F72DC4491025}"/>
              </a:ext>
            </a:extLst>
          </p:cNvPr>
          <p:cNvSpPr txBox="1">
            <a:spLocks/>
          </p:cNvSpPr>
          <p:nvPr/>
        </p:nvSpPr>
        <p:spPr>
          <a:xfrm>
            <a:off x="897279" y="1690688"/>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Advantage</a:t>
            </a:r>
          </a:p>
        </p:txBody>
      </p:sp>
      <p:pic>
        <p:nvPicPr>
          <p:cNvPr id="4" name="Picture 3">
            <a:extLst>
              <a:ext uri="{FF2B5EF4-FFF2-40B4-BE49-F238E27FC236}">
                <a16:creationId xmlns:a16="http://schemas.microsoft.com/office/drawing/2014/main" id="{253B9286-E668-AF2E-73DF-C8AE90357A43}"/>
              </a:ext>
            </a:extLst>
          </p:cNvPr>
          <p:cNvPicPr>
            <a:picLocks noChangeAspect="1"/>
          </p:cNvPicPr>
          <p:nvPr/>
        </p:nvPicPr>
        <p:blipFill>
          <a:blip r:embed="rId6"/>
          <a:stretch>
            <a:fillRect/>
          </a:stretch>
        </p:blipFill>
        <p:spPr>
          <a:xfrm>
            <a:off x="763929" y="1818615"/>
            <a:ext cx="78362" cy="156011"/>
          </a:xfrm>
          <a:prstGeom prst="rect">
            <a:avLst/>
          </a:prstGeom>
        </p:spPr>
      </p:pic>
      <p:sp>
        <p:nvSpPr>
          <p:cNvPr id="6" name="Subtitle 2">
            <a:extLst>
              <a:ext uri="{FF2B5EF4-FFF2-40B4-BE49-F238E27FC236}">
                <a16:creationId xmlns:a16="http://schemas.microsoft.com/office/drawing/2014/main" id="{5940C7D1-2A27-93CD-526B-120EE0B8BEDD}"/>
              </a:ext>
            </a:extLst>
          </p:cNvPr>
          <p:cNvSpPr txBox="1">
            <a:spLocks/>
          </p:cNvSpPr>
          <p:nvPr/>
        </p:nvSpPr>
        <p:spPr>
          <a:xfrm>
            <a:off x="897279" y="2807936"/>
            <a:ext cx="3185827" cy="46669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Disadvantage</a:t>
            </a:r>
          </a:p>
        </p:txBody>
      </p:sp>
      <p:pic>
        <p:nvPicPr>
          <p:cNvPr id="8" name="Picture 7">
            <a:extLst>
              <a:ext uri="{FF2B5EF4-FFF2-40B4-BE49-F238E27FC236}">
                <a16:creationId xmlns:a16="http://schemas.microsoft.com/office/drawing/2014/main" id="{2153807A-32F2-66A4-C1E7-241944F94712}"/>
              </a:ext>
            </a:extLst>
          </p:cNvPr>
          <p:cNvPicPr>
            <a:picLocks noChangeAspect="1"/>
          </p:cNvPicPr>
          <p:nvPr/>
        </p:nvPicPr>
        <p:blipFill>
          <a:blip r:embed="rId6"/>
          <a:stretch>
            <a:fillRect/>
          </a:stretch>
        </p:blipFill>
        <p:spPr>
          <a:xfrm>
            <a:off x="763929" y="2935863"/>
            <a:ext cx="78362" cy="156011"/>
          </a:xfrm>
          <a:prstGeom prst="rect">
            <a:avLst/>
          </a:prstGeom>
        </p:spPr>
      </p:pic>
      <p:sp>
        <p:nvSpPr>
          <p:cNvPr id="9" name="TextBox 8">
            <a:extLst>
              <a:ext uri="{FF2B5EF4-FFF2-40B4-BE49-F238E27FC236}">
                <a16:creationId xmlns:a16="http://schemas.microsoft.com/office/drawing/2014/main" id="{BFFB4919-070C-BDB3-C091-A8034A11135E}"/>
              </a:ext>
            </a:extLst>
          </p:cNvPr>
          <p:cNvSpPr txBox="1"/>
          <p:nvPr/>
        </p:nvSpPr>
        <p:spPr>
          <a:xfrm>
            <a:off x="897279" y="3274628"/>
            <a:ext cx="7806454" cy="461665"/>
          </a:xfrm>
          <a:prstGeom prst="rect">
            <a:avLst/>
          </a:prstGeom>
          <a:noFill/>
        </p:spPr>
        <p:txBody>
          <a:bodyPr wrap="square">
            <a:spAutoFit/>
          </a:bodyPr>
          <a:lstStyle/>
          <a:p>
            <a:r>
              <a:rPr lang="en-US" sz="2400">
                <a:solidFill>
                  <a:schemeClr val="tx2">
                    <a:lumMod val="60000"/>
                    <a:lumOff val="40000"/>
                  </a:schemeClr>
                </a:solidFill>
                <a:latin typeface="Adobe Garamond Pro"/>
              </a:rPr>
              <a:t>Requires physical attachment; can simply be unplugged.. Right?</a:t>
            </a:r>
          </a:p>
        </p:txBody>
      </p:sp>
      <p:sp>
        <p:nvSpPr>
          <p:cNvPr id="28" name="TextBox 27">
            <a:extLst>
              <a:ext uri="{FF2B5EF4-FFF2-40B4-BE49-F238E27FC236}">
                <a16:creationId xmlns:a16="http://schemas.microsoft.com/office/drawing/2014/main" id="{A643B4DC-5E49-0A58-8263-794796DDE7C3}"/>
              </a:ext>
            </a:extLst>
          </p:cNvPr>
          <p:cNvSpPr txBox="1"/>
          <p:nvPr/>
        </p:nvSpPr>
        <p:spPr>
          <a:xfrm>
            <a:off x="1778000" y="3795857"/>
            <a:ext cx="7806454" cy="461665"/>
          </a:xfrm>
          <a:prstGeom prst="rect">
            <a:avLst/>
          </a:prstGeom>
          <a:noFill/>
        </p:spPr>
        <p:txBody>
          <a:bodyPr wrap="square">
            <a:spAutoFit/>
          </a:bodyPr>
          <a:lstStyle/>
          <a:p>
            <a:r>
              <a:rPr lang="en-US" sz="2400">
                <a:solidFill>
                  <a:schemeClr val="tx2">
                    <a:lumMod val="60000"/>
                    <a:lumOff val="40000"/>
                  </a:schemeClr>
                </a:solidFill>
                <a:latin typeface="Adobe Garamond Pro"/>
              </a:rPr>
              <a:t>Remember, DMA Devices can be </a:t>
            </a:r>
            <a:r>
              <a:rPr lang="en-US" sz="2400" b="1">
                <a:solidFill>
                  <a:schemeClr val="tx2">
                    <a:lumMod val="60000"/>
                    <a:lumOff val="40000"/>
                  </a:schemeClr>
                </a:solidFill>
                <a:latin typeface="Adobe Garamond Pro"/>
              </a:rPr>
              <a:t>disguised</a:t>
            </a:r>
            <a:r>
              <a:rPr lang="en-US" sz="2400">
                <a:solidFill>
                  <a:schemeClr val="tx2">
                    <a:lumMod val="60000"/>
                    <a:lumOff val="40000"/>
                  </a:schemeClr>
                </a:solidFill>
                <a:latin typeface="Adobe Garamond Pro"/>
              </a:rPr>
              <a:t>!</a:t>
            </a:r>
          </a:p>
        </p:txBody>
      </p:sp>
      <p:pic>
        <p:nvPicPr>
          <p:cNvPr id="30" name="Picture 29">
            <a:extLst>
              <a:ext uri="{FF2B5EF4-FFF2-40B4-BE49-F238E27FC236}">
                <a16:creationId xmlns:a16="http://schemas.microsoft.com/office/drawing/2014/main" id="{F6020086-ED5B-A258-8EFE-767F2A42FF2D}"/>
              </a:ext>
            </a:extLst>
          </p:cNvPr>
          <p:cNvPicPr>
            <a:picLocks noChangeAspect="1"/>
          </p:cNvPicPr>
          <p:nvPr/>
        </p:nvPicPr>
        <p:blipFill>
          <a:blip r:embed="rId7"/>
          <a:stretch>
            <a:fillRect/>
          </a:stretch>
        </p:blipFill>
        <p:spPr>
          <a:xfrm>
            <a:off x="1457575" y="3796668"/>
            <a:ext cx="273857" cy="342164"/>
          </a:xfrm>
          <a:prstGeom prst="rect">
            <a:avLst/>
          </a:prstGeom>
        </p:spPr>
      </p:pic>
    </p:spTree>
    <p:extLst>
      <p:ext uri="{BB962C8B-B14F-4D97-AF65-F5344CB8AC3E}">
        <p14:creationId xmlns:p14="http://schemas.microsoft.com/office/powerpoint/2010/main" val="2023502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DF7890CA-D12F-00C1-E227-AE994DA776A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B663F7C2-FD86-B103-A4FF-04A8AB1C1AD2}"/>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3D512BA3-7549-9DF1-4E8A-49444DC98DFE}"/>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A8D230EE-A9E6-648B-ADE4-74AEA3AAD61C}"/>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Result and Discussion</a:t>
            </a:r>
          </a:p>
        </p:txBody>
      </p:sp>
      <p:pic>
        <p:nvPicPr>
          <p:cNvPr id="25" name="Picture 24">
            <a:extLst>
              <a:ext uri="{FF2B5EF4-FFF2-40B4-BE49-F238E27FC236}">
                <a16:creationId xmlns:a16="http://schemas.microsoft.com/office/drawing/2014/main" id="{45F7DD8B-A1D4-BF8C-221C-61913BBA4202}"/>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2050" name="Picture 2">
            <a:extLst>
              <a:ext uri="{FF2B5EF4-FFF2-40B4-BE49-F238E27FC236}">
                <a16:creationId xmlns:a16="http://schemas.microsoft.com/office/drawing/2014/main" id="{436FF7D1-DD4F-D704-C4A8-0703057B52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6863" y="2157380"/>
            <a:ext cx="6096000" cy="2876550"/>
          </a:xfrm>
          <a:prstGeom prst="rect">
            <a:avLst/>
          </a:prstGeom>
          <a:noFill/>
          <a:ln>
            <a:solidFill>
              <a:srgbClr val="CC2637"/>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73DE9A5-329E-AF24-B8D7-6AE1D1128F19}"/>
              </a:ext>
            </a:extLst>
          </p:cNvPr>
          <p:cNvSpPr txBox="1"/>
          <p:nvPr/>
        </p:nvSpPr>
        <p:spPr>
          <a:xfrm>
            <a:off x="5257800" y="1896620"/>
            <a:ext cx="6096000" cy="215444"/>
          </a:xfrm>
          <a:prstGeom prst="rect">
            <a:avLst/>
          </a:prstGeom>
          <a:noFill/>
        </p:spPr>
        <p:txBody>
          <a:bodyPr wrap="square">
            <a:spAutoFit/>
          </a:bodyPr>
          <a:lstStyle/>
          <a:p>
            <a:r>
              <a:rPr lang="en-US" sz="800" b="0" i="0">
                <a:solidFill>
                  <a:srgbClr val="BDC1C6"/>
                </a:solidFill>
                <a:effectLst/>
                <a:latin typeface="Roboto" panose="02000000000000000000" pitchFamily="2" charset="0"/>
              </a:rPr>
              <a:t>Picture from </a:t>
            </a:r>
            <a:r>
              <a:rPr lang="en-US" sz="800" b="0" i="0">
                <a:solidFill>
                  <a:srgbClr val="CC2637"/>
                </a:solidFill>
                <a:effectLst/>
                <a:latin typeface="Roboto" panose="02000000000000000000" pitchFamily="2" charset="0"/>
                <a:hlinkClick r:id="rId7">
                  <a:extLst>
                    <a:ext uri="{A12FA001-AC4F-418D-AE19-62706E023703}">
                      <ahyp:hlinkClr xmlns:ahyp="http://schemas.microsoft.com/office/drawing/2018/hyperlinkcolor" val="tx"/>
                    </a:ext>
                  </a:extLst>
                </a:hlinkClick>
              </a:rPr>
              <a:t>Ulf Frisk</a:t>
            </a:r>
            <a:endParaRPr lang="en-US" sz="800">
              <a:solidFill>
                <a:srgbClr val="CC2637"/>
              </a:solidFill>
            </a:endParaRPr>
          </a:p>
        </p:txBody>
      </p:sp>
      <p:sp>
        <p:nvSpPr>
          <p:cNvPr id="10" name="TextBox 9">
            <a:extLst>
              <a:ext uri="{FF2B5EF4-FFF2-40B4-BE49-F238E27FC236}">
                <a16:creationId xmlns:a16="http://schemas.microsoft.com/office/drawing/2014/main" id="{EC294373-3003-1686-71AE-991356F6E93B}"/>
              </a:ext>
            </a:extLst>
          </p:cNvPr>
          <p:cNvSpPr txBox="1"/>
          <p:nvPr/>
        </p:nvSpPr>
        <p:spPr>
          <a:xfrm>
            <a:off x="763929" y="1902497"/>
            <a:ext cx="4493871" cy="3046988"/>
          </a:xfrm>
          <a:prstGeom prst="rect">
            <a:avLst/>
          </a:prstGeom>
          <a:noFill/>
        </p:spPr>
        <p:txBody>
          <a:bodyPr wrap="square">
            <a:spAutoFit/>
          </a:bodyPr>
          <a:lstStyle/>
          <a:p>
            <a:r>
              <a:rPr lang="en-US" sz="2400">
                <a:solidFill>
                  <a:schemeClr val="tx2">
                    <a:lumMod val="60000"/>
                    <a:lumOff val="40000"/>
                  </a:schemeClr>
                </a:solidFill>
                <a:latin typeface="Adobe Garamond Pro"/>
              </a:rPr>
              <a:t>Only </a:t>
            </a:r>
            <a:r>
              <a:rPr lang="en-US" sz="2400" b="1">
                <a:solidFill>
                  <a:schemeClr val="tx2">
                    <a:lumMod val="60000"/>
                    <a:lumOff val="40000"/>
                  </a:schemeClr>
                </a:solidFill>
                <a:latin typeface="Adobe Garamond Pro"/>
              </a:rPr>
              <a:t>Thunderbolt 3 </a:t>
            </a:r>
            <a:r>
              <a:rPr lang="en-US" sz="2400">
                <a:solidFill>
                  <a:schemeClr val="tx2">
                    <a:lumMod val="60000"/>
                    <a:lumOff val="40000"/>
                  </a:schemeClr>
                </a:solidFill>
                <a:latin typeface="Adobe Garamond Pro"/>
              </a:rPr>
              <a:t>ports carry PCI Express.</a:t>
            </a:r>
          </a:p>
          <a:p>
            <a:endParaRPr lang="en-US" sz="2400">
              <a:solidFill>
                <a:schemeClr val="tx2">
                  <a:lumMod val="60000"/>
                  <a:lumOff val="40000"/>
                </a:schemeClr>
              </a:solidFill>
              <a:latin typeface="Adobe Garamond Pro"/>
            </a:endParaRPr>
          </a:p>
          <a:p>
            <a:r>
              <a:rPr lang="en-US" sz="2400">
                <a:solidFill>
                  <a:schemeClr val="tx2">
                    <a:lumMod val="60000"/>
                    <a:lumOff val="40000"/>
                  </a:schemeClr>
                </a:solidFill>
                <a:latin typeface="Adobe Garamond Pro"/>
              </a:rPr>
              <a:t>Windows has implemented Kernel DMA Protection in </a:t>
            </a:r>
            <a:r>
              <a:rPr lang="en-US" sz="2400" b="1">
                <a:solidFill>
                  <a:schemeClr val="tx2">
                    <a:lumMod val="60000"/>
                    <a:lumOff val="40000"/>
                  </a:schemeClr>
                </a:solidFill>
                <a:latin typeface="Adobe Garamond Pro"/>
              </a:rPr>
              <a:t>Windows 10 1803</a:t>
            </a:r>
            <a:r>
              <a:rPr lang="en-US" sz="2400">
                <a:solidFill>
                  <a:schemeClr val="tx2">
                    <a:lumMod val="60000"/>
                    <a:lumOff val="40000"/>
                  </a:schemeClr>
                </a:solidFill>
                <a:latin typeface="Adobe Garamond Pro"/>
              </a:rPr>
              <a:t>.</a:t>
            </a:r>
            <a:br>
              <a:rPr lang="en-US" sz="2400">
                <a:solidFill>
                  <a:schemeClr val="tx2">
                    <a:lumMod val="60000"/>
                    <a:lumOff val="40000"/>
                  </a:schemeClr>
                </a:solidFill>
                <a:latin typeface="Adobe Garamond Pro"/>
              </a:rPr>
            </a:br>
            <a:br>
              <a:rPr lang="en-US" sz="2400">
                <a:solidFill>
                  <a:schemeClr val="tx2">
                    <a:lumMod val="60000"/>
                    <a:lumOff val="40000"/>
                  </a:schemeClr>
                </a:solidFill>
                <a:latin typeface="Adobe Garamond Pro"/>
              </a:rPr>
            </a:br>
            <a:endParaRPr lang="en-US" sz="2400">
              <a:solidFill>
                <a:schemeClr val="tx2">
                  <a:lumMod val="60000"/>
                  <a:lumOff val="40000"/>
                </a:schemeClr>
              </a:solidFill>
              <a:latin typeface="Adobe Garamond Pro"/>
            </a:endParaRPr>
          </a:p>
        </p:txBody>
      </p:sp>
    </p:spTree>
    <p:extLst>
      <p:ext uri="{BB962C8B-B14F-4D97-AF65-F5344CB8AC3E}">
        <p14:creationId xmlns:p14="http://schemas.microsoft.com/office/powerpoint/2010/main" val="1831531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35A86DB6-5A5E-3195-768E-1D7248C5FBE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F663E01-858A-70B2-1B75-38CCE5FD9710}"/>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883164E9-1714-3F39-82C9-55E54F4D0A70}"/>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B4093FEB-4847-8E08-9144-72D776391EC6}"/>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Result and Discussion</a:t>
            </a:r>
          </a:p>
        </p:txBody>
      </p:sp>
      <p:pic>
        <p:nvPicPr>
          <p:cNvPr id="25" name="Picture 24">
            <a:extLst>
              <a:ext uri="{FF2B5EF4-FFF2-40B4-BE49-F238E27FC236}">
                <a16:creationId xmlns:a16="http://schemas.microsoft.com/office/drawing/2014/main" id="{82E84AC1-8E6B-6533-D467-ADF4385F7CAC}"/>
              </a:ext>
            </a:extLst>
          </p:cNvPr>
          <p:cNvPicPr>
            <a:picLocks noChangeAspect="1"/>
          </p:cNvPicPr>
          <p:nvPr/>
        </p:nvPicPr>
        <p:blipFill>
          <a:blip r:embed="rId5"/>
          <a:stretch>
            <a:fillRect/>
          </a:stretch>
        </p:blipFill>
        <p:spPr>
          <a:xfrm>
            <a:off x="9106636" y="5735597"/>
            <a:ext cx="2582428" cy="645607"/>
          </a:xfrm>
          <a:prstGeom prst="rect">
            <a:avLst/>
          </a:prstGeom>
        </p:spPr>
      </p:pic>
      <p:graphicFrame>
        <p:nvGraphicFramePr>
          <p:cNvPr id="2" name="Chart 1">
            <a:extLst>
              <a:ext uri="{FF2B5EF4-FFF2-40B4-BE49-F238E27FC236}">
                <a16:creationId xmlns:a16="http://schemas.microsoft.com/office/drawing/2014/main" id="{B948BD78-B61A-100F-BE39-4C465C643321}"/>
              </a:ext>
            </a:extLst>
          </p:cNvPr>
          <p:cNvGraphicFramePr>
            <a:graphicFrameLocks/>
          </p:cNvGraphicFramePr>
          <p:nvPr>
            <p:extLst>
              <p:ext uri="{D42A27DB-BD31-4B8C-83A1-F6EECF244321}">
                <p14:modId xmlns:p14="http://schemas.microsoft.com/office/powerpoint/2010/main" val="1538776382"/>
              </p:ext>
            </p:extLst>
          </p:nvPr>
        </p:nvGraphicFramePr>
        <p:xfrm>
          <a:off x="2207116" y="2082772"/>
          <a:ext cx="6505575" cy="3552825"/>
        </p:xfrm>
        <a:graphic>
          <a:graphicData uri="http://schemas.openxmlformats.org/drawingml/2006/chart">
            <c:chart xmlns:c="http://schemas.openxmlformats.org/drawingml/2006/chart" xmlns:r="http://schemas.openxmlformats.org/officeDocument/2006/relationships" r:id="rId6"/>
          </a:graphicData>
        </a:graphic>
      </p:graphicFrame>
      <p:sp>
        <p:nvSpPr>
          <p:cNvPr id="3" name="TextBox 2">
            <a:extLst>
              <a:ext uri="{FF2B5EF4-FFF2-40B4-BE49-F238E27FC236}">
                <a16:creationId xmlns:a16="http://schemas.microsoft.com/office/drawing/2014/main" id="{92026495-F0CF-FC18-7DCD-2C157C5E5478}"/>
              </a:ext>
            </a:extLst>
          </p:cNvPr>
          <p:cNvSpPr txBox="1"/>
          <p:nvPr/>
        </p:nvSpPr>
        <p:spPr>
          <a:xfrm>
            <a:off x="2271260" y="1982772"/>
            <a:ext cx="6096000" cy="215444"/>
          </a:xfrm>
          <a:prstGeom prst="rect">
            <a:avLst/>
          </a:prstGeom>
          <a:noFill/>
        </p:spPr>
        <p:txBody>
          <a:bodyPr wrap="square">
            <a:spAutoFit/>
          </a:bodyPr>
          <a:lstStyle/>
          <a:p>
            <a:r>
              <a:rPr lang="en-US" sz="800" b="0" i="0">
                <a:solidFill>
                  <a:srgbClr val="BDC1C6"/>
                </a:solidFill>
                <a:effectLst/>
                <a:latin typeface="Roboto" panose="02000000000000000000" pitchFamily="2" charset="0"/>
              </a:rPr>
              <a:t>Data from </a:t>
            </a:r>
            <a:r>
              <a:rPr lang="en-US" sz="800" b="0" i="0">
                <a:solidFill>
                  <a:srgbClr val="CC2637"/>
                </a:solidFill>
                <a:effectLst/>
                <a:latin typeface="Roboto" panose="02000000000000000000" pitchFamily="2" charset="0"/>
                <a:hlinkClick r:id="rId7">
                  <a:extLst>
                    <a:ext uri="{A12FA001-AC4F-418D-AE19-62706E023703}">
                      <ahyp:hlinkClr xmlns:ahyp="http://schemas.microsoft.com/office/drawing/2018/hyperlinkcolor" val="tx"/>
                    </a:ext>
                  </a:extLst>
                </a:hlinkClick>
              </a:rPr>
              <a:t>statcounter</a:t>
            </a:r>
            <a:endParaRPr lang="en-US" sz="800">
              <a:solidFill>
                <a:srgbClr val="CC2637"/>
              </a:solidFill>
            </a:endParaRPr>
          </a:p>
        </p:txBody>
      </p:sp>
    </p:spTree>
    <p:extLst>
      <p:ext uri="{BB962C8B-B14F-4D97-AF65-F5344CB8AC3E}">
        <p14:creationId xmlns:p14="http://schemas.microsoft.com/office/powerpoint/2010/main" val="4282893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F43063D-E4A8-6F97-D1D9-C1E15132FC6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7A5C312A-B280-7388-53E1-B6AFCB51148C}"/>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1C29AFC7-268A-8470-B5C5-1D7385D1C9EF}"/>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C81E9801-AE83-BF21-9167-0D7F7D0AC898}"/>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Helvetica" panose="020B0604020202020204" pitchFamily="34" charset="0"/>
                <a:cs typeface="Helvetica" panose="020B0604020202020204" pitchFamily="34" charset="0"/>
              </a:rPr>
              <a:t>Outline</a:t>
            </a:r>
          </a:p>
        </p:txBody>
      </p:sp>
      <p:pic>
        <p:nvPicPr>
          <p:cNvPr id="12" name="Picture 11">
            <a:extLst>
              <a:ext uri="{FF2B5EF4-FFF2-40B4-BE49-F238E27FC236}">
                <a16:creationId xmlns:a16="http://schemas.microsoft.com/office/drawing/2014/main" id="{B338648C-5831-54FF-08D3-8B4B8807BCA9}"/>
              </a:ext>
            </a:extLst>
          </p:cNvPr>
          <p:cNvPicPr>
            <a:picLocks noChangeAspect="1"/>
          </p:cNvPicPr>
          <p:nvPr/>
        </p:nvPicPr>
        <p:blipFill>
          <a:blip r:embed="rId5"/>
          <a:stretch>
            <a:fillRect/>
          </a:stretch>
        </p:blipFill>
        <p:spPr>
          <a:xfrm>
            <a:off x="908288" y="2445923"/>
            <a:ext cx="204601" cy="204601"/>
          </a:xfrm>
          <a:prstGeom prst="rect">
            <a:avLst/>
          </a:prstGeom>
        </p:spPr>
      </p:pic>
      <p:sp>
        <p:nvSpPr>
          <p:cNvPr id="13" name="Content Placeholder 2">
            <a:extLst>
              <a:ext uri="{FF2B5EF4-FFF2-40B4-BE49-F238E27FC236}">
                <a16:creationId xmlns:a16="http://schemas.microsoft.com/office/drawing/2014/main" id="{3273431B-4B52-BBD8-51A9-A6641EF9ED51}"/>
              </a:ext>
            </a:extLst>
          </p:cNvPr>
          <p:cNvSpPr txBox="1">
            <a:spLocks/>
          </p:cNvSpPr>
          <p:nvPr/>
        </p:nvSpPr>
        <p:spPr>
          <a:xfrm>
            <a:off x="1099193" y="1878246"/>
            <a:ext cx="10589871"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2">
                    <a:lumMod val="25000"/>
                  </a:schemeClr>
                </a:solidFill>
                <a:latin typeface="+mn-lt"/>
              </a:rPr>
              <a:t>Introduction</a:t>
            </a:r>
          </a:p>
          <a:p>
            <a:r>
              <a:rPr lang="en-US">
                <a:solidFill>
                  <a:schemeClr val="bg2">
                    <a:lumMod val="25000"/>
                  </a:schemeClr>
                </a:solidFill>
                <a:latin typeface="+mn-lt"/>
              </a:rPr>
              <a:t>Motivation</a:t>
            </a:r>
          </a:p>
          <a:p>
            <a:r>
              <a:rPr lang="en-US">
                <a:solidFill>
                  <a:schemeClr val="bg2">
                    <a:lumMod val="25000"/>
                  </a:schemeClr>
                </a:solidFill>
                <a:latin typeface="+mn-lt"/>
              </a:rPr>
              <a:t>Related Work</a:t>
            </a:r>
          </a:p>
          <a:p>
            <a:r>
              <a:rPr lang="en-US">
                <a:solidFill>
                  <a:schemeClr val="bg2">
                    <a:lumMod val="25000"/>
                  </a:schemeClr>
                </a:solidFill>
                <a:latin typeface="+mn-lt"/>
              </a:rPr>
              <a:t>Methodology</a:t>
            </a:r>
          </a:p>
          <a:p>
            <a:r>
              <a:rPr lang="en-US">
                <a:solidFill>
                  <a:schemeClr val="bg2">
                    <a:lumMod val="25000"/>
                  </a:schemeClr>
                </a:solidFill>
                <a:latin typeface="+mn-lt"/>
              </a:rPr>
              <a:t>Result and Discussion</a:t>
            </a:r>
          </a:p>
          <a:p>
            <a:r>
              <a:rPr lang="en-US">
                <a:solidFill>
                  <a:srgbClr val="CC2637"/>
                </a:solidFill>
                <a:latin typeface="+mn-lt"/>
              </a:rPr>
              <a:t>Conclusion</a:t>
            </a:r>
          </a:p>
          <a:p>
            <a:r>
              <a:rPr lang="en-US">
                <a:solidFill>
                  <a:schemeClr val="bg2">
                    <a:lumMod val="25000"/>
                  </a:schemeClr>
                </a:solidFill>
                <a:latin typeface="+mn-lt"/>
              </a:rPr>
              <a:t>References</a:t>
            </a:r>
          </a:p>
        </p:txBody>
      </p:sp>
      <p:pic>
        <p:nvPicPr>
          <p:cNvPr id="17" name="Picture 16">
            <a:extLst>
              <a:ext uri="{FF2B5EF4-FFF2-40B4-BE49-F238E27FC236}">
                <a16:creationId xmlns:a16="http://schemas.microsoft.com/office/drawing/2014/main" id="{8F31785C-C971-6687-B342-CEB1FEC0D01F}"/>
              </a:ext>
            </a:extLst>
          </p:cNvPr>
          <p:cNvPicPr>
            <a:picLocks noChangeAspect="1"/>
          </p:cNvPicPr>
          <p:nvPr/>
        </p:nvPicPr>
        <p:blipFill>
          <a:blip r:embed="rId5"/>
          <a:stretch>
            <a:fillRect/>
          </a:stretch>
        </p:blipFill>
        <p:spPr>
          <a:xfrm>
            <a:off x="908288" y="2876323"/>
            <a:ext cx="204601" cy="204601"/>
          </a:xfrm>
          <a:prstGeom prst="rect">
            <a:avLst/>
          </a:prstGeom>
        </p:spPr>
      </p:pic>
      <p:pic>
        <p:nvPicPr>
          <p:cNvPr id="19" name="Picture 18">
            <a:extLst>
              <a:ext uri="{FF2B5EF4-FFF2-40B4-BE49-F238E27FC236}">
                <a16:creationId xmlns:a16="http://schemas.microsoft.com/office/drawing/2014/main" id="{A773758C-7D92-AD16-823D-4D81A4F93667}"/>
              </a:ext>
            </a:extLst>
          </p:cNvPr>
          <p:cNvPicPr>
            <a:picLocks noChangeAspect="1"/>
          </p:cNvPicPr>
          <p:nvPr/>
        </p:nvPicPr>
        <p:blipFill>
          <a:blip r:embed="rId5"/>
          <a:stretch>
            <a:fillRect/>
          </a:stretch>
        </p:blipFill>
        <p:spPr>
          <a:xfrm>
            <a:off x="908288" y="3356241"/>
            <a:ext cx="204601" cy="204601"/>
          </a:xfrm>
          <a:prstGeom prst="rect">
            <a:avLst/>
          </a:prstGeom>
        </p:spPr>
      </p:pic>
      <p:pic>
        <p:nvPicPr>
          <p:cNvPr id="20" name="Picture 19">
            <a:extLst>
              <a:ext uri="{FF2B5EF4-FFF2-40B4-BE49-F238E27FC236}">
                <a16:creationId xmlns:a16="http://schemas.microsoft.com/office/drawing/2014/main" id="{69BCA1D0-7794-4767-C76C-4295350B516D}"/>
              </a:ext>
            </a:extLst>
          </p:cNvPr>
          <p:cNvPicPr>
            <a:picLocks noChangeAspect="1"/>
          </p:cNvPicPr>
          <p:nvPr/>
        </p:nvPicPr>
        <p:blipFill>
          <a:blip r:embed="rId5"/>
          <a:stretch>
            <a:fillRect/>
          </a:stretch>
        </p:blipFill>
        <p:spPr>
          <a:xfrm>
            <a:off x="908288" y="3777077"/>
            <a:ext cx="204601" cy="204601"/>
          </a:xfrm>
          <a:prstGeom prst="rect">
            <a:avLst/>
          </a:prstGeom>
        </p:spPr>
      </p:pic>
      <p:pic>
        <p:nvPicPr>
          <p:cNvPr id="21" name="Picture 20">
            <a:extLst>
              <a:ext uri="{FF2B5EF4-FFF2-40B4-BE49-F238E27FC236}">
                <a16:creationId xmlns:a16="http://schemas.microsoft.com/office/drawing/2014/main" id="{3D060B6D-F659-AA69-364D-D69A9898FD7F}"/>
              </a:ext>
            </a:extLst>
          </p:cNvPr>
          <p:cNvPicPr>
            <a:picLocks noChangeAspect="1"/>
          </p:cNvPicPr>
          <p:nvPr/>
        </p:nvPicPr>
        <p:blipFill>
          <a:blip r:embed="rId5"/>
          <a:stretch>
            <a:fillRect/>
          </a:stretch>
        </p:blipFill>
        <p:spPr>
          <a:xfrm>
            <a:off x="908288" y="4255960"/>
            <a:ext cx="204601" cy="204601"/>
          </a:xfrm>
          <a:prstGeom prst="rect">
            <a:avLst/>
          </a:prstGeom>
        </p:spPr>
      </p:pic>
      <p:pic>
        <p:nvPicPr>
          <p:cNvPr id="22" name="Picture 21">
            <a:extLst>
              <a:ext uri="{FF2B5EF4-FFF2-40B4-BE49-F238E27FC236}">
                <a16:creationId xmlns:a16="http://schemas.microsoft.com/office/drawing/2014/main" id="{96006345-6B28-EAC4-5E5D-28EECAE3AE55}"/>
              </a:ext>
            </a:extLst>
          </p:cNvPr>
          <p:cNvPicPr>
            <a:picLocks noChangeAspect="1"/>
          </p:cNvPicPr>
          <p:nvPr/>
        </p:nvPicPr>
        <p:blipFill>
          <a:blip r:embed="rId5"/>
          <a:stretch>
            <a:fillRect/>
          </a:stretch>
        </p:blipFill>
        <p:spPr>
          <a:xfrm>
            <a:off x="908288" y="4741177"/>
            <a:ext cx="204601" cy="204601"/>
          </a:xfrm>
          <a:prstGeom prst="rect">
            <a:avLst/>
          </a:prstGeom>
        </p:spPr>
      </p:pic>
      <p:sp>
        <p:nvSpPr>
          <p:cNvPr id="29" name="Rectangle 28">
            <a:extLst>
              <a:ext uri="{FF2B5EF4-FFF2-40B4-BE49-F238E27FC236}">
                <a16:creationId xmlns:a16="http://schemas.microsoft.com/office/drawing/2014/main" id="{B437CA96-7750-80D9-90E4-0163CFB1309A}"/>
              </a:ext>
            </a:extLst>
          </p:cNvPr>
          <p:cNvSpPr/>
          <p:nvPr/>
        </p:nvSpPr>
        <p:spPr>
          <a:xfrm>
            <a:off x="3908968" y="1159846"/>
            <a:ext cx="7780096" cy="14919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C2E28F2B-6E7D-E688-B7DB-46D50FE5AB38}"/>
              </a:ext>
            </a:extLst>
          </p:cNvPr>
          <p:cNvPicPr>
            <a:picLocks noChangeAspect="1"/>
          </p:cNvPicPr>
          <p:nvPr/>
        </p:nvPicPr>
        <p:blipFill>
          <a:blip r:embed="rId6"/>
          <a:stretch>
            <a:fillRect/>
          </a:stretch>
        </p:blipFill>
        <p:spPr>
          <a:xfrm>
            <a:off x="9106636" y="5735597"/>
            <a:ext cx="2582428" cy="645607"/>
          </a:xfrm>
          <a:prstGeom prst="rect">
            <a:avLst/>
          </a:prstGeom>
        </p:spPr>
      </p:pic>
      <p:pic>
        <p:nvPicPr>
          <p:cNvPr id="2" name="Picture 1">
            <a:extLst>
              <a:ext uri="{FF2B5EF4-FFF2-40B4-BE49-F238E27FC236}">
                <a16:creationId xmlns:a16="http://schemas.microsoft.com/office/drawing/2014/main" id="{A18AA070-2015-18E1-CCE0-07C2D2B0BE12}"/>
              </a:ext>
            </a:extLst>
          </p:cNvPr>
          <p:cNvPicPr>
            <a:picLocks noChangeAspect="1"/>
          </p:cNvPicPr>
          <p:nvPr/>
        </p:nvPicPr>
        <p:blipFill>
          <a:blip r:embed="rId7"/>
          <a:stretch>
            <a:fillRect/>
          </a:stretch>
        </p:blipFill>
        <p:spPr>
          <a:xfrm>
            <a:off x="908288" y="4254070"/>
            <a:ext cx="204601" cy="204601"/>
          </a:xfrm>
          <a:prstGeom prst="rect">
            <a:avLst/>
          </a:prstGeom>
        </p:spPr>
      </p:pic>
      <p:pic>
        <p:nvPicPr>
          <p:cNvPr id="3" name="Picture 2">
            <a:extLst>
              <a:ext uri="{FF2B5EF4-FFF2-40B4-BE49-F238E27FC236}">
                <a16:creationId xmlns:a16="http://schemas.microsoft.com/office/drawing/2014/main" id="{F19D9896-A9ED-D278-7741-E8EFE5A336EB}"/>
              </a:ext>
            </a:extLst>
          </p:cNvPr>
          <p:cNvPicPr>
            <a:picLocks noChangeAspect="1"/>
          </p:cNvPicPr>
          <p:nvPr/>
        </p:nvPicPr>
        <p:blipFill>
          <a:blip r:embed="rId5"/>
          <a:stretch>
            <a:fillRect/>
          </a:stretch>
        </p:blipFill>
        <p:spPr>
          <a:xfrm>
            <a:off x="908288" y="1998712"/>
            <a:ext cx="204601" cy="204601"/>
          </a:xfrm>
          <a:prstGeom prst="rect">
            <a:avLst/>
          </a:prstGeom>
        </p:spPr>
      </p:pic>
    </p:spTree>
    <p:extLst>
      <p:ext uri="{BB962C8B-B14F-4D97-AF65-F5344CB8AC3E}">
        <p14:creationId xmlns:p14="http://schemas.microsoft.com/office/powerpoint/2010/main" val="76370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9208478-B2EE-7C2F-C4D6-8F030729DB1D}"/>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266E8FB5-BA39-27E5-ECA9-CFFD4DAD2729}"/>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95963A7B-B7D3-4CDD-747A-7B59E7D34DB3}"/>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04DA26F9-3578-93F0-5216-FEB620050D0A}"/>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Conclusion</a:t>
            </a:r>
          </a:p>
        </p:txBody>
      </p:sp>
      <p:pic>
        <p:nvPicPr>
          <p:cNvPr id="25" name="Picture 24">
            <a:extLst>
              <a:ext uri="{FF2B5EF4-FFF2-40B4-BE49-F238E27FC236}">
                <a16:creationId xmlns:a16="http://schemas.microsoft.com/office/drawing/2014/main" id="{CD4F9A8C-232A-F02C-AB86-F1B4C807AEC8}"/>
              </a:ext>
            </a:extLst>
          </p:cNvPr>
          <p:cNvPicPr>
            <a:picLocks noChangeAspect="1"/>
          </p:cNvPicPr>
          <p:nvPr/>
        </p:nvPicPr>
        <p:blipFill>
          <a:blip r:embed="rId5"/>
          <a:stretch>
            <a:fillRect/>
          </a:stretch>
        </p:blipFill>
        <p:spPr>
          <a:xfrm>
            <a:off x="9106636" y="5735597"/>
            <a:ext cx="2582428" cy="645607"/>
          </a:xfrm>
          <a:prstGeom prst="rect">
            <a:avLst/>
          </a:prstGeom>
        </p:spPr>
      </p:pic>
      <p:sp>
        <p:nvSpPr>
          <p:cNvPr id="10" name="TextBox 9">
            <a:extLst>
              <a:ext uri="{FF2B5EF4-FFF2-40B4-BE49-F238E27FC236}">
                <a16:creationId xmlns:a16="http://schemas.microsoft.com/office/drawing/2014/main" id="{BC95D8FD-CE91-8FBA-D9C5-B0922CD0A2F2}"/>
              </a:ext>
            </a:extLst>
          </p:cNvPr>
          <p:cNvSpPr txBox="1"/>
          <p:nvPr/>
        </p:nvSpPr>
        <p:spPr>
          <a:xfrm>
            <a:off x="763929" y="1902497"/>
            <a:ext cx="8687252" cy="830997"/>
          </a:xfrm>
          <a:prstGeom prst="rect">
            <a:avLst/>
          </a:prstGeom>
          <a:noFill/>
        </p:spPr>
        <p:txBody>
          <a:bodyPr wrap="square">
            <a:spAutoFit/>
          </a:bodyPr>
          <a:lstStyle/>
          <a:p>
            <a:r>
              <a:rPr lang="en-US" sz="2400">
                <a:solidFill>
                  <a:schemeClr val="tx2">
                    <a:lumMod val="60000"/>
                    <a:lumOff val="40000"/>
                  </a:schemeClr>
                </a:solidFill>
                <a:latin typeface="Adobe Garamond Pro"/>
              </a:rPr>
              <a:t>If you weren’t already– I hope this presentation made you aware of the </a:t>
            </a:r>
            <a:r>
              <a:rPr lang="en-US" sz="2400" b="1">
                <a:solidFill>
                  <a:schemeClr val="tx2">
                    <a:lumMod val="60000"/>
                    <a:lumOff val="40000"/>
                  </a:schemeClr>
                </a:solidFill>
                <a:latin typeface="Adobe Garamond Pro"/>
              </a:rPr>
              <a:t>dangers</a:t>
            </a:r>
            <a:r>
              <a:rPr lang="en-US" sz="2400">
                <a:solidFill>
                  <a:schemeClr val="tx2">
                    <a:lumMod val="60000"/>
                    <a:lumOff val="40000"/>
                  </a:schemeClr>
                </a:solidFill>
                <a:latin typeface="Adobe Garamond Pro"/>
              </a:rPr>
              <a:t> of </a:t>
            </a:r>
            <a:r>
              <a:rPr lang="en-US" sz="2400" b="1">
                <a:solidFill>
                  <a:schemeClr val="tx2">
                    <a:lumMod val="60000"/>
                    <a:lumOff val="40000"/>
                  </a:schemeClr>
                </a:solidFill>
                <a:latin typeface="Adobe Garamond Pro"/>
              </a:rPr>
              <a:t>DMA Attacks</a:t>
            </a:r>
            <a:r>
              <a:rPr lang="en-US" sz="2400">
                <a:solidFill>
                  <a:schemeClr val="tx2">
                    <a:lumMod val="60000"/>
                    <a:lumOff val="40000"/>
                  </a:schemeClr>
                </a:solidFill>
                <a:latin typeface="Adobe Garamond Pro"/>
              </a:rPr>
              <a:t>.</a:t>
            </a:r>
          </a:p>
        </p:txBody>
      </p:sp>
      <p:sp>
        <p:nvSpPr>
          <p:cNvPr id="2" name="Subtitle 2">
            <a:extLst>
              <a:ext uri="{FF2B5EF4-FFF2-40B4-BE49-F238E27FC236}">
                <a16:creationId xmlns:a16="http://schemas.microsoft.com/office/drawing/2014/main" id="{FB3B32B4-C6B3-14E3-6D45-589DA33F1005}"/>
              </a:ext>
            </a:extLst>
          </p:cNvPr>
          <p:cNvSpPr txBox="1">
            <a:spLocks/>
          </p:cNvSpPr>
          <p:nvPr/>
        </p:nvSpPr>
        <p:spPr>
          <a:xfrm>
            <a:off x="897279" y="3353760"/>
            <a:ext cx="8098414" cy="7187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Don’t leave your computer unattended.</a:t>
            </a:r>
          </a:p>
        </p:txBody>
      </p:sp>
      <p:pic>
        <p:nvPicPr>
          <p:cNvPr id="3" name="Picture 2">
            <a:extLst>
              <a:ext uri="{FF2B5EF4-FFF2-40B4-BE49-F238E27FC236}">
                <a16:creationId xmlns:a16="http://schemas.microsoft.com/office/drawing/2014/main" id="{99F8C9AB-59AB-64A3-8896-22974EA4022E}"/>
              </a:ext>
            </a:extLst>
          </p:cNvPr>
          <p:cNvPicPr>
            <a:picLocks noChangeAspect="1"/>
          </p:cNvPicPr>
          <p:nvPr/>
        </p:nvPicPr>
        <p:blipFill>
          <a:blip r:embed="rId6"/>
          <a:stretch>
            <a:fillRect/>
          </a:stretch>
        </p:blipFill>
        <p:spPr>
          <a:xfrm>
            <a:off x="763929" y="3481687"/>
            <a:ext cx="78362" cy="156011"/>
          </a:xfrm>
          <a:prstGeom prst="rect">
            <a:avLst/>
          </a:prstGeom>
        </p:spPr>
      </p:pic>
      <p:sp>
        <p:nvSpPr>
          <p:cNvPr id="4" name="Subtitle 2">
            <a:extLst>
              <a:ext uri="{FF2B5EF4-FFF2-40B4-BE49-F238E27FC236}">
                <a16:creationId xmlns:a16="http://schemas.microsoft.com/office/drawing/2014/main" id="{527D93C4-0D60-B143-D34E-B76147B495F9}"/>
              </a:ext>
            </a:extLst>
          </p:cNvPr>
          <p:cNvSpPr txBox="1">
            <a:spLocks/>
          </p:cNvSpPr>
          <p:nvPr/>
        </p:nvSpPr>
        <p:spPr>
          <a:xfrm>
            <a:off x="699785" y="2989915"/>
            <a:ext cx="8098414" cy="7187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Key Take-aways</a:t>
            </a:r>
          </a:p>
        </p:txBody>
      </p:sp>
      <p:sp>
        <p:nvSpPr>
          <p:cNvPr id="6" name="Subtitle 2">
            <a:extLst>
              <a:ext uri="{FF2B5EF4-FFF2-40B4-BE49-F238E27FC236}">
                <a16:creationId xmlns:a16="http://schemas.microsoft.com/office/drawing/2014/main" id="{30D038E4-2D96-91C6-906D-6EBED4D0BC4D}"/>
              </a:ext>
            </a:extLst>
          </p:cNvPr>
          <p:cNvSpPr txBox="1">
            <a:spLocks/>
          </p:cNvSpPr>
          <p:nvPr/>
        </p:nvSpPr>
        <p:spPr>
          <a:xfrm>
            <a:off x="897279" y="3775914"/>
            <a:ext cx="8098414" cy="7187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1">
                    <a:lumMod val="75000"/>
                  </a:schemeClr>
                </a:solidFill>
              </a:rPr>
              <a:t>PLEASE</a:t>
            </a:r>
            <a:r>
              <a:rPr lang="en-US" b="0">
                <a:solidFill>
                  <a:schemeClr val="bg1">
                    <a:lumMod val="75000"/>
                  </a:schemeClr>
                </a:solidFill>
              </a:rPr>
              <a:t> update your devices.</a:t>
            </a:r>
          </a:p>
        </p:txBody>
      </p:sp>
      <p:pic>
        <p:nvPicPr>
          <p:cNvPr id="8" name="Picture 7">
            <a:extLst>
              <a:ext uri="{FF2B5EF4-FFF2-40B4-BE49-F238E27FC236}">
                <a16:creationId xmlns:a16="http://schemas.microsoft.com/office/drawing/2014/main" id="{D2D6986F-63E2-2A6E-4F27-CFDAA15FD19D}"/>
              </a:ext>
            </a:extLst>
          </p:cNvPr>
          <p:cNvPicPr>
            <a:picLocks noChangeAspect="1"/>
          </p:cNvPicPr>
          <p:nvPr/>
        </p:nvPicPr>
        <p:blipFill>
          <a:blip r:embed="rId6"/>
          <a:stretch>
            <a:fillRect/>
          </a:stretch>
        </p:blipFill>
        <p:spPr>
          <a:xfrm>
            <a:off x="763929" y="3903841"/>
            <a:ext cx="78362" cy="156011"/>
          </a:xfrm>
          <a:prstGeom prst="rect">
            <a:avLst/>
          </a:prstGeom>
        </p:spPr>
      </p:pic>
      <p:sp>
        <p:nvSpPr>
          <p:cNvPr id="9" name="Subtitle 2">
            <a:extLst>
              <a:ext uri="{FF2B5EF4-FFF2-40B4-BE49-F238E27FC236}">
                <a16:creationId xmlns:a16="http://schemas.microsoft.com/office/drawing/2014/main" id="{8F373F34-6867-F6C2-5234-00A9A50BA861}"/>
              </a:ext>
            </a:extLst>
          </p:cNvPr>
          <p:cNvSpPr txBox="1">
            <a:spLocks/>
          </p:cNvSpPr>
          <p:nvPr/>
        </p:nvSpPr>
        <p:spPr>
          <a:xfrm>
            <a:off x="897279" y="4202531"/>
            <a:ext cx="8098414" cy="7187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b="0">
                <a:solidFill>
                  <a:schemeClr val="bg1">
                    <a:lumMod val="75000"/>
                  </a:schemeClr>
                </a:solidFill>
              </a:rPr>
              <a:t>Be aware of the devices plugging into your computer.</a:t>
            </a:r>
          </a:p>
        </p:txBody>
      </p:sp>
      <p:pic>
        <p:nvPicPr>
          <p:cNvPr id="11" name="Picture 10">
            <a:extLst>
              <a:ext uri="{FF2B5EF4-FFF2-40B4-BE49-F238E27FC236}">
                <a16:creationId xmlns:a16="http://schemas.microsoft.com/office/drawing/2014/main" id="{E529F087-19CD-6536-C0A6-F583214C851F}"/>
              </a:ext>
            </a:extLst>
          </p:cNvPr>
          <p:cNvPicPr>
            <a:picLocks noChangeAspect="1"/>
          </p:cNvPicPr>
          <p:nvPr/>
        </p:nvPicPr>
        <p:blipFill>
          <a:blip r:embed="rId6"/>
          <a:stretch>
            <a:fillRect/>
          </a:stretch>
        </p:blipFill>
        <p:spPr>
          <a:xfrm>
            <a:off x="763929" y="4330458"/>
            <a:ext cx="78362" cy="156011"/>
          </a:xfrm>
          <a:prstGeom prst="rect">
            <a:avLst/>
          </a:prstGeom>
        </p:spPr>
      </p:pic>
    </p:spTree>
    <p:extLst>
      <p:ext uri="{BB962C8B-B14F-4D97-AF65-F5344CB8AC3E}">
        <p14:creationId xmlns:p14="http://schemas.microsoft.com/office/powerpoint/2010/main" val="383012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EB355796-7EF5-6F50-ED24-87F49F20EFC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A524326A-2620-C736-5480-C7431DF8F0A2}"/>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D0FE5B19-8C4F-83F6-4E74-F082BCFA0084}"/>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8E15A750-45E6-E2B6-CDC7-B7525ACE484A}"/>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Helvetica" panose="020B0604020202020204" pitchFamily="34" charset="0"/>
                <a:cs typeface="Helvetica" panose="020B0604020202020204" pitchFamily="34" charset="0"/>
              </a:rPr>
              <a:t>Outline</a:t>
            </a:r>
          </a:p>
        </p:txBody>
      </p:sp>
      <p:pic>
        <p:nvPicPr>
          <p:cNvPr id="12" name="Picture 11">
            <a:extLst>
              <a:ext uri="{FF2B5EF4-FFF2-40B4-BE49-F238E27FC236}">
                <a16:creationId xmlns:a16="http://schemas.microsoft.com/office/drawing/2014/main" id="{4EB8AC7B-C393-D353-E9CD-38EBA4C59005}"/>
              </a:ext>
            </a:extLst>
          </p:cNvPr>
          <p:cNvPicPr>
            <a:picLocks noChangeAspect="1"/>
          </p:cNvPicPr>
          <p:nvPr/>
        </p:nvPicPr>
        <p:blipFill>
          <a:blip r:embed="rId5"/>
          <a:stretch>
            <a:fillRect/>
          </a:stretch>
        </p:blipFill>
        <p:spPr>
          <a:xfrm>
            <a:off x="908288" y="2445923"/>
            <a:ext cx="204601" cy="204601"/>
          </a:xfrm>
          <a:prstGeom prst="rect">
            <a:avLst/>
          </a:prstGeom>
        </p:spPr>
      </p:pic>
      <p:sp>
        <p:nvSpPr>
          <p:cNvPr id="13" name="Content Placeholder 2">
            <a:extLst>
              <a:ext uri="{FF2B5EF4-FFF2-40B4-BE49-F238E27FC236}">
                <a16:creationId xmlns:a16="http://schemas.microsoft.com/office/drawing/2014/main" id="{102AD0C4-5CC2-04AD-50B4-CB1E76C8D04C}"/>
              </a:ext>
            </a:extLst>
          </p:cNvPr>
          <p:cNvSpPr txBox="1">
            <a:spLocks/>
          </p:cNvSpPr>
          <p:nvPr/>
        </p:nvSpPr>
        <p:spPr>
          <a:xfrm>
            <a:off x="1099193" y="1878246"/>
            <a:ext cx="10589871"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a:buNone/>
              <a:defRPr sz="2400" b="1" kern="1200">
                <a:solidFill>
                  <a:srgbClr val="767575"/>
                </a:solidFill>
                <a:latin typeface="Adobe Garamond Pro" charset="0"/>
                <a:ea typeface="Adobe Garamond Pro" charset="0"/>
                <a:cs typeface="Adobe Garamond Pro" charset="0"/>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Adobe Garamond Pro" charset="0"/>
                <a:ea typeface="Adobe Garamond Pro" charset="0"/>
                <a:cs typeface="Adobe Garamond Pro" charset="0"/>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Adobe Garamond Pro" charset="0"/>
                <a:ea typeface="Adobe Garamond Pro" charset="0"/>
                <a:cs typeface="Adobe Garamond Pro" charset="0"/>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Adobe Garamond Pro" charset="0"/>
                <a:ea typeface="Adobe Garamond Pro" charset="0"/>
                <a:cs typeface="Adobe Garamond Pro" charset="0"/>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US">
                <a:solidFill>
                  <a:schemeClr val="bg2">
                    <a:lumMod val="25000"/>
                  </a:schemeClr>
                </a:solidFill>
                <a:latin typeface="+mn-lt"/>
              </a:rPr>
              <a:t>Introduction</a:t>
            </a:r>
          </a:p>
          <a:p>
            <a:r>
              <a:rPr lang="en-US">
                <a:solidFill>
                  <a:schemeClr val="bg2">
                    <a:lumMod val="25000"/>
                  </a:schemeClr>
                </a:solidFill>
                <a:latin typeface="+mn-lt"/>
              </a:rPr>
              <a:t>Motivation</a:t>
            </a:r>
          </a:p>
          <a:p>
            <a:r>
              <a:rPr lang="en-US">
                <a:solidFill>
                  <a:schemeClr val="bg2">
                    <a:lumMod val="25000"/>
                  </a:schemeClr>
                </a:solidFill>
                <a:latin typeface="+mn-lt"/>
              </a:rPr>
              <a:t>Related Work</a:t>
            </a:r>
          </a:p>
          <a:p>
            <a:r>
              <a:rPr lang="en-US">
                <a:solidFill>
                  <a:schemeClr val="bg2">
                    <a:lumMod val="25000"/>
                  </a:schemeClr>
                </a:solidFill>
                <a:latin typeface="+mn-lt"/>
              </a:rPr>
              <a:t>Methodology</a:t>
            </a:r>
          </a:p>
          <a:p>
            <a:r>
              <a:rPr lang="en-US">
                <a:solidFill>
                  <a:schemeClr val="bg2">
                    <a:lumMod val="25000"/>
                  </a:schemeClr>
                </a:solidFill>
                <a:latin typeface="+mn-lt"/>
              </a:rPr>
              <a:t>Result and Discussion</a:t>
            </a:r>
          </a:p>
          <a:p>
            <a:r>
              <a:rPr lang="en-US">
                <a:solidFill>
                  <a:schemeClr val="bg2">
                    <a:lumMod val="25000"/>
                  </a:schemeClr>
                </a:solidFill>
                <a:latin typeface="+mn-lt"/>
              </a:rPr>
              <a:t>Conclusion</a:t>
            </a:r>
          </a:p>
          <a:p>
            <a:r>
              <a:rPr lang="en-US">
                <a:solidFill>
                  <a:srgbClr val="CC2637"/>
                </a:solidFill>
                <a:latin typeface="+mn-lt"/>
              </a:rPr>
              <a:t>References</a:t>
            </a:r>
          </a:p>
        </p:txBody>
      </p:sp>
      <p:pic>
        <p:nvPicPr>
          <p:cNvPr id="17" name="Picture 16">
            <a:extLst>
              <a:ext uri="{FF2B5EF4-FFF2-40B4-BE49-F238E27FC236}">
                <a16:creationId xmlns:a16="http://schemas.microsoft.com/office/drawing/2014/main" id="{F6916074-D651-35BB-7D61-3B884C2A87FF}"/>
              </a:ext>
            </a:extLst>
          </p:cNvPr>
          <p:cNvPicPr>
            <a:picLocks noChangeAspect="1"/>
          </p:cNvPicPr>
          <p:nvPr/>
        </p:nvPicPr>
        <p:blipFill>
          <a:blip r:embed="rId5"/>
          <a:stretch>
            <a:fillRect/>
          </a:stretch>
        </p:blipFill>
        <p:spPr>
          <a:xfrm>
            <a:off x="908288" y="2876323"/>
            <a:ext cx="204601" cy="204601"/>
          </a:xfrm>
          <a:prstGeom prst="rect">
            <a:avLst/>
          </a:prstGeom>
        </p:spPr>
      </p:pic>
      <p:pic>
        <p:nvPicPr>
          <p:cNvPr id="19" name="Picture 18">
            <a:extLst>
              <a:ext uri="{FF2B5EF4-FFF2-40B4-BE49-F238E27FC236}">
                <a16:creationId xmlns:a16="http://schemas.microsoft.com/office/drawing/2014/main" id="{C6708F4D-9B13-1636-8C70-3B6D6019085D}"/>
              </a:ext>
            </a:extLst>
          </p:cNvPr>
          <p:cNvPicPr>
            <a:picLocks noChangeAspect="1"/>
          </p:cNvPicPr>
          <p:nvPr/>
        </p:nvPicPr>
        <p:blipFill>
          <a:blip r:embed="rId5"/>
          <a:stretch>
            <a:fillRect/>
          </a:stretch>
        </p:blipFill>
        <p:spPr>
          <a:xfrm>
            <a:off x="908288" y="3356241"/>
            <a:ext cx="204601" cy="204601"/>
          </a:xfrm>
          <a:prstGeom prst="rect">
            <a:avLst/>
          </a:prstGeom>
        </p:spPr>
      </p:pic>
      <p:pic>
        <p:nvPicPr>
          <p:cNvPr id="20" name="Picture 19">
            <a:extLst>
              <a:ext uri="{FF2B5EF4-FFF2-40B4-BE49-F238E27FC236}">
                <a16:creationId xmlns:a16="http://schemas.microsoft.com/office/drawing/2014/main" id="{BCA2F7D9-AAD3-1A9D-1703-5FDBBD823A02}"/>
              </a:ext>
            </a:extLst>
          </p:cNvPr>
          <p:cNvPicPr>
            <a:picLocks noChangeAspect="1"/>
          </p:cNvPicPr>
          <p:nvPr/>
        </p:nvPicPr>
        <p:blipFill>
          <a:blip r:embed="rId5"/>
          <a:stretch>
            <a:fillRect/>
          </a:stretch>
        </p:blipFill>
        <p:spPr>
          <a:xfrm>
            <a:off x="908288" y="3777077"/>
            <a:ext cx="204601" cy="204601"/>
          </a:xfrm>
          <a:prstGeom prst="rect">
            <a:avLst/>
          </a:prstGeom>
        </p:spPr>
      </p:pic>
      <p:pic>
        <p:nvPicPr>
          <p:cNvPr id="21" name="Picture 20">
            <a:extLst>
              <a:ext uri="{FF2B5EF4-FFF2-40B4-BE49-F238E27FC236}">
                <a16:creationId xmlns:a16="http://schemas.microsoft.com/office/drawing/2014/main" id="{C7DCA2AC-236A-CF5D-D983-5B2B2B652535}"/>
              </a:ext>
            </a:extLst>
          </p:cNvPr>
          <p:cNvPicPr>
            <a:picLocks noChangeAspect="1"/>
          </p:cNvPicPr>
          <p:nvPr/>
        </p:nvPicPr>
        <p:blipFill>
          <a:blip r:embed="rId5"/>
          <a:stretch>
            <a:fillRect/>
          </a:stretch>
        </p:blipFill>
        <p:spPr>
          <a:xfrm>
            <a:off x="908288" y="4255960"/>
            <a:ext cx="204601" cy="204601"/>
          </a:xfrm>
          <a:prstGeom prst="rect">
            <a:avLst/>
          </a:prstGeom>
        </p:spPr>
      </p:pic>
      <p:pic>
        <p:nvPicPr>
          <p:cNvPr id="22" name="Picture 21">
            <a:extLst>
              <a:ext uri="{FF2B5EF4-FFF2-40B4-BE49-F238E27FC236}">
                <a16:creationId xmlns:a16="http://schemas.microsoft.com/office/drawing/2014/main" id="{D6229407-8E4F-1E8D-D72E-B9C0D3904F2E}"/>
              </a:ext>
            </a:extLst>
          </p:cNvPr>
          <p:cNvPicPr>
            <a:picLocks noChangeAspect="1"/>
          </p:cNvPicPr>
          <p:nvPr/>
        </p:nvPicPr>
        <p:blipFill>
          <a:blip r:embed="rId5"/>
          <a:stretch>
            <a:fillRect/>
          </a:stretch>
        </p:blipFill>
        <p:spPr>
          <a:xfrm>
            <a:off x="908288" y="4741177"/>
            <a:ext cx="204601" cy="204601"/>
          </a:xfrm>
          <a:prstGeom prst="rect">
            <a:avLst/>
          </a:prstGeom>
        </p:spPr>
      </p:pic>
      <p:sp>
        <p:nvSpPr>
          <p:cNvPr id="29" name="Rectangle 28">
            <a:extLst>
              <a:ext uri="{FF2B5EF4-FFF2-40B4-BE49-F238E27FC236}">
                <a16:creationId xmlns:a16="http://schemas.microsoft.com/office/drawing/2014/main" id="{6FE56109-E875-D97A-4FE9-61C6C6E18AC1}"/>
              </a:ext>
            </a:extLst>
          </p:cNvPr>
          <p:cNvSpPr/>
          <p:nvPr/>
        </p:nvSpPr>
        <p:spPr>
          <a:xfrm>
            <a:off x="3908968" y="1159846"/>
            <a:ext cx="7780096" cy="149190"/>
          </a:xfrm>
          <a:prstGeom prst="rect">
            <a:avLst/>
          </a:prstGeom>
          <a:solidFill>
            <a:srgbClr val="CC2637"/>
          </a:solidFill>
          <a:ln>
            <a:solidFill>
              <a:srgbClr val="CC26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1B8A0BC8-DD14-889F-B18C-52339734440E}"/>
              </a:ext>
            </a:extLst>
          </p:cNvPr>
          <p:cNvPicPr>
            <a:picLocks noChangeAspect="1"/>
          </p:cNvPicPr>
          <p:nvPr/>
        </p:nvPicPr>
        <p:blipFill>
          <a:blip r:embed="rId6"/>
          <a:stretch>
            <a:fillRect/>
          </a:stretch>
        </p:blipFill>
        <p:spPr>
          <a:xfrm>
            <a:off x="9106636" y="5735597"/>
            <a:ext cx="2582428" cy="645607"/>
          </a:xfrm>
          <a:prstGeom prst="rect">
            <a:avLst/>
          </a:prstGeom>
        </p:spPr>
      </p:pic>
      <p:pic>
        <p:nvPicPr>
          <p:cNvPr id="2" name="Picture 1">
            <a:extLst>
              <a:ext uri="{FF2B5EF4-FFF2-40B4-BE49-F238E27FC236}">
                <a16:creationId xmlns:a16="http://schemas.microsoft.com/office/drawing/2014/main" id="{30928A26-1107-C980-2255-F37FCC3F6294}"/>
              </a:ext>
            </a:extLst>
          </p:cNvPr>
          <p:cNvPicPr>
            <a:picLocks noChangeAspect="1"/>
          </p:cNvPicPr>
          <p:nvPr/>
        </p:nvPicPr>
        <p:blipFill>
          <a:blip r:embed="rId7"/>
          <a:stretch>
            <a:fillRect/>
          </a:stretch>
        </p:blipFill>
        <p:spPr>
          <a:xfrm>
            <a:off x="908288" y="4734843"/>
            <a:ext cx="204601" cy="204601"/>
          </a:xfrm>
          <a:prstGeom prst="rect">
            <a:avLst/>
          </a:prstGeom>
        </p:spPr>
      </p:pic>
      <p:pic>
        <p:nvPicPr>
          <p:cNvPr id="3" name="Picture 2">
            <a:extLst>
              <a:ext uri="{FF2B5EF4-FFF2-40B4-BE49-F238E27FC236}">
                <a16:creationId xmlns:a16="http://schemas.microsoft.com/office/drawing/2014/main" id="{7EA5F6DA-41FA-9236-FA30-47E53BB17C63}"/>
              </a:ext>
            </a:extLst>
          </p:cNvPr>
          <p:cNvPicPr>
            <a:picLocks noChangeAspect="1"/>
          </p:cNvPicPr>
          <p:nvPr/>
        </p:nvPicPr>
        <p:blipFill>
          <a:blip r:embed="rId5"/>
          <a:stretch>
            <a:fillRect/>
          </a:stretch>
        </p:blipFill>
        <p:spPr>
          <a:xfrm>
            <a:off x="908288" y="1998712"/>
            <a:ext cx="204601" cy="204601"/>
          </a:xfrm>
          <a:prstGeom prst="rect">
            <a:avLst/>
          </a:prstGeom>
        </p:spPr>
      </p:pic>
    </p:spTree>
    <p:extLst>
      <p:ext uri="{BB962C8B-B14F-4D97-AF65-F5344CB8AC3E}">
        <p14:creationId xmlns:p14="http://schemas.microsoft.com/office/powerpoint/2010/main" val="3664046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2846C828-A541-F611-F91A-FB3770E264E9}"/>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F609EB33-6586-B667-8044-FBBA0026879B}"/>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CC62C868-D82C-73AD-D2D7-5C42F20DA8A1}"/>
              </a:ext>
            </a:extLst>
          </p:cNvPr>
          <p:cNvPicPr>
            <a:picLocks noChangeAspect="1"/>
          </p:cNvPicPr>
          <p:nvPr/>
        </p:nvPicPr>
        <p:blipFill>
          <a:blip r:embed="rId4"/>
          <a:stretch>
            <a:fillRect/>
          </a:stretch>
        </p:blipFill>
        <p:spPr>
          <a:xfrm>
            <a:off x="699785" y="6058401"/>
            <a:ext cx="1179499" cy="393166"/>
          </a:xfrm>
          <a:prstGeom prst="rect">
            <a:avLst/>
          </a:prstGeom>
        </p:spPr>
      </p:pic>
      <p:sp>
        <p:nvSpPr>
          <p:cNvPr id="5" name="Title 1">
            <a:extLst>
              <a:ext uri="{FF2B5EF4-FFF2-40B4-BE49-F238E27FC236}">
                <a16:creationId xmlns:a16="http://schemas.microsoft.com/office/drawing/2014/main" id="{79EACF62-0EE4-28A4-A498-4715F9C1C2CD}"/>
              </a:ext>
            </a:extLst>
          </p:cNvPr>
          <p:cNvSpPr txBox="1">
            <a:spLocks/>
          </p:cNvSpPr>
          <p:nvPr/>
        </p:nvSpPr>
        <p:spPr>
          <a:xfrm>
            <a:off x="763929" y="365125"/>
            <a:ext cx="10589871" cy="13255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253565"/>
                </a:solidFill>
                <a:latin typeface="Helvetica" charset="0"/>
                <a:ea typeface="Helvetica" charset="0"/>
                <a:cs typeface="Helvetica" charset="0"/>
              </a:defRPr>
            </a:lvl1pPr>
          </a:lstStyle>
          <a:p>
            <a:r>
              <a:rPr lang="en-US" b="0">
                <a:solidFill>
                  <a:srgbClr val="CC2637"/>
                </a:solidFill>
                <a:latin typeface="+mn-lt"/>
                <a:cs typeface="Helvetica" panose="020B0604020202020204" pitchFamily="34" charset="0"/>
              </a:rPr>
              <a:t>References</a:t>
            </a:r>
          </a:p>
        </p:txBody>
      </p:sp>
      <p:pic>
        <p:nvPicPr>
          <p:cNvPr id="25" name="Picture 24">
            <a:extLst>
              <a:ext uri="{FF2B5EF4-FFF2-40B4-BE49-F238E27FC236}">
                <a16:creationId xmlns:a16="http://schemas.microsoft.com/office/drawing/2014/main" id="{91E5EA54-F463-CF24-F4B1-46E5717CBA4F}"/>
              </a:ext>
            </a:extLst>
          </p:cNvPr>
          <p:cNvPicPr>
            <a:picLocks noChangeAspect="1"/>
          </p:cNvPicPr>
          <p:nvPr/>
        </p:nvPicPr>
        <p:blipFill>
          <a:blip r:embed="rId5"/>
          <a:stretch>
            <a:fillRect/>
          </a:stretch>
        </p:blipFill>
        <p:spPr>
          <a:xfrm>
            <a:off x="9106636" y="5735597"/>
            <a:ext cx="2582428" cy="645607"/>
          </a:xfrm>
          <a:prstGeom prst="rect">
            <a:avLst/>
          </a:prstGeom>
        </p:spPr>
      </p:pic>
      <p:sp>
        <p:nvSpPr>
          <p:cNvPr id="10" name="TextBox 9">
            <a:extLst>
              <a:ext uri="{FF2B5EF4-FFF2-40B4-BE49-F238E27FC236}">
                <a16:creationId xmlns:a16="http://schemas.microsoft.com/office/drawing/2014/main" id="{72371BB2-E374-E2B3-77F3-180DBD612770}"/>
              </a:ext>
            </a:extLst>
          </p:cNvPr>
          <p:cNvSpPr txBox="1"/>
          <p:nvPr/>
        </p:nvSpPr>
        <p:spPr>
          <a:xfrm>
            <a:off x="763929" y="1720326"/>
            <a:ext cx="10728286" cy="3754874"/>
          </a:xfrm>
          <a:prstGeom prst="rect">
            <a:avLst/>
          </a:prstGeom>
          <a:noFill/>
        </p:spPr>
        <p:txBody>
          <a:bodyPr wrap="square">
            <a:spAutoFit/>
          </a:bodyPr>
          <a:lstStyle/>
          <a:p>
            <a:r>
              <a:rPr lang="en-US" sz="1400">
                <a:solidFill>
                  <a:schemeClr val="tx2">
                    <a:lumMod val="60000"/>
                    <a:lumOff val="40000"/>
                  </a:schemeClr>
                </a:solidFill>
                <a:latin typeface="Adobe Garamond Pro"/>
              </a:rPr>
              <a:t>“Client/Server Runtime Subsystem.” Computingexplained.org, 2026, www.computingexplained.org/processes-and-jobs/csrss.</a:t>
            </a:r>
          </a:p>
          <a:p>
            <a:endParaRPr lang="en-US" sz="1400">
              <a:solidFill>
                <a:schemeClr val="tx2">
                  <a:lumMod val="60000"/>
                  <a:lumOff val="40000"/>
                </a:schemeClr>
              </a:solidFill>
              <a:latin typeface="Adobe Garamond Pro"/>
            </a:endParaRPr>
          </a:p>
          <a:p>
            <a:r>
              <a:rPr lang="en-US" sz="1400" err="1">
                <a:solidFill>
                  <a:schemeClr val="tx2">
                    <a:lumMod val="60000"/>
                    <a:lumOff val="40000"/>
                  </a:schemeClr>
                </a:solidFill>
                <a:latin typeface="Adobe Garamond Pro"/>
              </a:rPr>
              <a:t>GrantMeStrength</a:t>
            </a:r>
            <a:r>
              <a:rPr lang="en-US" sz="1400">
                <a:solidFill>
                  <a:schemeClr val="tx2">
                    <a:lumMod val="60000"/>
                    <a:lumOff val="40000"/>
                  </a:schemeClr>
                </a:solidFill>
                <a:latin typeface="Adobe Garamond Pro"/>
              </a:rPr>
              <a:t>. “Windows API Index - Win32 Apps.” Learn.microsoft.com, 15 Mar. 2023, learn.microsoft.com/</a:t>
            </a:r>
            <a:r>
              <a:rPr lang="en-US" sz="1400" err="1">
                <a:solidFill>
                  <a:schemeClr val="tx2">
                    <a:lumMod val="60000"/>
                    <a:lumOff val="40000"/>
                  </a:schemeClr>
                </a:solidFill>
                <a:latin typeface="Adobe Garamond Pro"/>
              </a:rPr>
              <a:t>en</a:t>
            </a:r>
            <a:r>
              <a:rPr lang="en-US" sz="1400">
                <a:solidFill>
                  <a:schemeClr val="tx2">
                    <a:lumMod val="60000"/>
                    <a:lumOff val="40000"/>
                  </a:schemeClr>
                </a:solidFill>
                <a:latin typeface="Adobe Garamond Pro"/>
              </a:rPr>
              <a:t>-us/windows/win32/</a:t>
            </a:r>
            <a:r>
              <a:rPr lang="en-US" sz="1400" err="1">
                <a:solidFill>
                  <a:schemeClr val="tx2">
                    <a:lumMod val="60000"/>
                    <a:lumOff val="40000"/>
                  </a:schemeClr>
                </a:solidFill>
                <a:latin typeface="Adobe Garamond Pro"/>
              </a:rPr>
              <a:t>apiindex</a:t>
            </a:r>
            <a:r>
              <a:rPr lang="en-US" sz="1400">
                <a:solidFill>
                  <a:schemeClr val="tx2">
                    <a:lumMod val="60000"/>
                    <a:lumOff val="40000"/>
                  </a:schemeClr>
                </a:solidFill>
                <a:latin typeface="Adobe Garamond Pro"/>
              </a:rPr>
              <a:t>/windows-</a:t>
            </a:r>
            <a:r>
              <a:rPr lang="en-US" sz="1400" err="1">
                <a:solidFill>
                  <a:schemeClr val="tx2">
                    <a:lumMod val="60000"/>
                    <a:lumOff val="40000"/>
                  </a:schemeClr>
                </a:solidFill>
                <a:latin typeface="Adobe Garamond Pro"/>
              </a:rPr>
              <a:t>api</a:t>
            </a:r>
            <a:r>
              <a:rPr lang="en-US" sz="1400">
                <a:solidFill>
                  <a:schemeClr val="tx2">
                    <a:lumMod val="60000"/>
                    <a:lumOff val="40000"/>
                  </a:schemeClr>
                </a:solidFill>
                <a:latin typeface="Adobe Garamond Pro"/>
              </a:rPr>
              <a:t>-list.</a:t>
            </a:r>
          </a:p>
          <a:p>
            <a:endParaRPr lang="en-US" sz="1400">
              <a:solidFill>
                <a:schemeClr val="tx2">
                  <a:lumMod val="60000"/>
                  <a:lumOff val="40000"/>
                </a:schemeClr>
              </a:solidFill>
              <a:latin typeface="Adobe Garamond Pro"/>
            </a:endParaRPr>
          </a:p>
          <a:p>
            <a:r>
              <a:rPr lang="en-US" sz="1400">
                <a:solidFill>
                  <a:schemeClr val="tx2">
                    <a:lumMod val="60000"/>
                    <a:lumOff val="40000"/>
                  </a:schemeClr>
                </a:solidFill>
                <a:latin typeface="Adobe Garamond Pro"/>
              </a:rPr>
              <a:t>Lu, Chao, et al. “Design and Implementation of a Direct Memory Access </a:t>
            </a:r>
            <a:r>
              <a:rPr lang="en-US" sz="1400" err="1">
                <a:solidFill>
                  <a:schemeClr val="tx2">
                    <a:lumMod val="60000"/>
                    <a:lumOff val="40000"/>
                  </a:schemeClr>
                </a:solidFill>
                <a:latin typeface="Adobe Garamond Pro"/>
              </a:rPr>
              <a:t>ControllerBased</a:t>
            </a:r>
            <a:r>
              <a:rPr lang="en-US" sz="1400">
                <a:solidFill>
                  <a:schemeClr val="tx2">
                    <a:lumMod val="60000"/>
                    <a:lumOff val="40000"/>
                  </a:schemeClr>
                </a:solidFill>
                <a:latin typeface="Adobe Garamond Pro"/>
              </a:rPr>
              <a:t> on Microcontroller Unit.” Journal of Physics Conference Series, vol. 2221, no. 1, 1 May 2022, pp. 012016–012016, https://doi.org/10.1088/1742-6596/2221/1/012016.</a:t>
            </a:r>
          </a:p>
          <a:p>
            <a:endParaRPr lang="en-US" sz="1400">
              <a:solidFill>
                <a:schemeClr val="tx2">
                  <a:lumMod val="60000"/>
                  <a:lumOff val="40000"/>
                </a:schemeClr>
              </a:solidFill>
              <a:latin typeface="Adobe Garamond Pro"/>
            </a:endParaRPr>
          </a:p>
          <a:p>
            <a:r>
              <a:rPr lang="en-US" sz="1400">
                <a:solidFill>
                  <a:schemeClr val="tx2">
                    <a:lumMod val="60000"/>
                    <a:lumOff val="40000"/>
                  </a:schemeClr>
                </a:solidFill>
                <a:latin typeface="Adobe Garamond Pro"/>
              </a:rPr>
              <a:t>“Most Laptops Vulnerable to Attack via Peripheral Devices, Say Researchers.” University of Cambridge, 26 Feb. 2019, www.cam.ac.uk/research/news/most-laptops-vulnerable-to-attack-via-peripheral-devices-say-researchers.</a:t>
            </a:r>
          </a:p>
          <a:p>
            <a:endParaRPr lang="en-US" sz="1400">
              <a:solidFill>
                <a:schemeClr val="tx2">
                  <a:lumMod val="60000"/>
                  <a:lumOff val="40000"/>
                </a:schemeClr>
              </a:solidFill>
              <a:latin typeface="Adobe Garamond Pro"/>
            </a:endParaRPr>
          </a:p>
          <a:p>
            <a:r>
              <a:rPr lang="en-US" sz="1400">
                <a:solidFill>
                  <a:schemeClr val="tx2">
                    <a:lumMod val="60000"/>
                    <a:lumOff val="40000"/>
                  </a:schemeClr>
                </a:solidFill>
                <a:latin typeface="Adobe Garamond Pro"/>
              </a:rPr>
              <a:t>Pavel </a:t>
            </a:r>
            <a:r>
              <a:rPr lang="en-US" sz="1400" err="1">
                <a:solidFill>
                  <a:schemeClr val="tx2">
                    <a:lumMod val="60000"/>
                    <a:lumOff val="40000"/>
                  </a:schemeClr>
                </a:solidFill>
                <a:latin typeface="Adobe Garamond Pro"/>
              </a:rPr>
              <a:t>Yosifovich</a:t>
            </a:r>
            <a:r>
              <a:rPr lang="en-US" sz="1400">
                <a:solidFill>
                  <a:schemeClr val="tx2">
                    <a:lumMod val="60000"/>
                    <a:lumOff val="40000"/>
                  </a:schemeClr>
                </a:solidFill>
                <a:latin typeface="Adobe Garamond Pro"/>
              </a:rPr>
              <a:t>, et al. Windows Internals, Part 1. Microsoft Press, 5 May 2017.</a:t>
            </a:r>
          </a:p>
          <a:p>
            <a:endParaRPr lang="en-US" sz="1400">
              <a:solidFill>
                <a:schemeClr val="tx2">
                  <a:lumMod val="60000"/>
                  <a:lumOff val="40000"/>
                </a:schemeClr>
              </a:solidFill>
              <a:latin typeface="Adobe Garamond Pro"/>
            </a:endParaRPr>
          </a:p>
          <a:p>
            <a:r>
              <a:rPr lang="en-US" sz="1400" err="1">
                <a:solidFill>
                  <a:schemeClr val="tx2">
                    <a:lumMod val="60000"/>
                    <a:lumOff val="40000"/>
                  </a:schemeClr>
                </a:solidFill>
                <a:latin typeface="Adobe Garamond Pro"/>
              </a:rPr>
              <a:t>Trikalinou</a:t>
            </a:r>
            <a:r>
              <a:rPr lang="en-US" sz="1400">
                <a:solidFill>
                  <a:schemeClr val="tx2">
                    <a:lumMod val="60000"/>
                    <a:lumOff val="40000"/>
                  </a:schemeClr>
                </a:solidFill>
                <a:latin typeface="Adobe Garamond Pro"/>
              </a:rPr>
              <a:t>, Anna, and Dan Lake. Taking DMA Attacks to the next Level: How to Do Arbitrary Reads/Writes in a Live and Unmodified System Using a Rogue Memory Controller. 22 July 2017.</a:t>
            </a:r>
          </a:p>
          <a:p>
            <a:endParaRPr lang="en-US" sz="1400">
              <a:solidFill>
                <a:schemeClr val="tx2">
                  <a:lumMod val="60000"/>
                  <a:lumOff val="40000"/>
                </a:schemeClr>
              </a:solidFill>
              <a:latin typeface="Adobe Garamond Pro"/>
            </a:endParaRPr>
          </a:p>
          <a:p>
            <a:r>
              <a:rPr lang="en-US" sz="1400" err="1">
                <a:solidFill>
                  <a:schemeClr val="tx2">
                    <a:lumMod val="60000"/>
                    <a:lumOff val="40000"/>
                  </a:schemeClr>
                </a:solidFill>
                <a:latin typeface="Adobe Garamond Pro"/>
              </a:rPr>
              <a:t>ufrisk</a:t>
            </a:r>
            <a:r>
              <a:rPr lang="en-US" sz="1400">
                <a:solidFill>
                  <a:schemeClr val="tx2">
                    <a:lumMod val="60000"/>
                    <a:lumOff val="40000"/>
                  </a:schemeClr>
                </a:solidFill>
                <a:latin typeface="Adobe Garamond Pro"/>
              </a:rPr>
              <a:t>. “GitHub - </a:t>
            </a:r>
            <a:r>
              <a:rPr lang="en-US" sz="1400" err="1">
                <a:solidFill>
                  <a:schemeClr val="tx2">
                    <a:lumMod val="60000"/>
                    <a:lumOff val="40000"/>
                  </a:schemeClr>
                </a:solidFill>
                <a:latin typeface="Adobe Garamond Pro"/>
              </a:rPr>
              <a:t>Ufrisk</a:t>
            </a:r>
            <a:r>
              <a:rPr lang="en-US" sz="1400">
                <a:solidFill>
                  <a:schemeClr val="tx2">
                    <a:lumMod val="60000"/>
                    <a:lumOff val="40000"/>
                  </a:schemeClr>
                </a:solidFill>
                <a:latin typeface="Adobe Garamond Pro"/>
              </a:rPr>
              <a:t>/</a:t>
            </a:r>
            <a:r>
              <a:rPr lang="en-US" sz="1400" err="1">
                <a:solidFill>
                  <a:schemeClr val="tx2">
                    <a:lumMod val="60000"/>
                    <a:lumOff val="40000"/>
                  </a:schemeClr>
                </a:solidFill>
                <a:latin typeface="Adobe Garamond Pro"/>
              </a:rPr>
              <a:t>Pcileech</a:t>
            </a:r>
            <a:r>
              <a:rPr lang="en-US" sz="1400">
                <a:solidFill>
                  <a:schemeClr val="tx2">
                    <a:lumMod val="60000"/>
                    <a:lumOff val="40000"/>
                  </a:schemeClr>
                </a:solidFill>
                <a:latin typeface="Adobe Garamond Pro"/>
              </a:rPr>
              <a:t>: Direct Memory Access (DMA) Attack Software.” GitHub, 16 Jan. 2025, github.com/</a:t>
            </a:r>
            <a:r>
              <a:rPr lang="en-US" sz="1400" err="1">
                <a:solidFill>
                  <a:schemeClr val="tx2">
                    <a:lumMod val="60000"/>
                    <a:lumOff val="40000"/>
                  </a:schemeClr>
                </a:solidFill>
                <a:latin typeface="Adobe Garamond Pro"/>
              </a:rPr>
              <a:t>ufrisk</a:t>
            </a:r>
            <a:r>
              <a:rPr lang="en-US" sz="1400">
                <a:solidFill>
                  <a:schemeClr val="tx2">
                    <a:lumMod val="60000"/>
                    <a:lumOff val="40000"/>
                  </a:schemeClr>
                </a:solidFill>
                <a:latin typeface="Adobe Garamond Pro"/>
              </a:rPr>
              <a:t>/</a:t>
            </a:r>
            <a:r>
              <a:rPr lang="en-US" sz="1400" err="1">
                <a:solidFill>
                  <a:schemeClr val="tx2">
                    <a:lumMod val="60000"/>
                    <a:lumOff val="40000"/>
                  </a:schemeClr>
                </a:solidFill>
                <a:latin typeface="Adobe Garamond Pro"/>
              </a:rPr>
              <a:t>pcileech</a:t>
            </a:r>
            <a:r>
              <a:rPr lang="en-US" sz="1400">
                <a:solidFill>
                  <a:schemeClr val="tx2">
                    <a:lumMod val="60000"/>
                    <a:lumOff val="40000"/>
                  </a:schemeClr>
                </a:solidFill>
                <a:latin typeface="Adobe Garamond Pro"/>
              </a:rPr>
              <a:t>.</a:t>
            </a:r>
          </a:p>
        </p:txBody>
      </p:sp>
    </p:spTree>
    <p:extLst>
      <p:ext uri="{BB962C8B-B14F-4D97-AF65-F5344CB8AC3E}">
        <p14:creationId xmlns:p14="http://schemas.microsoft.com/office/powerpoint/2010/main" val="19050976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7CEC710-CAFD-BE69-1C99-C11B0990DCC7}"/>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AD75523A-DCC1-C623-E270-1841DDFF5D4F}"/>
              </a:ext>
            </a:extLst>
          </p:cNvPr>
          <p:cNvPicPr>
            <a:picLocks noChangeAspect="1"/>
          </p:cNvPicPr>
          <p:nvPr/>
        </p:nvPicPr>
        <p:blipFill>
          <a:blip r:embed="rId3"/>
          <a:stretch>
            <a:fillRect/>
          </a:stretch>
        </p:blipFill>
        <p:spPr>
          <a:xfrm>
            <a:off x="509286" y="5635597"/>
            <a:ext cx="1572665" cy="393166"/>
          </a:xfrm>
          <a:prstGeom prst="rect">
            <a:avLst/>
          </a:prstGeom>
        </p:spPr>
      </p:pic>
      <p:pic>
        <p:nvPicPr>
          <p:cNvPr id="26" name="Picture 25">
            <a:extLst>
              <a:ext uri="{FF2B5EF4-FFF2-40B4-BE49-F238E27FC236}">
                <a16:creationId xmlns:a16="http://schemas.microsoft.com/office/drawing/2014/main" id="{A0398996-8E42-5625-19A4-04EE5FD52678}"/>
              </a:ext>
            </a:extLst>
          </p:cNvPr>
          <p:cNvPicPr>
            <a:picLocks noChangeAspect="1"/>
          </p:cNvPicPr>
          <p:nvPr/>
        </p:nvPicPr>
        <p:blipFill>
          <a:blip r:embed="rId4"/>
          <a:stretch>
            <a:fillRect/>
          </a:stretch>
        </p:blipFill>
        <p:spPr>
          <a:xfrm>
            <a:off x="699785" y="6058401"/>
            <a:ext cx="1179499" cy="393166"/>
          </a:xfrm>
          <a:prstGeom prst="rect">
            <a:avLst/>
          </a:prstGeom>
        </p:spPr>
      </p:pic>
      <p:pic>
        <p:nvPicPr>
          <p:cNvPr id="25" name="Picture 24">
            <a:extLst>
              <a:ext uri="{FF2B5EF4-FFF2-40B4-BE49-F238E27FC236}">
                <a16:creationId xmlns:a16="http://schemas.microsoft.com/office/drawing/2014/main" id="{80D35081-793C-07B2-27EF-1367B8F6291A}"/>
              </a:ext>
            </a:extLst>
          </p:cNvPr>
          <p:cNvPicPr>
            <a:picLocks noChangeAspect="1"/>
          </p:cNvPicPr>
          <p:nvPr/>
        </p:nvPicPr>
        <p:blipFill>
          <a:blip r:embed="rId5"/>
          <a:stretch>
            <a:fillRect/>
          </a:stretch>
        </p:blipFill>
        <p:spPr>
          <a:xfrm>
            <a:off x="9106636" y="5735597"/>
            <a:ext cx="2582428" cy="645607"/>
          </a:xfrm>
          <a:prstGeom prst="rect">
            <a:avLst/>
          </a:prstGeom>
        </p:spPr>
      </p:pic>
      <p:pic>
        <p:nvPicPr>
          <p:cNvPr id="6" name="Picture 5">
            <a:extLst>
              <a:ext uri="{FF2B5EF4-FFF2-40B4-BE49-F238E27FC236}">
                <a16:creationId xmlns:a16="http://schemas.microsoft.com/office/drawing/2014/main" id="{55D1E719-3F59-4900-2527-47FA34C7D3FE}"/>
              </a:ext>
            </a:extLst>
          </p:cNvPr>
          <p:cNvPicPr>
            <a:picLocks noChangeAspect="1"/>
          </p:cNvPicPr>
          <p:nvPr/>
        </p:nvPicPr>
        <p:blipFill>
          <a:blip r:embed="rId6"/>
          <a:stretch>
            <a:fillRect/>
          </a:stretch>
        </p:blipFill>
        <p:spPr>
          <a:xfrm>
            <a:off x="2994344" y="2496803"/>
            <a:ext cx="6000750" cy="1190625"/>
          </a:xfrm>
          <a:prstGeom prst="rect">
            <a:avLst/>
          </a:prstGeom>
        </p:spPr>
      </p:pic>
      <p:pic>
        <p:nvPicPr>
          <p:cNvPr id="8" name="Picture 7">
            <a:extLst>
              <a:ext uri="{FF2B5EF4-FFF2-40B4-BE49-F238E27FC236}">
                <a16:creationId xmlns:a16="http://schemas.microsoft.com/office/drawing/2014/main" id="{B62F072B-6E2B-8972-5E37-B9388B402FDE}"/>
              </a:ext>
            </a:extLst>
          </p:cNvPr>
          <p:cNvPicPr>
            <a:picLocks noChangeAspect="1"/>
          </p:cNvPicPr>
          <p:nvPr/>
        </p:nvPicPr>
        <p:blipFill>
          <a:blip r:embed="rId7"/>
          <a:stretch>
            <a:fillRect/>
          </a:stretch>
        </p:blipFill>
        <p:spPr>
          <a:xfrm>
            <a:off x="5229911" y="4528785"/>
            <a:ext cx="1529615" cy="1529615"/>
          </a:xfrm>
          <a:prstGeom prst="rect">
            <a:avLst/>
          </a:prstGeom>
        </p:spPr>
      </p:pic>
    </p:spTree>
    <p:extLst>
      <p:ext uri="{BB962C8B-B14F-4D97-AF65-F5344CB8AC3E}">
        <p14:creationId xmlns:p14="http://schemas.microsoft.com/office/powerpoint/2010/main" val="3062980543"/>
      </p:ext>
    </p:extLst>
  </p:cSld>
  <p:clrMapOvr>
    <a:masterClrMapping/>
  </p:clrMapOvr>
</p:sld>
</file>

<file path=ppt/theme/theme1.xml><?xml version="1.0" encoding="utf-8"?>
<a:theme xmlns:a="http://schemas.openxmlformats.org/drawingml/2006/main" name="Office Theme">
  <a:themeElements>
    <a:clrScheme name="SHSU">
      <a:dk1>
        <a:srgbClr val="004990"/>
      </a:dk1>
      <a:lt1>
        <a:srgbClr val="FFFFFF"/>
      </a:lt1>
      <a:dk2>
        <a:srgbClr val="807F83"/>
      </a:dk2>
      <a:lt2>
        <a:srgbClr val="E7E6E6"/>
      </a:lt2>
      <a:accent1>
        <a:srgbClr val="F78E1E"/>
      </a:accent1>
      <a:accent2>
        <a:srgbClr val="589BBE"/>
      </a:accent2>
      <a:accent3>
        <a:srgbClr val="003A63"/>
      </a:accent3>
      <a:accent4>
        <a:srgbClr val="6CADDF"/>
      </a:accent4>
      <a:accent5>
        <a:srgbClr val="6CB353"/>
      </a:accent5>
      <a:accent6>
        <a:srgbClr val="BCD6CD"/>
      </a:accent6>
      <a:hlink>
        <a:srgbClr val="004990"/>
      </a:hlink>
      <a:folHlink>
        <a:srgbClr val="589BBE"/>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3407</Words>
  <Application>Microsoft Office PowerPoint</Application>
  <PresentationFormat>Widescreen</PresentationFormat>
  <Paragraphs>370</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Hacking via Direct Memory Allocation A Feasibility Report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Coleman, Amanda</dc:creator>
  <cp:lastModifiedBy>Lagrosa, Yannis</cp:lastModifiedBy>
  <cp:revision>2</cp:revision>
  <dcterms:created xsi:type="dcterms:W3CDTF">2018-02-08T18:01:09Z</dcterms:created>
  <dcterms:modified xsi:type="dcterms:W3CDTF">2026-10-25T23:02:38Z</dcterms:modified>
</cp:coreProperties>
</file>